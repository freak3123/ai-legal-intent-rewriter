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72" r:id="rId4"/>
  </p:sldMasterIdLst>
  <p:notesMasterIdLst>
    <p:notesMasterId r:id="rId32"/>
  </p:notesMasterIdLst>
  <p:handoutMasterIdLst>
    <p:handoutMasterId r:id="rId33"/>
  </p:handoutMasterIdLst>
  <p:sldIdLst>
    <p:sldId id="262" r:id="rId5"/>
    <p:sldId id="294" r:id="rId6"/>
    <p:sldId id="293" r:id="rId7"/>
    <p:sldId id="298" r:id="rId8"/>
    <p:sldId id="295" r:id="rId9"/>
    <p:sldId id="278" r:id="rId10"/>
    <p:sldId id="292" r:id="rId11"/>
    <p:sldId id="300" r:id="rId12"/>
    <p:sldId id="301" r:id="rId13"/>
    <p:sldId id="302" r:id="rId14"/>
    <p:sldId id="303" r:id="rId15"/>
    <p:sldId id="296" r:id="rId16"/>
    <p:sldId id="297" r:id="rId17"/>
    <p:sldId id="279" r:id="rId18"/>
    <p:sldId id="280" r:id="rId19"/>
    <p:sldId id="281" r:id="rId20"/>
    <p:sldId id="282" r:id="rId21"/>
    <p:sldId id="283" r:id="rId22"/>
    <p:sldId id="285" r:id="rId23"/>
    <p:sldId id="299" r:id="rId24"/>
    <p:sldId id="304" r:id="rId25"/>
    <p:sldId id="306" r:id="rId39"/>
    <p:sldId id="287" r:id="rId26"/>
    <p:sldId id="288" r:id="rId27"/>
    <p:sldId id="276" r:id="rId28"/>
    <p:sldId id="307" r:id="rId40"/>
    <p:sldId id="308" r:id="rId41"/>
    <p:sldId id="305" r:id="rId29"/>
    <p:sldId id="266" r:id="rId30"/>
    <p:sldId id="260" r:id="rId31"/>
    <p:sldId id="309" r:id="rId42"/>
    <p:sldId id="310" r:id="rId43"/>
    <p:sldId id="311" r:id="rId44"/>
    <p:sldId id="312" r:id="rId45"/>
    <p:sldId id="313"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A8E5F3-9629-415E-8AED-B8085F12FF8C}" v="40" dt="2026-05-15T09:01:56.3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48" autoAdjust="0"/>
  </p:normalViewPr>
  <p:slideViewPr>
    <p:cSldViewPr snapToGrid="0">
      <p:cViewPr varScale="1">
        <p:scale>
          <a:sx n="51" d="100"/>
          <a:sy n="51" d="100"/>
        </p:scale>
        <p:origin x="706" y="3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handoutMaster" Target="handoutMasters/handout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microsoft.com/office/2015/10/relationships/revisionInfo" Target="revisionInfo.xml"/><Relationship Id="rId39" Type="http://schemas.openxmlformats.org/officeDocument/2006/relationships/slide" Target="slides/slide22.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5/23/2026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5/23/2026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Group 3201 — Ashreeta Patra, Shnehal Mishra, Pratyush Mohanty and Swagat Sourav Mallick. Our final-year research project is the 'AI Legal Intent Rewriter', a system that helps ordinary people understand legal documents. Over the next few minutes we will cover the problem, our objectives, the system we built, our results and the future scope. NOTE TO TEAM: confirm the group number and fill in the supervisor's name and designation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our agenda. Briefly read the flow: we start with the introduction and problem, move through the literature and our proposed architecture, then the dataset, model and results, and finish with the discussion, conclusion and references. Tell the audience the talk is about 12–15 minutes and questions are welcome at the end.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in plain terms. Legal documents — tenancy agreements, employment contracts, terms of service — are everywhere, but they are written in 'legalese' that ordinary people cannot follow. Our project takes such a document and explains it one clause at a time: what type of clause it is, what it means in plain English, and whether it looks risky. Stress that it assists the reader; it does not replace professional legal advice.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problem clearly. The core issue is a comprehension gap between the language contracts are written in and the language ordinary people think in. People agree to terms they never truly understood, so their consent is not genuinely informed. Existing software either just shortens the text or is built for lawyers. Shortening text the reader still cannot interpret does not help — the real need is clause-by-clause explanation with risky terms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this project is worth doing. Digital contracts are signed constantly, often on a phone, with no chance to consult a solicitor. Legal advice is expensive, so individuals and small businesses are the most at risk of unfavourable terms. Recent progress in NLP and transformer models now makes automated legal-text interpretation realistic. Our motivation is social: to democratise legal comprehension and support fairer, better-informed agreements.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objectives, which follow the pipeline order. We set out to: ingest PDF and text documents; split them into clauses; classify each clause into one of twelve categories; extract entities such as dates and amounts; rewrite clauses into plain English; flag risky clauses transparently; and present everything on a web dashboard. The classification target was a 0.80 F1-score, and segmentation aimed for at least 85% boundary accuracy.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Summarise the prior work. BERT (Devlin 2019) is the transformer architecture that everything builds on. Legal-BERT (Chalkidis 2020) is BERT further trained on legal text — it is the model we plan to fine-tune for classification. CUAD (Hendrycks 2021) is the expert-annotated contract dataset with 41 clause categories that we train and evaluate on. CLAUDETTE (Lippi 2019) pioneered automated unfair-clause detection and inspired our transparent, rule-based risk module. We reviewed 35 papers in total across seven themes.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gap we address. The literature shows each sub-task — classification, simplification, unfair-clause detection — is mature on its own, but they are rarely combined. A non-expert reader needs all of them at once. Also, much consumer work only shortens text, and many risk detectors are opaque neural models. Our contribution is a single, integrated pipeline that classifies, rewrites and risk-flags each clause, and keeps the risk reasoning fully transparent.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architecture. The system is two separate programs plus a database. The Next.js web app handles people and data — the interface, login, MongoDB storage and orchestration. The Python FastAPI service handles all the 'thinking' — the NLP pipeline. They never share code; they only exchange JSON over HTTP through a versioned contract. We split it this way because ML models are too large and slow for a serverless JavaScript function — this is the standard production pattern. ACTION: replace the placeholder with the architecture diagram from docs/architecture.md.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data. Our main dataset is CUAD, the Contract Understanding Atticus Dataset: 510 real commercial contracts with over 13,000 expert annotations across 41 clause categories. We map those 41 categories down to 12 categories that make sense to a non-expert. Because CUAD covers only some categories, we also wrote a small seed set of 72 example clauses, six per category. Merged, the training set is 4,034 labelled clauses. Everything used is free and openly licensed.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preprocessing. We parse CUAD's answer spans directly from the official release. Spans shorter than 20 characters are dropped and very long ones are truncated. Document-level metadata categories — like 'Document Name' or 'Parties' — are filtered out because they are not clauses. Each remaining CUAD category is mapped to one of our 12 labels, with uncertain mappings sent to 'OTHER' to avoid wrong labels. We then balance the classes by sampling up to 800 per class, normalise the text, and merge in the seed examples.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what we learned from looking at the data. Parsing CUAD gave 9,118 usable clause spans; after balanced sampling and adding the seed set we have 4,034 examples. The crucial finding is the imbalance: seven categories are well-supported, with 181 to 806 examples each, but five categories — payment, confidentiality, dispute resolution, definitions and renewal — have only six examples each, because CUAD does not cover them. This imbalance directly shapes our results. ACTION: replace the placeholder with a bar chart of the label counts.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our model choices. For classification we deliberately started with a classical baseline — TF-IDF features with Logistic Regression. It is fast, only 2 MB, runs on any CPU, and gives a concrete, honest number for a heavier neural model to beat. This is good machine-learning practice: establish a strong baseline first. The planned next step (Phase 3) is to fine-tune Legal-BERT for classification and FLAN-T5-small for the plain-language rewriting, which is currently a template.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how the system is built internally. Every document flows through six stages in order: ingest (clean the text), segment (split into clauses), classify (assign 1 of 12 categories), NER (extract entities), rewrite (plain-English version) and risk (flag dangerous clauses). The classifier uses TF-IDF with unigrams and bigrams plus Logistic Regression. Entity recognition uses curated regular expressions. Risk flagging uses a three-layer rule engine. ACTION: replace the placeholder with the pipeline diagram.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through the technical stack. The project runs on a standard laptop with no dedicated GPU — that was a deliberate constraint. It uses two languages: Python 3.11 for the ML service and TypeScript for the web app. The web app is Next.js 15; the ML service is FastAPI. The current NLP stack is spaCy and scikit-learn; Hugging Face Transformers and PyTorch are planned for the fine-tuning phase. Data is stored in MongoDB Atlas. Note that the table keeps the template's category rows; the values are filled with our actual tools.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Continue the platform overview. Code is version-controlled on GitHub. The planned deployment is Vercel for the web app and Hugging Face Spaces for the ML service, with MongoDB Atlas as the cloud database. The two services talk over a REST API with a versioned JSON contract. Quality is enforced by a 34-test pytest suite plus linting and type-checking. Security uses bcrypt password hashing, JWT sessions and validated inputs. Mention that deployment is planned but not yet live.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measured results — and only the measured results. The complete pipeline runs end-to-end. The clause classifier reaches 0.89 accuracy under stratified cross-validation, with per-class F1-scores between 0.84 and 0.98 on the seven well-supported categories, and a weighted-average F1 of 0.89. The codebase has 34 automated tests and all pass. On a four-clause sample contract the pipeline correctly classified every clause and escalated the single dangerous clause to high risk. ACTION: add a screenshot of the dashboard. Be honest that the five sparse classes are not yet reliable — that is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what the results mean and the challenges faced. The model is strong where it has data, but the macro-average F1 is only 0.56 because five categories have just six training examples each — that is a data problem, not a modelling failure, and more data fixes it. We also hit engineering challenges: CUAD covers only seven of our twelve categories, which we addressed with a seed dataset; and pdf.js version 5 broke the Next.js build, so we pinned version 4. We deliberately kept risk flagging rule-based so every flag is explainable to the user.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key references behind the project, drawn from our literature review of 35 papers. You do not need to read them aloud — simply note that the full set of 35 papers is in the project report and covers surveys, foundation models, clause classification, legal text simplification and unfair-clause detection.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Conclude confidently and honestly. We have built a working, tested, integrated pipeline that turns a legal document into a clause-by-clause, plain-language, risk-aware explanation. The classifier already meets its accuracy goal on the categories it has data for, and the architecture is clean and deployable. The remaining work is well-scoped: expand the training data for the five sparse categories, fine-tune Legal-BERT and FLAN-T5-small, add OCR for scanned PDFs, deploy both services, and run a user study. Thank the panel and invite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slide. Thank the examiners for their time and invite questions. Be ready for likely questions: why two services; why a TF-IDF baseline instead of a neural model; why the macro F1 is 0.56; why risk flagging is rule-based; and how user data is kept secure. Suggested answers are in the project report and team guide.</a:t>
            </a:r>
          </a:p>
        </p:txBody>
      </p:sp>
      <p:sp>
        <p:nvSpPr>
          <p:cNvPr id="4" name="Slide Number Placeholder 3"/>
          <p:cNvSpPr>
            <a:spLocks noGrp="1"/>
          </p:cNvSpPr>
          <p:nvPr>
            <p:ph type="sldNum" sz="quarter" idx="5"/>
          </p:nvPr>
        </p:nvSpPr>
        <p:spPr/>
        <p:txBody>
          <a:bodyPr/>
          <a:lstStyle/>
          <a:p>
            <a:fld id="{C6B3AB32-59DF-41F1-9618-EDFBF5049629}" type="slidenum">
              <a:rPr lang="en-US" smtClean="0"/>
              <a:t>27</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71636" y="3124939"/>
            <a:ext cx="11893115" cy="35914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234958" y="322753"/>
            <a:ext cx="11785407" cy="1475013"/>
          </a:xfrm>
          <a:effectLst/>
        </p:spPr>
        <p:txBody>
          <a:bodyPr anchor="b">
            <a:normAutofit/>
          </a:bodyPr>
          <a:lstStyle>
            <a:lvl1pPr>
              <a:defRPr sz="3600" b="1">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234957" y="1927274"/>
            <a:ext cx="11785407"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6355638"/>
            <a:ext cx="2844800" cy="365125"/>
          </a:xfrm>
        </p:spPr>
        <p:txBody>
          <a:bodyPr/>
          <a:lstStyle>
            <a:lvl1pPr>
              <a:defRPr>
                <a:solidFill>
                  <a:schemeClr val="accent3">
                    <a:lumMod val="40000"/>
                    <a:lumOff val="60000"/>
                  </a:schemeClr>
                </a:solidFill>
                <a:latin typeface="Ebrima" panose="02000000000000000000" pitchFamily="2" charset="0"/>
                <a:ea typeface="Ebrima" panose="02000000000000000000" pitchFamily="2" charset="0"/>
                <a:cs typeface="Ebrima" panose="02000000000000000000" pitchFamily="2" charset="0"/>
              </a:defRPr>
            </a:lvl1pPr>
          </a:lstStyle>
          <a:p>
            <a:fld id="{8C80F668-628C-40EB-9536-8D52901D0B04}" type="datetime1">
              <a:rPr lang="en-US" smtClean="0"/>
              <a:pPr/>
              <a:t>5/23/2026</a:t>
            </a:fld>
            <a:endParaRPr lang="en-US" dirty="0">
              <a:latin typeface="Ebrima" panose="02000000000000000000" pitchFamily="2" charset="0"/>
              <a:ea typeface="Ebrima" panose="02000000000000000000" pitchFamily="2" charset="0"/>
              <a:cs typeface="Ebrima" panose="02000000000000000000" pitchFamily="2" charset="0"/>
            </a:endParaRPr>
          </a:p>
        </p:txBody>
      </p:sp>
      <p:sp>
        <p:nvSpPr>
          <p:cNvPr id="5" name="Footer Placeholder 4"/>
          <p:cNvSpPr>
            <a:spLocks noGrp="1"/>
          </p:cNvSpPr>
          <p:nvPr>
            <p:ph type="ftr" sz="quarter" idx="11"/>
          </p:nvPr>
        </p:nvSpPr>
        <p:spPr>
          <a:xfrm>
            <a:off x="234958" y="6351312"/>
            <a:ext cx="6917210" cy="365125"/>
          </a:xfrm>
        </p:spPr>
        <p:txBody>
          <a:bodyPr/>
          <a:lstStyle>
            <a:lvl1pPr>
              <a:defRPr>
                <a:solidFill>
                  <a:schemeClr val="accent3">
                    <a:lumMod val="40000"/>
                    <a:lumOff val="60000"/>
                  </a:schemeClr>
                </a:solidFill>
                <a:latin typeface="Ebrima" panose="02000000000000000000" pitchFamily="2" charset="0"/>
                <a:ea typeface="Ebrima" panose="02000000000000000000" pitchFamily="2" charset="0"/>
                <a:cs typeface="Ebrima" panose="02000000000000000000" pitchFamily="2" charset="0"/>
              </a:defRPr>
            </a:lvl1pPr>
          </a:lstStyle>
          <a:p>
            <a:r>
              <a:rPr lang="en-US" dirty="0"/>
              <a:t>URP 4301 - Final Year Research Project</a:t>
            </a:r>
            <a:endParaRPr lang="en-US" dirty="0">
              <a:latin typeface="Ebrima" panose="02000000000000000000" pitchFamily="2" charset="0"/>
              <a:ea typeface="Ebrima" panose="02000000000000000000" pitchFamily="2" charset="0"/>
              <a:cs typeface="Ebrima" panose="02000000000000000000" pitchFamily="2" charset="0"/>
            </a:endParaRPr>
          </a:p>
        </p:txBody>
      </p:sp>
      <p:sp>
        <p:nvSpPr>
          <p:cNvPr id="6" name="Slide Number Placeholder 5"/>
          <p:cNvSpPr>
            <a:spLocks noGrp="1"/>
          </p:cNvSpPr>
          <p:nvPr>
            <p:ph type="sldNum" sz="quarter" idx="12"/>
          </p:nvPr>
        </p:nvSpPr>
        <p:spPr>
          <a:xfrm>
            <a:off x="11003924" y="6328457"/>
            <a:ext cx="1016440" cy="365125"/>
          </a:xfrm>
        </p:spPr>
        <p:txBody>
          <a:bodyPr/>
          <a:lstStyle>
            <a:lvl1pPr>
              <a:defRPr>
                <a:solidFill>
                  <a:schemeClr val="accent3">
                    <a:lumMod val="40000"/>
                    <a:lumOff val="60000"/>
                  </a:schemeClr>
                </a:solidFill>
                <a:latin typeface="Ebrima" panose="02000000000000000000" pitchFamily="2" charset="0"/>
                <a:ea typeface="Ebrima" panose="02000000000000000000" pitchFamily="2" charset="0"/>
                <a:cs typeface="Ebrima" panose="02000000000000000000" pitchFamily="2" charset="0"/>
              </a:defRPr>
            </a:lvl1pPr>
          </a:lstStyle>
          <a:p>
            <a:fld id="{D57F1E4F-1CFF-5643-939E-217C01CDF565}" type="slidenum">
              <a:rPr lang="en-US" smtClean="0"/>
              <a:pPr/>
              <a:t>‹#›</a:t>
            </a:fld>
            <a:endParaRPr lang="en-US" dirty="0">
              <a:latin typeface="Ebrima" panose="02000000000000000000" pitchFamily="2" charset="0"/>
              <a:ea typeface="Ebrima" panose="02000000000000000000" pitchFamily="2" charset="0"/>
              <a:cs typeface="Ebrima" panose="02000000000000000000" pitchFamily="2" charset="0"/>
            </a:endParaRPr>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303478"/>
            <a:ext cx="11745157" cy="824807"/>
          </a:xfrm>
          <a:solidFill>
            <a:schemeClr val="accent1">
              <a:lumMod val="75000"/>
            </a:schemeClr>
          </a:solidFill>
        </p:spPr>
        <p:txBody>
          <a:bodyPr anchor="ctr">
            <a:normAutofit/>
          </a:bodyPr>
          <a:lstStyle>
            <a:lvl1pPr>
              <a:defRPr sz="4000" b="1"/>
            </a:lvl1pPr>
          </a:lstStyle>
          <a:p>
            <a:r>
              <a:rPr lang="en-US" dirty="0"/>
              <a:t>Click to edit Master title style</a:t>
            </a:r>
          </a:p>
        </p:txBody>
      </p:sp>
      <p:sp>
        <p:nvSpPr>
          <p:cNvPr id="3" name="Content Placeholder 2"/>
          <p:cNvSpPr>
            <a:spLocks noGrp="1"/>
          </p:cNvSpPr>
          <p:nvPr>
            <p:ph idx="1"/>
          </p:nvPr>
        </p:nvSpPr>
        <p:spPr>
          <a:xfrm>
            <a:off x="266330" y="1207363"/>
            <a:ext cx="11745157" cy="5051394"/>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992425" y="6342272"/>
            <a:ext cx="2844799" cy="365125"/>
          </a:xfrm>
        </p:spPr>
        <p:txBody>
          <a:bodyPr/>
          <a:lstStyle>
            <a:lvl1pPr>
              <a:defRPr sz="1600"/>
            </a:lvl1pPr>
          </a:lstStyle>
          <a:p>
            <a:fld id="{8B7A60F6-7DB0-467E-96ED-BD436AB6B60E}" type="datetime1">
              <a:rPr lang="en-US" smtClean="0"/>
              <a:t>5/23/2026</a:t>
            </a:fld>
            <a:endParaRPr lang="en-US" dirty="0"/>
          </a:p>
        </p:txBody>
      </p:sp>
      <p:sp>
        <p:nvSpPr>
          <p:cNvPr id="5" name="Footer Placeholder 4"/>
          <p:cNvSpPr>
            <a:spLocks noGrp="1"/>
          </p:cNvSpPr>
          <p:nvPr>
            <p:ph type="ftr" sz="quarter" idx="11"/>
          </p:nvPr>
        </p:nvSpPr>
        <p:spPr>
          <a:xfrm>
            <a:off x="266330" y="6342273"/>
            <a:ext cx="6917210" cy="365125"/>
          </a:xfrm>
        </p:spPr>
        <p:txBody>
          <a:bodyPr/>
          <a:lstStyle>
            <a:lvl1pPr>
              <a:defRPr sz="1600"/>
            </a:lvl1pPr>
          </a:lstStyle>
          <a:p>
            <a:r>
              <a:rPr lang="en-US" sz="1600"/>
              <a:t>URP 4301 - Final Year Research Project</a:t>
            </a:r>
            <a:endParaRPr lang="en-US" sz="1600" dirty="0"/>
          </a:p>
        </p:txBody>
      </p:sp>
      <p:sp>
        <p:nvSpPr>
          <p:cNvPr id="6" name="Slide Number Placeholder 5"/>
          <p:cNvSpPr>
            <a:spLocks noGrp="1"/>
          </p:cNvSpPr>
          <p:nvPr>
            <p:ph type="sldNum" sz="quarter" idx="12"/>
          </p:nvPr>
        </p:nvSpPr>
        <p:spPr>
          <a:xfrm>
            <a:off x="10958979" y="6342273"/>
            <a:ext cx="1052508" cy="365125"/>
          </a:xfrm>
        </p:spPr>
        <p:txBody>
          <a:bodyPr/>
          <a:lstStyle>
            <a:lvl1pPr>
              <a:defRPr sz="1800" b="1"/>
            </a:lvl1pPr>
          </a:lstStyle>
          <a:p>
            <a:fld id="{D57F1E4F-1CFF-5643-939E-217C01CDF565}" type="slidenum">
              <a:rPr lang="en-US" smtClean="0"/>
              <a:pPr/>
              <a:t>‹#›</a:t>
            </a:fld>
            <a:endParaRPr lang="en-US" b="1"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5330A00-4D6D-4666-8024-9CC4B7656470}" type="datetime1">
              <a:rPr lang="en-US" smtClean="0"/>
              <a:t>5/23/2026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URP 4301 - Final Year Research Project</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E8FE34-9C1B-42B3-AFFC-C57142FDD729}" type="datetime1">
              <a:rPr lang="en-US" smtClean="0"/>
              <a:t>5/23/2026</a:t>
            </a:fld>
            <a:endParaRPr lang="en-US" dirty="0"/>
          </a:p>
        </p:txBody>
      </p:sp>
      <p:sp>
        <p:nvSpPr>
          <p:cNvPr id="6" name="Footer Placeholder 5"/>
          <p:cNvSpPr>
            <a:spLocks noGrp="1"/>
          </p:cNvSpPr>
          <p:nvPr>
            <p:ph type="ftr" sz="quarter" idx="11"/>
          </p:nvPr>
        </p:nvSpPr>
        <p:spPr/>
        <p:txBody>
          <a:bodyPr/>
          <a:lstStyle/>
          <a:p>
            <a:r>
              <a:rPr lang="en-US"/>
              <a:t>URP 4301 - Final Year Research Project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EE92AC-6081-451A-BB6B-DE5E9261DC37}" type="datetime1">
              <a:rPr lang="en-US" smtClean="0"/>
              <a:t>5/23/2026</a:t>
            </a:fld>
            <a:endParaRPr lang="en-US" dirty="0"/>
          </a:p>
        </p:txBody>
      </p:sp>
      <p:sp>
        <p:nvSpPr>
          <p:cNvPr id="8" name="Footer Placeholder 7"/>
          <p:cNvSpPr>
            <a:spLocks noGrp="1"/>
          </p:cNvSpPr>
          <p:nvPr>
            <p:ph type="ftr" sz="quarter" idx="11"/>
          </p:nvPr>
        </p:nvSpPr>
        <p:spPr/>
        <p:txBody>
          <a:bodyPr/>
          <a:lstStyle/>
          <a:p>
            <a:r>
              <a:rPr lang="en-US"/>
              <a:t>URP 4301 - Final Year Research Project</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4C99619-D26D-4339-9147-15BEC124CEB4}" type="datetime1">
              <a:rPr lang="en-US" smtClean="0"/>
              <a:t>5/23/2026</a:t>
            </a:fld>
            <a:endParaRPr lang="en-US" dirty="0"/>
          </a:p>
        </p:txBody>
      </p:sp>
      <p:sp>
        <p:nvSpPr>
          <p:cNvPr id="4" name="Footer Placeholder 3"/>
          <p:cNvSpPr>
            <a:spLocks noGrp="1"/>
          </p:cNvSpPr>
          <p:nvPr>
            <p:ph type="ftr" sz="quarter" idx="11"/>
          </p:nvPr>
        </p:nvSpPr>
        <p:spPr/>
        <p:txBody>
          <a:bodyPr/>
          <a:lstStyle/>
          <a:p>
            <a:r>
              <a:rPr lang="en-US"/>
              <a:t>URP 4301 - Final Year Research Project</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A5A5C8-C94B-404F-97A9-2BA63B5753B7}" type="datetime1">
              <a:rPr lang="en-US" smtClean="0"/>
              <a:t>5/23/2026</a:t>
            </a:fld>
            <a:endParaRPr lang="en-US" dirty="0"/>
          </a:p>
        </p:txBody>
      </p:sp>
      <p:sp>
        <p:nvSpPr>
          <p:cNvPr id="3" name="Footer Placeholder 2"/>
          <p:cNvSpPr>
            <a:spLocks noGrp="1"/>
          </p:cNvSpPr>
          <p:nvPr>
            <p:ph type="ftr" sz="quarter" idx="11"/>
          </p:nvPr>
        </p:nvSpPr>
        <p:spPr/>
        <p:txBody>
          <a:bodyPr/>
          <a:lstStyle/>
          <a:p>
            <a:r>
              <a:rPr lang="en-US"/>
              <a:t>URP 4301 - Final Year Research Project</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4853823-82B9-4909-B58C-853ED976418E}" type="datetime1">
              <a:rPr lang="en-US" smtClean="0"/>
              <a:t>5/23/2026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URP 4301 - Final Year Research Project</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D32AE9-A8AF-485D-9C96-2ACB26E4EC88}" type="datetime1">
              <a:rPr lang="en-US" smtClean="0"/>
              <a:t>5/23/2026</a:t>
            </a:fld>
            <a:endParaRPr lang="en-US" dirty="0"/>
          </a:p>
        </p:txBody>
      </p:sp>
      <p:sp>
        <p:nvSpPr>
          <p:cNvPr id="6" name="Footer Placeholder 5"/>
          <p:cNvSpPr>
            <a:spLocks noGrp="1"/>
          </p:cNvSpPr>
          <p:nvPr>
            <p:ph type="ftr" sz="quarter" idx="11"/>
          </p:nvPr>
        </p:nvSpPr>
        <p:spPr/>
        <p:txBody>
          <a:bodyPr/>
          <a:lstStyle/>
          <a:p>
            <a:r>
              <a:rPr lang="en-US"/>
              <a:t>URP 4301 - Final Year Research Project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087B64-D4EF-4538-96AE-CC789476F79B}" type="datetime1">
              <a:rPr lang="en-US" smtClean="0"/>
              <a:t>5/23/2026</a:t>
            </a:fld>
            <a:endParaRPr lang="en-US" dirty="0"/>
          </a:p>
        </p:txBody>
      </p:sp>
      <p:sp>
        <p:nvSpPr>
          <p:cNvPr id="5" name="Footer Placeholder 4"/>
          <p:cNvSpPr>
            <a:spLocks noGrp="1"/>
          </p:cNvSpPr>
          <p:nvPr>
            <p:ph type="ftr" sz="quarter" idx="11"/>
          </p:nvPr>
        </p:nvSpPr>
        <p:spPr/>
        <p:txBody>
          <a:bodyPr/>
          <a:lstStyle/>
          <a:p>
            <a:r>
              <a:rPr lang="en-US"/>
              <a:t>URP 4301 - Final Year Research Project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4514670-EBD3-411A-B79C-6891C7767DAD}" type="datetime1">
              <a:rPr lang="en-US" smtClean="0"/>
              <a:t>5/23/2026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URP 4301 - Final Year Research Project</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7855" y="366445"/>
            <a:ext cx="11742822" cy="8764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77854" y="1332331"/>
            <a:ext cx="11742822" cy="4864283"/>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24211" y="6311246"/>
            <a:ext cx="2844799" cy="365125"/>
          </a:xfrm>
          <a:prstGeom prst="rect">
            <a:avLst/>
          </a:prstGeom>
        </p:spPr>
        <p:txBody>
          <a:bodyPr vert="horz" lIns="91440" tIns="45720" rIns="91440" bIns="45720" rtlCol="0" anchor="ctr"/>
          <a:lstStyle>
            <a:lvl1pPr algn="r">
              <a:defRPr sz="1400" b="1">
                <a:solidFill>
                  <a:schemeClr val="accent2"/>
                </a:solidFill>
              </a:defRPr>
            </a:lvl1pPr>
          </a:lstStyle>
          <a:p>
            <a:fld id="{8A91E1F4-4A4B-491F-B08E-9349A12331AB}" type="datetime1">
              <a:rPr lang="en-US" smtClean="0"/>
              <a:t>5/23/2026</a:t>
            </a:fld>
            <a:endParaRPr lang="en-US" b="1" dirty="0"/>
          </a:p>
        </p:txBody>
      </p:sp>
      <p:sp>
        <p:nvSpPr>
          <p:cNvPr id="5" name="Footer Placeholder 4"/>
          <p:cNvSpPr>
            <a:spLocks noGrp="1"/>
          </p:cNvSpPr>
          <p:nvPr>
            <p:ph type="ftr" sz="quarter" idx="3"/>
          </p:nvPr>
        </p:nvSpPr>
        <p:spPr>
          <a:xfrm>
            <a:off x="261598" y="6321262"/>
            <a:ext cx="6917210" cy="365125"/>
          </a:xfrm>
          <a:prstGeom prst="rect">
            <a:avLst/>
          </a:prstGeom>
        </p:spPr>
        <p:txBody>
          <a:bodyPr vert="horz" lIns="91440" tIns="45720" rIns="91440" bIns="45720" rtlCol="0" anchor="ctr"/>
          <a:lstStyle>
            <a:lvl1pPr algn="l">
              <a:defRPr sz="1400" b="1" cap="all">
                <a:solidFill>
                  <a:schemeClr val="accent2"/>
                </a:solidFill>
              </a:defRPr>
            </a:lvl1pPr>
          </a:lstStyle>
          <a:p>
            <a:r>
              <a:rPr lang="en-US" b="1"/>
              <a:t>URP 4301 - Final Year Research Project</a:t>
            </a:r>
            <a:endParaRPr lang="en-US" b="1" dirty="0"/>
          </a:p>
        </p:txBody>
      </p:sp>
      <p:sp>
        <p:nvSpPr>
          <p:cNvPr id="6" name="Slide Number Placeholder 5"/>
          <p:cNvSpPr>
            <a:spLocks noGrp="1"/>
          </p:cNvSpPr>
          <p:nvPr>
            <p:ph type="sldNum" sz="quarter" idx="4"/>
          </p:nvPr>
        </p:nvSpPr>
        <p:spPr>
          <a:xfrm>
            <a:off x="10994798" y="6321262"/>
            <a:ext cx="1052510" cy="365125"/>
          </a:xfrm>
          <a:prstGeom prst="rect">
            <a:avLst/>
          </a:prstGeom>
        </p:spPr>
        <p:txBody>
          <a:bodyPr vert="horz" lIns="91440" tIns="45720" rIns="91440" bIns="45720" rtlCol="0" anchor="ctr"/>
          <a:lstStyle>
            <a:lvl1pPr algn="r">
              <a:defRPr sz="1400" b="1">
                <a:solidFill>
                  <a:schemeClr val="accent2"/>
                </a:solidFill>
              </a:defRPr>
            </a:lvl1pPr>
          </a:lstStyle>
          <a:p>
            <a:fld id="{D57F1E4F-1CFF-5643-939E-217C01CDF565}" type="slidenum">
              <a:rPr lang="en-US" smtClean="0"/>
              <a:pPr/>
              <a:t>‹#›</a:t>
            </a:fld>
            <a:endParaRPr lang="en-US" b="1" dirty="0"/>
          </a:p>
        </p:txBody>
      </p:sp>
      <p:sp>
        <p:nvSpPr>
          <p:cNvPr id="9" name="Rectangle 8"/>
          <p:cNvSpPr/>
          <p:nvPr/>
        </p:nvSpPr>
        <p:spPr>
          <a:xfrm>
            <a:off x="277854" y="181991"/>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317356" y="178434"/>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97605" y="181991"/>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457200" rtl="0" eaLnBrk="1" latinLnBrk="0" hangingPunct="1">
        <a:spcBef>
          <a:spcPct val="0"/>
        </a:spcBef>
        <a:buNone/>
        <a:defRPr sz="2800" b="0" kern="1200" cap="all">
          <a:solidFill>
            <a:schemeClr val="bg1"/>
          </a:solidFill>
          <a:latin typeface="Ebrima" panose="02000000000000000000" pitchFamily="2" charset="0"/>
          <a:ea typeface="Ebrima" panose="02000000000000000000" pitchFamily="2" charset="0"/>
          <a:cs typeface="Ebrima" panose="02000000000000000000" pitchFamily="2"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Char char=""/>
        <a:defRPr sz="3200" kern="1200">
          <a:solidFill>
            <a:schemeClr val="tx2"/>
          </a:solidFill>
          <a:latin typeface="Calisto MT" panose="02040603050505030304" pitchFamily="18" charset="0"/>
          <a:ea typeface="+mn-ea"/>
          <a:cs typeface="+mn-cs"/>
        </a:defRPr>
      </a:lvl1pPr>
      <a:lvl2pPr marL="630000" indent="-306000" algn="l"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Char char=""/>
        <a:defRPr sz="2800" kern="1200">
          <a:solidFill>
            <a:schemeClr val="accent3">
              <a:lumMod val="50000"/>
            </a:schemeClr>
          </a:solidFill>
          <a:latin typeface="Calisto MT" panose="02040603050505030304" pitchFamily="18" charset="0"/>
          <a:ea typeface="+mn-ea"/>
          <a:cs typeface="+mn-cs"/>
        </a:defRPr>
      </a:lvl2pPr>
      <a:lvl3pPr marL="900000" indent="-270000" algn="l"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Char char=""/>
        <a:defRPr sz="2400" kern="1200">
          <a:solidFill>
            <a:schemeClr val="tx2"/>
          </a:solidFill>
          <a:latin typeface="Calisto MT" panose="02040603050505030304" pitchFamily="18" charset="0"/>
          <a:ea typeface="+mn-ea"/>
          <a:cs typeface="+mn-cs"/>
        </a:defRPr>
      </a:lvl3pPr>
      <a:lvl4pPr marL="1242000" indent="-234000" algn="l"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Char char=""/>
        <a:defRPr sz="2000" kern="1200">
          <a:solidFill>
            <a:schemeClr val="accent3">
              <a:lumMod val="50000"/>
            </a:schemeClr>
          </a:solidFill>
          <a:latin typeface="Calisto MT" panose="02040603050505030304" pitchFamily="18" charset="0"/>
          <a:ea typeface="+mn-ea"/>
          <a:cs typeface="+mn-cs"/>
        </a:defRPr>
      </a:lvl4pPr>
      <a:lvl5pPr marL="1602000" indent="-234000" algn="l"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Char char=""/>
        <a:defRPr sz="2000" kern="1200">
          <a:solidFill>
            <a:schemeClr val="tx2"/>
          </a:solidFill>
          <a:latin typeface="Calisto MT" panose="0204060305050503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2C0F-4E1C-9A9F-9407-989C8DBE528D}"/>
              </a:ext>
            </a:extLst>
          </p:cNvPr>
          <p:cNvSpPr>
            <a:spLocks noGrp="1"/>
          </p:cNvSpPr>
          <p:nvPr>
            <p:ph type="ctrTitle"/>
          </p:nvPr>
        </p:nvSpPr>
        <p:spPr>
          <a:xfrm>
            <a:off x="276391" y="342900"/>
            <a:ext cx="11774598" cy="504825"/>
          </a:xfrm>
        </p:spPr>
        <p:txBody>
          <a:bodyPr>
            <a:noAutofit/>
          </a:bodyPr>
          <a:lstStyle/>
          <a:p>
            <a:pPr algn="ctr" fontAlgn="base"/>
            <a:r>
              <a:rPr lang="en-US" sz="4000" b="1" cap="none" dirty="0">
                <a:latin typeface="Calisto MT" panose="02040603050505030304" pitchFamily="18" charset="0"/>
              </a:rPr>
              <a:t>URP 4301 – Capstone Year Research Project</a:t>
            </a:r>
            <a:endParaRPr lang="en-IN" sz="6600" b="1" cap="none" dirty="0">
              <a:latin typeface="Calisto MT" panose="02040603050505030304" pitchFamily="18" charset="0"/>
            </a:endParaRPr>
          </a:p>
        </p:txBody>
      </p:sp>
      <p:sp>
        <p:nvSpPr>
          <p:cNvPr id="3" name="Subtitle 2">
            <a:extLst>
              <a:ext uri="{FF2B5EF4-FFF2-40B4-BE49-F238E27FC236}">
                <a16:creationId xmlns:a16="http://schemas.microsoft.com/office/drawing/2014/main" id="{E78B2A4D-0C9C-1868-4DAC-005A87B5470D}"/>
              </a:ext>
            </a:extLst>
          </p:cNvPr>
          <p:cNvSpPr>
            <a:spLocks noGrp="1"/>
          </p:cNvSpPr>
          <p:nvPr>
            <p:ph type="subTitle" idx="1"/>
          </p:nvPr>
        </p:nvSpPr>
        <p:spPr>
          <a:xfrm>
            <a:off x="7105650" y="3324339"/>
            <a:ext cx="4945340" cy="1998994"/>
          </a:xfrm>
        </p:spPr>
        <p:txBody>
          <a:bodyPr>
            <a:normAutofit/>
          </a:bodyPr>
          <a:lstStyle/>
          <a:p>
            <a:pPr algn="ctr"/>
            <a:r>
              <a:rPr lang="en-IN" sz="2000" i="1" cap="none" dirty="0">
                <a:solidFill>
                  <a:schemeClr val="accent3">
                    <a:lumMod val="40000"/>
                    <a:lumOff val="60000"/>
                  </a:schemeClr>
                </a:solidFill>
                <a:latin typeface="Calisto MT" panose="02040603050505030304" pitchFamily="18" charset="0"/>
                <a:ea typeface="Cambria" panose="02040503050406030204" pitchFamily="18" charset="0"/>
              </a:rPr>
              <a:t>Presented By</a:t>
            </a:r>
            <a:endParaRPr lang="en-IN" sz="2000" i="1" dirty="0">
              <a:solidFill>
                <a:schemeClr val="accent3">
                  <a:lumMod val="40000"/>
                  <a:lumOff val="60000"/>
                </a:schemeClr>
              </a:solidFill>
              <a:latin typeface="Calisto MT" panose="02040603050505030304" pitchFamily="18" charset="0"/>
              <a:ea typeface="Cambria" panose="02040503050406030204" pitchFamily="18" charset="0"/>
            </a:endParaRPr>
          </a:p>
          <a:p>
            <a:pPr algn="ctr"/>
            <a:r>
              <a:rPr lang="en-IN" sz="1800" dirty="0">
                <a:solidFill>
                  <a:schemeClr val="accent3">
                    <a:lumMod val="40000"/>
                    <a:lumOff val="60000"/>
                  </a:schemeClr>
                </a:solidFill>
                <a:ea typeface="Cambria" panose="02040503050406030204" pitchFamily="18" charset="0"/>
              </a:rPr>
              <a:t>Ashreeta Patra (2241016258)</a:t>
            </a:r>
          </a:p>
          <a:p>
            <a:pPr algn="ctr"/>
            <a:r>
              <a:rPr lang="en-IN" sz="1800" dirty="0">
                <a:solidFill>
                  <a:schemeClr val="accent3">
                    <a:lumMod val="40000"/>
                    <a:lumOff val="60000"/>
                  </a:schemeClr>
                </a:solidFill>
                <a:ea typeface="Cambria" panose="02040503050406030204" pitchFamily="18" charset="0"/>
              </a:rPr>
              <a:t>Shnehal Mishra (2241013172)</a:t>
            </a:r>
          </a:p>
          <a:p>
            <a:pPr algn="ctr"/>
            <a:r>
              <a:rPr lang="en-IN" sz="1800" dirty="0">
                <a:solidFill>
                  <a:schemeClr val="accent3">
                    <a:lumMod val="40000"/>
                    <a:lumOff val="60000"/>
                  </a:schemeClr>
                </a:solidFill>
                <a:ea typeface="Cambria" panose="02040503050406030204" pitchFamily="18" charset="0"/>
              </a:rPr>
              <a:t>Pratyush Mohanty (2241013262)</a:t>
            </a:r>
          </a:p>
          <a:p>
            <a:pPr algn="ctr"/>
            <a:r>
              <a:rPr lang="en-IN" sz="1800" dirty="0">
                <a:solidFill>
                  <a:schemeClr val="accent3">
                    <a:lumMod val="40000"/>
                    <a:lumOff val="60000"/>
                  </a:schemeClr>
                </a:solidFill>
                <a:ea typeface="Cambria" panose="02040503050406030204" pitchFamily="18" charset="0"/>
              </a:rPr>
              <a:t>Swagat Sourav Mallick (2241013083)</a:t>
            </a:r>
          </a:p>
          <a:p>
            <a:pPr algn="ctr"/>
            <a:endParaRPr lang="en-IN" sz="1800" dirty="0">
              <a:solidFill>
                <a:schemeClr val="accent3">
                  <a:lumMod val="40000"/>
                  <a:lumOff val="60000"/>
                </a:schemeClr>
              </a:solidFill>
              <a:ea typeface="Cambria" panose="02040503050406030204" pitchFamily="18" charset="0"/>
            </a:endParaRPr>
          </a:p>
          <a:p>
            <a:pPr algn="ctr"/>
            <a:r>
              <a:rPr lang="en-IN" sz="2400" b="1" dirty="0">
                <a:solidFill>
                  <a:srgbClr val="00B0F0"/>
                </a:solidFill>
                <a:ea typeface="Cambria" panose="02040503050406030204" pitchFamily="18" charset="0"/>
              </a:rPr>
              <a:t>Group No- 3211</a:t>
            </a:r>
            <a:endParaRPr lang="en-IN" sz="2400" b="1" dirty="0">
              <a:solidFill>
                <a:srgbClr val="00B0F0"/>
              </a:solidFill>
              <a:latin typeface="Calisto MT" panose="02040603050505030304" pitchFamily="18" charset="0"/>
              <a:ea typeface="Cambria" panose="02040503050406030204" pitchFamily="18" charset="0"/>
            </a:endParaRPr>
          </a:p>
          <a:p>
            <a:pPr algn="ctr"/>
            <a:endParaRPr lang="en-IN" sz="2000" dirty="0">
              <a:solidFill>
                <a:schemeClr val="accent3">
                  <a:lumMod val="40000"/>
                  <a:lumOff val="60000"/>
                </a:schemeClr>
              </a:solidFill>
              <a:latin typeface="Calisto MT" panose="02040603050505030304" pitchFamily="18" charset="0"/>
              <a:ea typeface="Cambria" panose="02040503050406030204" pitchFamily="18" charset="0"/>
            </a:endParaRPr>
          </a:p>
        </p:txBody>
      </p:sp>
      <p:sp>
        <p:nvSpPr>
          <p:cNvPr id="4" name="Subtitle 2">
            <a:extLst>
              <a:ext uri="{FF2B5EF4-FFF2-40B4-BE49-F238E27FC236}">
                <a16:creationId xmlns:a16="http://schemas.microsoft.com/office/drawing/2014/main" id="{9A3A765E-6F86-44A6-0D5F-80C503D4D4CC}"/>
              </a:ext>
            </a:extLst>
          </p:cNvPr>
          <p:cNvSpPr txBox="1">
            <a:spLocks/>
          </p:cNvSpPr>
          <p:nvPr/>
        </p:nvSpPr>
        <p:spPr>
          <a:xfrm>
            <a:off x="200191" y="3314928"/>
            <a:ext cx="4680992" cy="1998994"/>
          </a:xfrm>
          <a:prstGeom prst="rect">
            <a:avLst/>
          </a:prstGeom>
        </p:spPr>
        <p:txBody>
          <a:bodyPr vert="horz" lIns="91440" tIns="45720" rIns="91440" bIns="45720" rtlCol="0" anchor="t">
            <a:normAutofit/>
          </a:bodyPr>
          <a:lstStyle>
            <a:lvl1pPr marL="0" indent="0" algn="l"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None/>
              <a:defRPr sz="2400" kern="1200">
                <a:solidFill>
                  <a:schemeClr val="tx1">
                    <a:tint val="75000"/>
                  </a:schemeClr>
                </a:solidFill>
                <a:latin typeface="+mn-lt"/>
                <a:ea typeface="+mn-ea"/>
                <a:cs typeface="+mn-cs"/>
              </a:defRPr>
            </a:lvl2pPr>
            <a:lvl3pPr marL="914400" indent="0" algn="ctr"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None/>
              <a:defRPr sz="2000" kern="1200">
                <a:solidFill>
                  <a:schemeClr val="tx1">
                    <a:tint val="75000"/>
                  </a:schemeClr>
                </a:solidFill>
                <a:latin typeface="+mn-lt"/>
                <a:ea typeface="+mn-ea"/>
                <a:cs typeface="+mn-cs"/>
              </a:defRPr>
            </a:lvl3pPr>
            <a:lvl4pPr marL="1371600" indent="0" algn="ctr"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None/>
              <a:defRPr sz="1800" kern="1200">
                <a:solidFill>
                  <a:schemeClr val="tx1">
                    <a:tint val="75000"/>
                  </a:schemeClr>
                </a:solidFill>
                <a:latin typeface="+mn-lt"/>
                <a:ea typeface="+mn-ea"/>
                <a:cs typeface="+mn-cs"/>
              </a:defRPr>
            </a:lvl4pPr>
            <a:lvl5pPr marL="1828800" indent="0" algn="ctr" defTabSz="457200" rtl="0" eaLnBrk="1" latinLnBrk="0" hangingPunct="1">
              <a:lnSpc>
                <a:spcPct val="85000"/>
              </a:lnSpc>
              <a:spcBef>
                <a:spcPts val="0"/>
              </a:spcBef>
              <a:spcAft>
                <a:spcPts val="0"/>
              </a:spcAft>
              <a:buClr>
                <a:schemeClr val="accent2"/>
              </a:buClr>
              <a:buSzPct val="92000"/>
              <a:buFont typeface="Wingdings 2" panose="05020102010507070707" pitchFamily="18" charset="2"/>
              <a:buNone/>
              <a:defRPr sz="18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en-IN" sz="2800" i="1" cap="none" dirty="0">
                <a:solidFill>
                  <a:schemeClr val="accent3">
                    <a:lumMod val="40000"/>
                    <a:lumOff val="60000"/>
                  </a:schemeClr>
                </a:solidFill>
                <a:latin typeface="Calisto MT" panose="02040603050505030304" pitchFamily="18" charset="0"/>
                <a:ea typeface="Cambria" panose="02040503050406030204" pitchFamily="18" charset="0"/>
              </a:rPr>
              <a:t>Supervised By</a:t>
            </a:r>
          </a:p>
          <a:p>
            <a:pPr algn="ctr"/>
            <a:r>
              <a:rPr lang="en-IN" sz="2400" b="1" cap="none" dirty="0">
                <a:solidFill>
                  <a:srgbClr val="00B0F0"/>
                </a:solidFill>
                <a:latin typeface="Calisto MT" panose="02040603050505030304" pitchFamily="18" charset="0"/>
                <a:ea typeface="Cambria" panose="02040503050406030204" pitchFamily="18" charset="0"/>
              </a:rPr>
              <a:t>Mr. Sidharth Sankar Pradhan</a:t>
            </a:r>
          </a:p>
          <a:p>
            <a:pPr algn="ctr"/>
            <a:r>
              <a:rPr lang="en-US" sz="2400" cap="none" dirty="0">
                <a:solidFill>
                  <a:schemeClr val="accent3">
                    <a:lumMod val="40000"/>
                    <a:lumOff val="60000"/>
                  </a:schemeClr>
                </a:solidFill>
                <a:latin typeface="Calisto MT" panose="02040603050505030304" pitchFamily="18" charset="0"/>
                <a:ea typeface="Cambria" panose="02040503050406030204" pitchFamily="18" charset="0"/>
              </a:rPr>
              <a:t>Asst. Professor</a:t>
            </a:r>
            <a:endParaRPr lang="en-IN" sz="2400" b="1" cap="none" dirty="0">
              <a:solidFill>
                <a:srgbClr val="00B0F0"/>
              </a:solidFill>
              <a:latin typeface="Calisto MT" panose="02040603050505030304" pitchFamily="18" charset="0"/>
              <a:ea typeface="Cambria" panose="02040503050406030204" pitchFamily="18" charset="0"/>
            </a:endParaRPr>
          </a:p>
          <a:p>
            <a:pPr algn="ctr"/>
            <a:r>
              <a:rPr lang="en-US" sz="2400" cap="none" dirty="0">
                <a:solidFill>
                  <a:schemeClr val="accent3">
                    <a:lumMod val="40000"/>
                    <a:lumOff val="60000"/>
                  </a:schemeClr>
                </a:solidFill>
                <a:latin typeface="Calisto MT" panose="02040603050505030304" pitchFamily="18" charset="0"/>
                <a:ea typeface="Cambria" panose="02040503050406030204" pitchFamily="18" charset="0"/>
              </a:rPr>
              <a:t>Centre for AI&amp;ML</a:t>
            </a:r>
            <a:endParaRPr lang="en-IN" sz="2400" cap="none" dirty="0">
              <a:solidFill>
                <a:schemeClr val="accent3">
                  <a:lumMod val="40000"/>
                  <a:lumOff val="60000"/>
                </a:schemeClr>
              </a:solidFill>
              <a:latin typeface="Calisto MT" panose="02040603050505030304" pitchFamily="18" charset="0"/>
              <a:ea typeface="Cambria" panose="02040503050406030204" pitchFamily="18" charset="0"/>
            </a:endParaRPr>
          </a:p>
          <a:p>
            <a:pPr algn="ctr"/>
            <a:endParaRPr lang="en-IN" sz="2000" dirty="0">
              <a:solidFill>
                <a:schemeClr val="accent3">
                  <a:lumMod val="40000"/>
                  <a:lumOff val="60000"/>
                </a:schemeClr>
              </a:solidFill>
              <a:latin typeface="Calisto MT" panose="02040603050505030304" pitchFamily="18" charset="0"/>
              <a:ea typeface="Cambria" panose="02040503050406030204" pitchFamily="18" charset="0"/>
            </a:endParaRPr>
          </a:p>
        </p:txBody>
      </p:sp>
      <p:sp>
        <p:nvSpPr>
          <p:cNvPr id="6" name="TextBox 5">
            <a:extLst>
              <a:ext uri="{FF2B5EF4-FFF2-40B4-BE49-F238E27FC236}">
                <a16:creationId xmlns:a16="http://schemas.microsoft.com/office/drawing/2014/main" id="{B7D40C8E-7217-853F-BD19-D107C94AA55E}"/>
              </a:ext>
            </a:extLst>
          </p:cNvPr>
          <p:cNvSpPr txBox="1"/>
          <p:nvPr/>
        </p:nvSpPr>
        <p:spPr>
          <a:xfrm>
            <a:off x="141010" y="5210988"/>
            <a:ext cx="11909979" cy="1585049"/>
          </a:xfrm>
          <a:prstGeom prst="rect">
            <a:avLst/>
          </a:prstGeom>
          <a:noFill/>
        </p:spPr>
        <p:txBody>
          <a:bodyPr wrap="square">
            <a:spAutoFit/>
          </a:bodyPr>
          <a:lstStyle/>
          <a:p>
            <a:pPr algn="ctr"/>
            <a:r>
              <a:rPr lang="en-US" sz="2800" dirty="0">
                <a:solidFill>
                  <a:srgbClr val="00B0F0"/>
                </a:solidFill>
                <a:latin typeface="Calisto MT" panose="02040603050505030304" pitchFamily="18" charset="0"/>
                <a:ea typeface="Cambria" panose="02040503050406030204" pitchFamily="18" charset="0"/>
                <a:cs typeface="Leelawadee" panose="020B0502040204020203"/>
              </a:rPr>
              <a:t>Centre for AI&amp;ML, Department of CSE</a:t>
            </a:r>
          </a:p>
          <a:p>
            <a:pPr algn="ctr"/>
            <a:r>
              <a:rPr lang="en-US" sz="2300" dirty="0">
                <a:solidFill>
                  <a:schemeClr val="accent3">
                    <a:lumMod val="40000"/>
                    <a:lumOff val="60000"/>
                  </a:schemeClr>
                </a:solidFill>
                <a:latin typeface="Calisto MT" panose="02040603050505030304" pitchFamily="18" charset="0"/>
                <a:ea typeface="Cambria" panose="02040503050406030204" pitchFamily="18" charset="0"/>
                <a:cs typeface="Leelawadee" panose="020B0502040204020203"/>
              </a:rPr>
              <a:t>Faculty of Engineering and Technology, Institute of Technical Education &amp; Research (ITER)</a:t>
            </a:r>
          </a:p>
          <a:p>
            <a:pPr algn="ctr"/>
            <a:r>
              <a:rPr lang="en-US" sz="2800" b="1" dirty="0">
                <a:solidFill>
                  <a:srgbClr val="00B0F0"/>
                </a:solidFill>
                <a:latin typeface="Calisto MT" panose="02040603050505030304" pitchFamily="18" charset="0"/>
                <a:ea typeface="Cambria" panose="02040503050406030204" pitchFamily="18" charset="0"/>
                <a:cs typeface="Leelawadee" panose="020B0502040204020203"/>
              </a:rPr>
              <a:t>Siksha ‘O’ </a:t>
            </a:r>
            <a:r>
              <a:rPr lang="en-US" sz="2800" b="1" dirty="0" err="1">
                <a:solidFill>
                  <a:srgbClr val="00B0F0"/>
                </a:solidFill>
                <a:latin typeface="Calisto MT" panose="02040603050505030304" pitchFamily="18" charset="0"/>
                <a:ea typeface="Cambria" panose="02040503050406030204" pitchFamily="18" charset="0"/>
                <a:cs typeface="Leelawadee" panose="020B0502040204020203"/>
              </a:rPr>
              <a:t>Anusandhan</a:t>
            </a:r>
            <a:r>
              <a:rPr lang="en-US" sz="2800" b="1" dirty="0">
                <a:solidFill>
                  <a:srgbClr val="00B0F0"/>
                </a:solidFill>
                <a:latin typeface="Calisto MT" panose="02040603050505030304" pitchFamily="18" charset="0"/>
                <a:ea typeface="Cambria" panose="02040503050406030204" pitchFamily="18" charset="0"/>
                <a:cs typeface="Leelawadee" panose="020B0502040204020203"/>
              </a:rPr>
              <a:t> Deemed to be University, Bhubaneswar</a:t>
            </a:r>
          </a:p>
          <a:p>
            <a:pPr algn="ctr"/>
            <a:r>
              <a:rPr lang="en-US" sz="1800" dirty="0">
                <a:solidFill>
                  <a:schemeClr val="accent3">
                    <a:lumMod val="40000"/>
                    <a:lumOff val="60000"/>
                  </a:schemeClr>
                </a:solidFill>
                <a:latin typeface="Calisto MT" panose="02040603050505030304" pitchFamily="18" charset="0"/>
                <a:ea typeface="Cambria" panose="02040503050406030204" pitchFamily="18" charset="0"/>
                <a:cs typeface="Leelawadee" panose="020B0502040204020203"/>
              </a:rPr>
              <a:t>May 2026</a:t>
            </a:r>
          </a:p>
        </p:txBody>
      </p:sp>
      <p:pic>
        <p:nvPicPr>
          <p:cNvPr id="7" name="Picture 2" descr="Odisha Jobs - Vacancy At SOA-University October-2019">
            <a:extLst>
              <a:ext uri="{FF2B5EF4-FFF2-40B4-BE49-F238E27FC236}">
                <a16:creationId xmlns:a16="http://schemas.microsoft.com/office/drawing/2014/main" id="{EACE076D-34D1-1F32-2E9F-166EFDD4B2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7221" y="3235094"/>
            <a:ext cx="1797558" cy="17949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EB950A6-E326-C9D3-FE8F-34E8FE512476}"/>
              </a:ext>
            </a:extLst>
          </p:cNvPr>
          <p:cNvSpPr txBox="1"/>
          <p:nvPr/>
        </p:nvSpPr>
        <p:spPr>
          <a:xfrm>
            <a:off x="276391" y="932688"/>
            <a:ext cx="11774598" cy="2103120"/>
          </a:xfrm>
          <a:prstGeom prst="rect">
            <a:avLst/>
          </a:prstGeom>
          <a:noFill/>
        </p:spPr>
        <p:txBody>
          <a:bodyPr wrap="square">
            <a:spAutoFit/>
          </a:bodyPr>
          <a:lstStyle/>
          <a:p>
            <a:pPr algn="ctr">
              <a:spcAft>
                <a:spcPts val="600"/>
              </a:spcAft>
            </a:pPr>
            <a:r>
              <a:rPr sz="1400" b="1">
                <a:solidFill>
                  <a:srgbClr val="3D3D3D"/>
                </a:solidFill>
              </a:rPr>
              <a:t>END-TERM PRESENTATION</a:t>
            </a:r>
            <a:endParaRPr lang="en-IN" sz="2800" dirty="0">
              <a:solidFill>
                <a:srgbClr val="002060"/>
              </a:solidFill>
              <a:latin typeface="Calisto MT" panose="02040603050505030304" pitchFamily="18" charset="0"/>
            </a:endParaRPr>
          </a:p>
          <a:p>
            <a:pPr algn="ctr">
              <a:spcAft>
                <a:spcPts val="400"/>
              </a:spcAft>
            </a:pPr>
            <a:r>
              <a:rPr sz="3200" b="1">
                <a:solidFill>
                  <a:srgbClr val="1A3260"/>
                </a:solidFill>
              </a:rPr>
              <a:t>AI Legal Intent Rewriter</a:t>
            </a:r>
          </a:p>
          <a:p>
            <a:pPr algn="ctr"/>
            <a:r>
              <a:rPr sz="1700" b="0">
                <a:solidFill>
                  <a:srgbClr val="1A3260"/>
                </a:solidFill>
              </a:rPr>
              <a:t>with a Multi-Stage NLP Pipeline for Plain-Language Interpretation and Risk Flagging of Legal Documents</a:t>
            </a:r>
          </a:p>
        </p:txBody>
      </p:sp>
    </p:spTree>
    <p:extLst>
      <p:ext uri="{BB962C8B-B14F-4D97-AF65-F5344CB8AC3E}">
        <p14:creationId xmlns:p14="http://schemas.microsoft.com/office/powerpoint/2010/main" val="336328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FE1C3-3430-5E33-DCE1-2E47369338B3}"/>
              </a:ext>
            </a:extLst>
          </p:cNvPr>
          <p:cNvSpPr>
            <a:spLocks noGrp="1"/>
          </p:cNvSpPr>
          <p:nvPr>
            <p:ph idx="1"/>
          </p:nvPr>
        </p:nvSpPr>
        <p:spPr/>
        <p:txBody>
          <a:bodyPr numCol="2">
            <a:normAutofit/>
          </a:bodyPr>
          <a:lstStyle/>
          <a:p>
            <a:r>
              <a:rPr lang="en-IN" sz="3000" dirty="0"/>
              <a:t>Introduction</a:t>
            </a:r>
          </a:p>
          <a:p>
            <a:r>
              <a:rPr lang="en-IN" sz="3000" dirty="0"/>
              <a:t>Problem Statement</a:t>
            </a:r>
          </a:p>
          <a:p>
            <a:r>
              <a:rPr lang="en-IN" sz="3000" dirty="0"/>
              <a:t>Project Objectives</a:t>
            </a:r>
          </a:p>
          <a:p>
            <a:r>
              <a:rPr lang="en-IN" sz="3000" dirty="0"/>
              <a:t>Literature Survey</a:t>
            </a:r>
          </a:p>
          <a:p>
            <a:r>
              <a:rPr lang="en-IN" sz="3000" dirty="0"/>
              <a:t>System Architecture</a:t>
            </a:r>
          </a:p>
          <a:p>
            <a:r>
              <a:rPr lang="en-IN" sz="3000" dirty="0"/>
              <a:t>Dataset Description</a:t>
            </a:r>
          </a:p>
          <a:p>
            <a:r>
              <a:rPr lang="en-IN" sz="3000" dirty="0"/>
              <a:t>Data Preprocessing </a:t>
            </a:r>
          </a:p>
          <a:p>
            <a:r>
              <a:rPr lang="en-IN" sz="3000" dirty="0"/>
              <a:t>Exploratory Data Analysis</a:t>
            </a:r>
          </a:p>
          <a:p>
            <a:endParaRPr lang="en-IN" sz="3000" dirty="0"/>
          </a:p>
          <a:p>
            <a:endParaRPr lang="en-IN" sz="3000" dirty="0"/>
          </a:p>
          <a:p>
            <a:endParaRPr lang="en-IN" sz="3000" dirty="0"/>
          </a:p>
          <a:p>
            <a:endParaRPr lang="en-IN" sz="3000" dirty="0"/>
          </a:p>
          <a:p>
            <a:r>
              <a:rPr lang="en-IN" sz="3000" dirty="0"/>
              <a:t>Model Selection</a:t>
            </a:r>
          </a:p>
          <a:p>
            <a:r>
              <a:rPr lang="en-IN" sz="3000" dirty="0"/>
              <a:t>Model Architecture</a:t>
            </a:r>
          </a:p>
          <a:p>
            <a:r>
              <a:rPr lang="en-IN" sz="3000" dirty="0"/>
              <a:t>Software &amp; Platform Information</a:t>
            </a:r>
          </a:p>
          <a:p>
            <a:r>
              <a:rPr lang="en-IN" sz="3000" dirty="0"/>
              <a:t>Results</a:t>
            </a:r>
          </a:p>
          <a:p>
            <a:r>
              <a:rPr lang="en-IN" sz="3000" dirty="0"/>
              <a:t>Discussion</a:t>
            </a:r>
          </a:p>
          <a:p>
            <a:pPr marL="304800" indent="-304800"/>
            <a:r>
              <a:rPr lang="en-IN" sz="3000" dirty="0" err="1"/>
              <a:t>Conclusion</a:t>
            </a:r>
            <a:endParaRPr lang="en-IN" sz="3000" dirty="0"/>
          </a:p>
          <a:p>
            <a:r>
              <a:rPr lang="en-IN" sz="3000" dirty="0"/>
              <a:t>References</a:t>
            </a:r>
          </a:p>
        </p:txBody>
      </p:sp>
      <p:sp>
        <p:nvSpPr>
          <p:cNvPr id="4" name="Date Placeholder 3">
            <a:extLst>
              <a:ext uri="{FF2B5EF4-FFF2-40B4-BE49-F238E27FC236}">
                <a16:creationId xmlns:a16="http://schemas.microsoft.com/office/drawing/2014/main" id="{2573FA32-E44F-B479-00E1-C15B76F3930A}"/>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BE18E787-5299-8306-C96E-C585F5F2E47B}"/>
              </a:ext>
            </a:extLst>
          </p:cNvPr>
          <p:cNvSpPr>
            <a:spLocks noGrp="1"/>
          </p:cNvSpPr>
          <p:nvPr>
            <p:ph type="ftr" sz="quarter" idx="11"/>
          </p:nvPr>
        </p:nvSpPr>
        <p:spPr/>
        <p:txBody>
          <a:bodyPr/>
          <a:lstStyle/>
          <a:p>
            <a:r>
              <a:rPr lang="en-US" sz="1600" dirty="0"/>
              <a:t>URP 4301 - Capstone Year Research Project</a:t>
            </a:r>
          </a:p>
        </p:txBody>
      </p:sp>
      <p:sp>
        <p:nvSpPr>
          <p:cNvPr id="6" name="Slide Number Placeholder 5">
            <a:extLst>
              <a:ext uri="{FF2B5EF4-FFF2-40B4-BE49-F238E27FC236}">
                <a16:creationId xmlns:a16="http://schemas.microsoft.com/office/drawing/2014/main" id="{A8B9DA29-04D9-7CF2-4FAD-499D436FB28D}"/>
              </a:ext>
            </a:extLst>
          </p:cNvPr>
          <p:cNvSpPr>
            <a:spLocks noGrp="1"/>
          </p:cNvSpPr>
          <p:nvPr>
            <p:ph type="sldNum" sz="quarter" idx="12"/>
          </p:nvPr>
        </p:nvSpPr>
        <p:spPr/>
        <p:txBody>
          <a:bodyPr/>
          <a:lstStyle/>
          <a:p>
            <a:r>
              <a:t>2</a:t>
            </a:r>
          </a:p>
        </p:txBody>
      </p:sp>
      <p:sp>
        <p:nvSpPr>
          <p:cNvPr id="8" name="Title 7">
            <a:extLst>
              <a:ext uri="{FF2B5EF4-FFF2-40B4-BE49-F238E27FC236}">
                <a16:creationId xmlns:a16="http://schemas.microsoft.com/office/drawing/2014/main" id="{177A6123-9803-3D5F-5484-DA1FC78844EE}"/>
              </a:ext>
            </a:extLst>
          </p:cNvPr>
          <p:cNvSpPr>
            <a:spLocks noGrp="1"/>
          </p:cNvSpPr>
          <p:nvPr>
            <p:ph type="title"/>
          </p:nvPr>
        </p:nvSpPr>
        <p:spPr/>
        <p:txBody>
          <a:bodyPr/>
          <a:lstStyle/>
          <a:p>
            <a:r>
              <a:rPr lang="en-IN" dirty="0"/>
              <a:t>Contents</a:t>
            </a:r>
          </a:p>
        </p:txBody>
      </p:sp>
    </p:spTree>
    <p:extLst>
      <p:ext uri="{BB962C8B-B14F-4D97-AF65-F5344CB8AC3E}">
        <p14:creationId xmlns:p14="http://schemas.microsoft.com/office/powerpoint/2010/main" val="4136982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987B5-ACB2-1255-A069-F09DEE09495A}"/>
              </a:ext>
            </a:extLst>
          </p:cNvPr>
          <p:cNvSpPr>
            <a:spLocks noGrp="1"/>
          </p:cNvSpPr>
          <p:nvPr>
            <p:ph type="title"/>
          </p:nvPr>
        </p:nvSpPr>
        <p:spPr/>
        <p:txBody>
          <a:bodyPr/>
          <a:lstStyle/>
          <a:p>
            <a:r>
              <a:rPr lang="en-IN" dirty="0"/>
              <a:t>introduction</a:t>
            </a:r>
          </a:p>
        </p:txBody>
      </p:sp>
      <p:sp>
        <p:nvSpPr>
          <p:cNvPr id="9" name="Content Placeholder 8">
            <a:extLst>
              <a:ext uri="{FF2B5EF4-FFF2-40B4-BE49-F238E27FC236}">
                <a16:creationId xmlns:a16="http://schemas.microsoft.com/office/drawing/2014/main" id="{4EA41B44-974A-8B0B-EAA3-C729A25E5D92}"/>
              </a:ext>
            </a:extLst>
          </p:cNvPr>
          <p:cNvSpPr>
            <a:spLocks noGrp="1"/>
          </p:cNvSpPr>
          <p:nvPr>
            <p:ph idx="1"/>
          </p:nvPr>
        </p:nvSpPr>
        <p:spPr/>
        <p:txBody>
          <a:bodyPr wrap="square"/>
          <a:lstStyle/>
          <a:p>
            <a:r>
              <a:t>Legal documents are written in dense, technical language</a:t>
            </a:r>
            <a:endParaRPr lang="en-IN"/>
          </a:p>
          <a:p>
            <a:r>
              <a:t>Most people sign agreements they do not fully understand</a:t>
            </a:r>
          </a:p>
          <a:p>
            <a:r>
              <a:t>AI Legal Intent Rewriter explains contracts clause by clause</a:t>
            </a:r>
          </a:p>
          <a:p>
            <a:r>
              <a:t>Classifies, simplifies and risk-flags every clause</a:t>
            </a:r>
          </a:p>
          <a:p>
            <a:r>
              <a:t>A capstone-year applied Natural Language Processing project</a:t>
            </a:r>
          </a:p>
          <a:p>
            <a:r>
              <a:t>Acts as an automated first-pass reader — not a lawyer</a:t>
            </a:r>
          </a:p>
        </p:txBody>
      </p:sp>
      <p:sp>
        <p:nvSpPr>
          <p:cNvPr id="4" name="Date Placeholder 3">
            <a:extLst>
              <a:ext uri="{FF2B5EF4-FFF2-40B4-BE49-F238E27FC236}">
                <a16:creationId xmlns:a16="http://schemas.microsoft.com/office/drawing/2014/main" id="{EAC65DCF-ACEA-6F4F-A7B0-41C6753FAD84}"/>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48866D75-0E7E-92E0-5E4C-77E345558F8F}"/>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7A207FD6-2B04-D455-317B-0C86EA9B49AB}"/>
              </a:ext>
            </a:extLst>
          </p:cNvPr>
          <p:cNvSpPr>
            <a:spLocks noGrp="1"/>
          </p:cNvSpPr>
          <p:nvPr>
            <p:ph type="sldNum" sz="quarter" idx="12"/>
          </p:nvPr>
        </p:nvSpPr>
        <p:spPr/>
        <p:txBody>
          <a:bodyPr/>
          <a:lstStyle/>
          <a:p>
            <a:r>
              <a:t>3</a:t>
            </a:r>
          </a:p>
        </p:txBody>
      </p:sp>
    </p:spTree>
    <p:extLst>
      <p:ext uri="{BB962C8B-B14F-4D97-AF65-F5344CB8AC3E}">
        <p14:creationId xmlns:p14="http://schemas.microsoft.com/office/powerpoint/2010/main" val="3461261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46289-31F7-3FEF-499C-1D8599197E1F}"/>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83676935-28C7-351D-1C98-F3532DB375C6}"/>
              </a:ext>
            </a:extLst>
          </p:cNvPr>
          <p:cNvSpPr>
            <a:spLocks noGrp="1"/>
          </p:cNvSpPr>
          <p:nvPr>
            <p:ph idx="1"/>
          </p:nvPr>
        </p:nvSpPr>
        <p:spPr>
          <a:xfrm>
            <a:off x="-131974" y="1207363"/>
            <a:ext cx="12143462" cy="5051394"/>
          </a:xfrm>
        </p:spPr>
        <p:txBody>
          <a:bodyPr wrap="square">
            <a:normAutofit/>
          </a:bodyPr>
          <a:lstStyle/>
          <a:p>
            <a:pPr algn="just">
              <a:buNone/>
            </a:pPr>
            <a:r>
              <a:rPr sz="1800" b="0"/>
              <a:t>Legal documents — tenancy agreements, employment contracts and online terms of service — are written in dense ‘legalese’ that non-experts cannot interpret, so most people enter binding agreements without genuine informed consent. </a:t>
            </a:r>
            <a:r>
              <a:rPr sz="1800" b="1"/>
              <a:t>Specifically</a:t>
            </a:r>
            <a:r>
              <a:rPr sz="1800" b="0"/>
              <a:t>, this project builds a multi-stage NLP pipeline that, given a digital-PDF or plain-text contract, segments it into clauses and for each clause assigns one of twelve legal categories, extracts key entities, and produces a plain-language rewrite and a transparent risk level. Progress is </a:t>
            </a:r>
            <a:r>
              <a:rPr sz="1800" b="1"/>
              <a:t>measurable</a:t>
            </a:r>
            <a:r>
              <a:rPr sz="1800" b="0"/>
              <a:t> against defined targets — ≥85% clause-boundary accuracy, ≥0.80 macro-F1 for classification and ≥0.75 entity-level F1 for NER — verified by an automated test suite. The work is </a:t>
            </a:r>
            <a:r>
              <a:rPr sz="1800" b="1"/>
              <a:t>assignable</a:t>
            </a:r>
            <a:r>
              <a:rPr sz="1800" b="0"/>
              <a:t>: it is owned by the four-member Group 3211, with classification and NER, rewriting and risk flagging, the web dashboard, and dataset and ingestion each assigned to a named member under one supervisor. It is </a:t>
            </a:r>
            <a:r>
              <a:rPr sz="1800" b="1"/>
              <a:t>realistic</a:t>
            </a:r>
            <a:r>
              <a:rPr sz="1800" b="0"/>
              <a:t> — scoped to English-language consumer contracts and built entirely on free, open-source tools and free-tier hosting that run on commodity hardware with no dedicated GPU. Finally it is </a:t>
            </a:r>
            <a:r>
              <a:rPr sz="1800" b="1"/>
              <a:t>time-bound</a:t>
            </a:r>
            <a:r>
              <a:rPr sz="1800" b="0"/>
              <a:t>, delivered across an 18-week capstone schedule. The integrated pipeline, the transformer fine-tuning and the end-to-end deployment are all complete; the held-out macro-F1 of 0.902 exceeds the project target.</a:t>
            </a:r>
            <a:endParaRPr lang="en-IN" sz="4000" dirty="0"/>
          </a:p>
        </p:txBody>
      </p:sp>
      <p:sp>
        <p:nvSpPr>
          <p:cNvPr id="4" name="Date Placeholder 3">
            <a:extLst>
              <a:ext uri="{FF2B5EF4-FFF2-40B4-BE49-F238E27FC236}">
                <a16:creationId xmlns:a16="http://schemas.microsoft.com/office/drawing/2014/main" id="{C902830B-3452-3D9F-2563-5A8718A863A0}"/>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40485A8D-5C9D-8000-09D8-B85F0057E9C0}"/>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111F04C7-8542-B2B1-D24A-968564821D26}"/>
              </a:ext>
            </a:extLst>
          </p:cNvPr>
          <p:cNvSpPr>
            <a:spLocks noGrp="1"/>
          </p:cNvSpPr>
          <p:nvPr>
            <p:ph type="sldNum" sz="quarter" idx="12"/>
          </p:nvPr>
        </p:nvSpPr>
        <p:spPr/>
        <p:txBody>
          <a:bodyPr/>
          <a:lstStyle/>
          <a:p>
            <a:r>
              <a:t>4</a:t>
            </a:r>
          </a:p>
        </p:txBody>
      </p:sp>
    </p:spTree>
    <p:extLst>
      <p:ext uri="{BB962C8B-B14F-4D97-AF65-F5344CB8AC3E}">
        <p14:creationId xmlns:p14="http://schemas.microsoft.com/office/powerpoint/2010/main" val="1764423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42AC60-8F76-2259-DB42-70A74872D9AF}"/>
              </a:ext>
            </a:extLst>
          </p:cNvPr>
          <p:cNvSpPr>
            <a:spLocks noGrp="1"/>
          </p:cNvSpPr>
          <p:nvPr>
            <p:ph type="title"/>
          </p:nvPr>
        </p:nvSpPr>
        <p:spPr/>
        <p:txBody>
          <a:bodyPr/>
          <a:lstStyle/>
          <a:p>
            <a:r>
              <a:rPr lang="en-IN" dirty="0"/>
              <a:t>Motivations</a:t>
            </a:r>
          </a:p>
        </p:txBody>
      </p:sp>
      <p:sp>
        <p:nvSpPr>
          <p:cNvPr id="8" name="Content Placeholder 7">
            <a:extLst>
              <a:ext uri="{FF2B5EF4-FFF2-40B4-BE49-F238E27FC236}">
                <a16:creationId xmlns:a16="http://schemas.microsoft.com/office/drawing/2014/main" id="{B4CF9406-D5A2-E546-C448-D5AADECC8F7F}"/>
              </a:ext>
            </a:extLst>
          </p:cNvPr>
          <p:cNvSpPr>
            <a:spLocks noGrp="1"/>
          </p:cNvSpPr>
          <p:nvPr>
            <p:ph idx="1"/>
          </p:nvPr>
        </p:nvSpPr>
        <p:spPr/>
        <p:txBody>
          <a:bodyPr wrap="square"/>
          <a:lstStyle/>
          <a:p>
            <a:r>
              <a:t>People accept dozens of digital agreements every year</a:t>
            </a:r>
            <a:endParaRPr lang="en-IN"/>
          </a:p>
          <a:p>
            <a:r>
              <a:t>Professional legal advice is costly and often inaccessible</a:t>
            </a:r>
          </a:p>
          <a:p>
            <a:r>
              <a:t>Individuals and small businesses are the most exposed</a:t>
            </a:r>
          </a:p>
          <a:p>
            <a:r>
              <a:t>Advances in NLP make automated interpretation feasible</a:t>
            </a:r>
          </a:p>
          <a:p>
            <a:r>
              <a:t>Goal: support informed consent and fairer agreements</a:t>
            </a:r>
          </a:p>
        </p:txBody>
      </p:sp>
      <p:sp>
        <p:nvSpPr>
          <p:cNvPr id="4" name="Date Placeholder 3">
            <a:extLst>
              <a:ext uri="{FF2B5EF4-FFF2-40B4-BE49-F238E27FC236}">
                <a16:creationId xmlns:a16="http://schemas.microsoft.com/office/drawing/2014/main" id="{2494A2E4-297C-FA50-FDCB-3F5613C74587}"/>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58BC252E-2E94-2673-19A7-89C655036316}"/>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27404A0D-EF08-BB26-E952-300CD8D1EECC}"/>
              </a:ext>
            </a:extLst>
          </p:cNvPr>
          <p:cNvSpPr>
            <a:spLocks noGrp="1"/>
          </p:cNvSpPr>
          <p:nvPr>
            <p:ph type="sldNum" sz="quarter" idx="12"/>
          </p:nvPr>
        </p:nvSpPr>
        <p:spPr/>
        <p:txBody>
          <a:bodyPr/>
          <a:lstStyle/>
          <a:p>
            <a:r>
              <a:t>5</a:t>
            </a:r>
          </a:p>
        </p:txBody>
      </p:sp>
    </p:spTree>
    <p:extLst>
      <p:ext uri="{BB962C8B-B14F-4D97-AF65-F5344CB8AC3E}">
        <p14:creationId xmlns:p14="http://schemas.microsoft.com/office/powerpoint/2010/main" val="14317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0C90-4DBB-4153-C19E-718F3EC51F68}"/>
              </a:ext>
            </a:extLst>
          </p:cNvPr>
          <p:cNvSpPr>
            <a:spLocks noGrp="1"/>
          </p:cNvSpPr>
          <p:nvPr>
            <p:ph type="title"/>
          </p:nvPr>
        </p:nvSpPr>
        <p:spPr/>
        <p:txBody>
          <a:bodyPr>
            <a:normAutofit/>
          </a:bodyPr>
          <a:lstStyle/>
          <a:p>
            <a:r>
              <a:rPr lang="en-IN" dirty="0"/>
              <a:t>Project Objectives</a:t>
            </a:r>
          </a:p>
        </p:txBody>
      </p:sp>
      <p:sp>
        <p:nvSpPr>
          <p:cNvPr id="7" name="Content Placeholder 6">
            <a:extLst>
              <a:ext uri="{FF2B5EF4-FFF2-40B4-BE49-F238E27FC236}">
                <a16:creationId xmlns:a16="http://schemas.microsoft.com/office/drawing/2014/main" id="{1D8E676C-A490-D29B-101C-DECD96054018}"/>
              </a:ext>
            </a:extLst>
          </p:cNvPr>
          <p:cNvSpPr>
            <a:spLocks noGrp="1"/>
          </p:cNvSpPr>
          <p:nvPr>
            <p:ph idx="1"/>
          </p:nvPr>
        </p:nvSpPr>
        <p:spPr/>
        <p:txBody>
          <a:bodyPr wrap="square">
            <a:normAutofit/>
          </a:bodyPr>
          <a:lstStyle/>
          <a:p>
            <a:pPr>
              <a:spcAft>
                <a:spcPts val="600"/>
              </a:spcAft>
            </a:pPr>
            <a:r>
              <a:rPr sz="1800" b="0"/>
              <a:t>Ingest PDF and plain-text legal documents, with OCR for scanned inputs, producing clean normalised text for the pipeline.</a:t>
            </a:r>
            <a:endParaRPr lang="en-IN" sz="4000" dirty="0"/>
          </a:p>
          <a:p>
            <a:pPr>
              <a:spcAft>
                <a:spcPts val="600"/>
              </a:spcAft>
            </a:pPr>
            <a:r>
              <a:rPr sz="1800" b="0"/>
              <a:t>Segment each document into individual clauses with character-accurate offsets — target at least 85% boundary-detection accuracy.</a:t>
            </a:r>
          </a:p>
          <a:p>
            <a:pPr>
              <a:spcAft>
                <a:spcPts val="600"/>
              </a:spcAft>
            </a:pPr>
            <a:r>
              <a:rPr sz="1800" b="0"/>
              <a:t>Classify every clause into one of 12 legal categories — target a macro F1-score of at least 0.80 on the supported categories.</a:t>
            </a:r>
          </a:p>
          <a:p>
            <a:pPr>
              <a:spcAft>
                <a:spcPts val="600"/>
              </a:spcAft>
            </a:pPr>
            <a:r>
              <a:rPr sz="1800" b="0"/>
              <a:t>Extract 6 entity types (dates, amounts, parties, rights, obligations, conditions) — target at least 0.75 entity-level F1.</a:t>
            </a:r>
          </a:p>
          <a:p>
            <a:pPr>
              <a:spcAft>
                <a:spcPts val="600"/>
              </a:spcAft>
            </a:pPr>
            <a:r>
              <a:rPr sz="1800" b="0"/>
              <a:t>Generate faithful plain-language rewrites of each clause, evaluated by readability and similarity metrics.</a:t>
            </a:r>
          </a:p>
          <a:p>
            <a:pPr>
              <a:spcAft>
                <a:spcPts val="600"/>
              </a:spcAft>
            </a:pPr>
            <a:r>
              <a:rPr sz="1800" b="0"/>
              <a:t>Flag risky clauses with a transparent, explainable rule engine (low, medium or high, every trigger named).</a:t>
            </a:r>
          </a:p>
          <a:p>
            <a:pPr>
              <a:spcAft>
                <a:spcPts val="600"/>
              </a:spcAft>
            </a:pPr>
            <a:r>
              <a:rPr sz="1800" b="0"/>
              <a:t>Present every result in a responsive, clause-by-clause web dashboard.</a:t>
            </a:r>
          </a:p>
          <a:p>
            <a:pPr>
              <a:spcAft>
                <a:spcPts val="600"/>
              </a:spcAft>
            </a:pPr>
            <a:r>
              <a:rPr sz="1800" b="0"/>
              <a:t>Validate all components with quantitative metrics and an automated test suite, within the 18-week capstone timeline.</a:t>
            </a:r>
          </a:p>
        </p:txBody>
      </p:sp>
      <p:sp>
        <p:nvSpPr>
          <p:cNvPr id="4" name="Date Placeholder 3">
            <a:extLst>
              <a:ext uri="{FF2B5EF4-FFF2-40B4-BE49-F238E27FC236}">
                <a16:creationId xmlns:a16="http://schemas.microsoft.com/office/drawing/2014/main" id="{120056FD-CF86-990D-7D8B-0B1682C4BA00}"/>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9BAC7D75-E019-381D-0D2A-3AA1F2486AE9}"/>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4230E887-2E2A-DC64-1D13-6413C4546C39}"/>
              </a:ext>
            </a:extLst>
          </p:cNvPr>
          <p:cNvSpPr>
            <a:spLocks noGrp="1"/>
          </p:cNvSpPr>
          <p:nvPr>
            <p:ph type="sldNum" sz="quarter" idx="12"/>
          </p:nvPr>
        </p:nvSpPr>
        <p:spPr/>
        <p:txBody>
          <a:bodyPr/>
          <a:lstStyle/>
          <a:p>
            <a:r>
              <a:t>6</a:t>
            </a:r>
          </a:p>
        </p:txBody>
      </p:sp>
    </p:spTree>
    <p:extLst>
      <p:ext uri="{BB962C8B-B14F-4D97-AF65-F5344CB8AC3E}">
        <p14:creationId xmlns:p14="http://schemas.microsoft.com/office/powerpoint/2010/main" val="842312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7B7E-0547-9A59-A20F-E8801FAABD88}"/>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23EBAE6D-79FE-7CF3-B3E1-AF9694B60C29}"/>
              </a:ext>
            </a:extLst>
          </p:cNvPr>
          <p:cNvSpPr>
            <a:spLocks noGrp="1"/>
          </p:cNvSpPr>
          <p:nvPr>
            <p:ph idx="1"/>
          </p:nvPr>
        </p:nvSpPr>
        <p:spPr/>
        <p:txBody>
          <a:bodyPr>
            <a:normAutofit/>
          </a:bodyPr>
          <a:lstStyle/>
          <a:p>
            <a:pPr marL="0" indent="0" algn="l">
              <a:buNone/>
            </a:pPr>
            <a:r>
              <a:rPr sz="1300" b="1"/>
              <a:t>Table 1: Summary of existing approaches and research findings  —  part 1 of 5  —  references 1-7</a:t>
            </a:r>
          </a:p>
        </p:txBody>
      </p:sp>
      <p:sp>
        <p:nvSpPr>
          <p:cNvPr id="4" name="Date Placeholder 3">
            <a:extLst>
              <a:ext uri="{FF2B5EF4-FFF2-40B4-BE49-F238E27FC236}">
                <a16:creationId xmlns:a16="http://schemas.microsoft.com/office/drawing/2014/main" id="{115E6F6E-F6E0-10E0-82EB-90F063816C72}"/>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58DA3F0-BCE6-7A6F-82D2-0025E47D1531}"/>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35598483-8695-2FBE-9922-C8A3EB3B07D2}"/>
              </a:ext>
            </a:extLst>
          </p:cNvPr>
          <p:cNvSpPr>
            <a:spLocks noGrp="1"/>
          </p:cNvSpPr>
          <p:nvPr>
            <p:ph type="sldNum" sz="quarter" idx="12"/>
          </p:nvPr>
        </p:nvSpPr>
        <p:spPr/>
        <p:txBody>
          <a:bodyPr/>
          <a:lstStyle/>
          <a:p>
            <a:r>
              <a:t>7</a:t>
            </a:r>
          </a:p>
        </p:txBody>
      </p:sp>
      <p:graphicFrame>
        <p:nvGraphicFramePr>
          <p:cNvPr id="7" name="Table 6"/>
          <p:cNvGraphicFramePr>
            <a:graphicFrameLocks noGrp="1"/>
          </p:cNvGraphicFramePr>
          <p:nvPr>
            <p:extLst>
              <p:ext uri="{D42A27DB-BD31-4B8C-83A1-F6EECF244321}">
                <p14:modId xmlns:p14="http://schemas.microsoft.com/office/powerpoint/2010/main" val="2300752020"/>
              </p:ext>
            </p:extLst>
          </p:nvPr>
        </p:nvGraphicFramePr>
        <p:xfrm>
          <a:off x="365760" y="1508760"/>
          <a:ext cx="11475720" cy="4908582"/>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411480">
                <a:tc>
                  <a:txBody>
                    <a:bodyPr/>
                    <a:lstStyle/>
                    <a:p>
                      <a:pPr algn="ctr"/>
                      <a:r>
                        <a:rPr sz="1400" b="1">
                          <a:solidFill>
                            <a:srgbClr val="FFFFFF"/>
                          </a:solidFill>
                        </a:rPr>
                        <a:t>Sl. No.</a:t>
                      </a:r>
                    </a:p>
                  </a:txBody>
                  <a:tcPr marL="45720" marR="45720" marT="27432" marB="27432">
                    <a:solidFill>
                      <a:srgbClr val="1F3A5F"/>
                    </a:solidFill>
                  </a:tcPr>
                </a:tc>
                <a:tc>
                  <a:txBody>
                    <a:bodyPr/>
                    <a:lstStyle/>
                    <a:p>
                      <a:pPr algn="ctr"/>
                      <a:r>
                        <a:rPr sz="1400" b="1">
                          <a:solidFill>
                            <a:srgbClr val="FFFFFF"/>
                          </a:solidFill>
                        </a:rPr>
                        <a:t>Author &amp; Year</a:t>
                      </a:r>
                    </a:p>
                  </a:txBody>
                  <a:tcPr marL="45720" marR="45720" marT="27432" marB="27432">
                    <a:solidFill>
                      <a:srgbClr val="1F3A5F"/>
                    </a:solidFill>
                  </a:tcPr>
                </a:tc>
                <a:tc>
                  <a:txBody>
                    <a:bodyPr/>
                    <a:lstStyle/>
                    <a:p>
                      <a:pPr algn="ctr"/>
                      <a:r>
                        <a:rPr sz="1400" b="1">
                          <a:solidFill>
                            <a:srgbClr val="FFFFFF"/>
                          </a:solidFill>
                        </a:rPr>
                        <a:t>Methods / Techniques</a:t>
                      </a:r>
                    </a:p>
                  </a:txBody>
                  <a:tcPr marL="45720" marR="45720" marT="27432" marB="27432">
                    <a:solidFill>
                      <a:srgbClr val="1F3A5F"/>
                    </a:solidFill>
                  </a:tcPr>
                </a:tc>
                <a:tc>
                  <a:txBody>
                    <a:bodyPr/>
                    <a:lstStyle/>
                    <a:p>
                      <a:pPr algn="ctr"/>
                      <a:r>
                        <a:rPr sz="1400" b="1">
                          <a:solidFill>
                            <a:srgbClr val="FFFFFF"/>
                          </a:solidFill>
                        </a:rPr>
                        <a:t>Dataset</a:t>
                      </a:r>
                    </a:p>
                  </a:txBody>
                  <a:tcPr marL="45720" marR="45720" marT="27432" marB="27432">
                    <a:solidFill>
                      <a:srgbClr val="1F3A5F"/>
                    </a:solidFill>
                  </a:tcPr>
                </a:tc>
                <a:tc>
                  <a:txBody>
                    <a:bodyPr/>
                    <a:lstStyle/>
                    <a:p>
                      <a:pPr algn="ctr"/>
                      <a:r>
                        <a:rPr sz="1400" b="1">
                          <a:solidFill>
                            <a:srgbClr val="FFFFFF"/>
                          </a:solidFill>
                        </a:rPr>
                        <a:t>Research Outcomes</a:t>
                      </a:r>
                    </a:p>
                  </a:txBody>
                  <a:tcPr marL="45720" marR="45720" marT="27432" marB="27432">
                    <a:solidFill>
                      <a:srgbClr val="1F3A5F"/>
                    </a:solidFill>
                  </a:tcPr>
                </a:tc>
                <a:tc>
                  <a:txBody>
                    <a:bodyPr/>
                    <a:lstStyle/>
                    <a:p>
                      <a:pPr algn="ctr"/>
                      <a:r>
                        <a:rPr sz="1400" b="1">
                          <a:solidFill>
                            <a:srgbClr val="FFFFFF"/>
                          </a:solidFill>
                        </a:rPr>
                        <a:t>Findings</a:t>
                      </a:r>
                    </a:p>
                  </a:txBody>
                  <a:tcPr marL="45720" marR="45720" marT="27432" marB="27432">
                    <a:solidFill>
                      <a:srgbClr val="1F3A5F"/>
                    </a:solidFill>
                  </a:tcPr>
                </a:tc>
                <a:extLst>
                  <a:ext uri="{0D108BD9-81ED-4DB2-BD59-A6C34878D82A}">
                    <a16:rowId xmlns:a16="http://schemas.microsoft.com/office/drawing/2014/main" val="10000"/>
                  </a:ext>
                </a:extLst>
              </a:tr>
              <a:tr h="607422">
                <a:tc>
                  <a:txBody>
                    <a:bodyPr/>
                    <a:lstStyle/>
                    <a:p>
                      <a:pPr algn="ctr"/>
                      <a:r>
                        <a:rPr sz="1400" b="1" dirty="0"/>
                        <a:t>1</a:t>
                      </a:r>
                    </a:p>
                  </a:txBody>
                  <a:tcPr marL="45720" marR="45720" marT="27432" marB="27432"/>
                </a:tc>
                <a:tc>
                  <a:txBody>
                    <a:bodyPr/>
                    <a:lstStyle/>
                    <a:p>
                      <a:pPr algn="ctr"/>
                      <a:r>
                        <a:rPr sz="1400" b="0" dirty="0" err="1"/>
                        <a:t>Ariai</a:t>
                      </a:r>
                      <a:r>
                        <a:rPr sz="1400" b="0" dirty="0"/>
                        <a:t> &amp; </a:t>
                      </a:r>
                      <a:r>
                        <a:rPr sz="1400" b="0" dirty="0" err="1"/>
                        <a:t>Demartini</a:t>
                      </a:r>
                      <a:r>
                        <a:rPr sz="1400" b="0" dirty="0"/>
                        <a:t> (2024)</a:t>
                      </a:r>
                    </a:p>
                  </a:txBody>
                  <a:tcPr marL="45720" marR="45720" marT="27432" marB="27432"/>
                </a:tc>
                <a:tc>
                  <a:txBody>
                    <a:bodyPr/>
                    <a:lstStyle/>
                    <a:p>
                      <a:pPr algn="ctr"/>
                      <a:r>
                        <a:rPr sz="1400" b="0"/>
                        <a:t>Comprehensive survey of legal NLP</a:t>
                      </a:r>
                    </a:p>
                  </a:txBody>
                  <a:tcPr marL="45720" marR="45720" marT="27432" marB="27432"/>
                </a:tc>
                <a:tc>
                  <a:txBody>
                    <a:bodyPr/>
                    <a:lstStyle/>
                    <a:p>
                      <a:pPr algn="ctr"/>
                      <a:r>
                        <a:rPr sz="1400" b="0"/>
                        <a:t>Synthesis of 131 prior studies</a:t>
                      </a:r>
                    </a:p>
                  </a:txBody>
                  <a:tcPr marL="45720" marR="45720" marT="27432" marB="27432"/>
                </a:tc>
                <a:tc>
                  <a:txBody>
                    <a:bodyPr/>
                    <a:lstStyle/>
                    <a:p>
                      <a:pPr algn="ctr"/>
                      <a:r>
                        <a:rPr sz="1400" b="0"/>
                        <a:t>Covers legal NER, classification, summarisation and legal LMs</a:t>
                      </a:r>
                    </a:p>
                  </a:txBody>
                  <a:tcPr marL="45720" marR="45720" marT="27432" marB="27432"/>
                </a:tc>
                <a:tc>
                  <a:txBody>
                    <a:bodyPr/>
                    <a:lstStyle/>
                    <a:p>
                      <a:pPr algn="ctr"/>
                      <a:r>
                        <a:rPr sz="1400" b="0"/>
                        <a:t>Touches nearly every component of our pipeline</a:t>
                      </a:r>
                    </a:p>
                  </a:txBody>
                  <a:tcPr marL="45720" marR="45720" marT="27432" marB="27432"/>
                </a:tc>
                <a:extLst>
                  <a:ext uri="{0D108BD9-81ED-4DB2-BD59-A6C34878D82A}">
                    <a16:rowId xmlns:a16="http://schemas.microsoft.com/office/drawing/2014/main" val="10001"/>
                  </a:ext>
                </a:extLst>
              </a:tr>
              <a:tr h="607422">
                <a:tc>
                  <a:txBody>
                    <a:bodyPr/>
                    <a:lstStyle/>
                    <a:p>
                      <a:pPr algn="ctr"/>
                      <a:r>
                        <a:rPr sz="1400" b="1"/>
                        <a:t>2</a:t>
                      </a:r>
                    </a:p>
                  </a:txBody>
                  <a:tcPr marL="45720" marR="45720" marT="27432" marB="27432">
                    <a:solidFill>
                      <a:srgbClr val="F2F5F9"/>
                    </a:solidFill>
                  </a:tcPr>
                </a:tc>
                <a:tc>
                  <a:txBody>
                    <a:bodyPr/>
                    <a:lstStyle/>
                    <a:p>
                      <a:pPr algn="ctr"/>
                      <a:r>
                        <a:rPr sz="1400" b="0" dirty="0"/>
                        <a:t>Survey Authors (2025)</a:t>
                      </a:r>
                    </a:p>
                  </a:txBody>
                  <a:tcPr marL="45720" marR="45720" marT="27432" marB="27432">
                    <a:solidFill>
                      <a:srgbClr val="F2F5F9"/>
                    </a:solidFill>
                  </a:tcPr>
                </a:tc>
                <a:tc>
                  <a:txBody>
                    <a:bodyPr/>
                    <a:lstStyle/>
                    <a:p>
                      <a:pPr algn="ctr"/>
                      <a:r>
                        <a:rPr sz="1400" b="0" dirty="0"/>
                        <a:t>Survey of contract-classification approaches</a:t>
                      </a:r>
                    </a:p>
                  </a:txBody>
                  <a:tcPr marL="45720" marR="45720" marT="27432" marB="27432">
                    <a:solidFill>
                      <a:srgbClr val="F2F5F9"/>
                    </a:solidFill>
                  </a:tcPr>
                </a:tc>
                <a:tc>
                  <a:txBody>
                    <a:bodyPr/>
                    <a:lstStyle/>
                    <a:p>
                      <a:pPr algn="ctr"/>
                      <a:r>
                        <a:rPr sz="1400" b="0"/>
                        <a:t>14 English-language contract datasets</a:t>
                      </a:r>
                    </a:p>
                  </a:txBody>
                  <a:tcPr marL="45720" marR="45720" marT="27432" marB="27432">
                    <a:solidFill>
                      <a:srgbClr val="F2F5F9"/>
                    </a:solidFill>
                  </a:tcPr>
                </a:tc>
                <a:tc>
                  <a:txBody>
                    <a:bodyPr/>
                    <a:lstStyle/>
                    <a:p>
                      <a:pPr algn="ctr"/>
                      <a:r>
                        <a:rPr sz="1400" b="0"/>
                        <a:t>Taxonomy of traditional ML, deep learning and transformer methods</a:t>
                      </a:r>
                    </a:p>
                  </a:txBody>
                  <a:tcPr marL="45720" marR="45720" marT="27432" marB="27432">
                    <a:solidFill>
                      <a:srgbClr val="F2F5F9"/>
                    </a:solidFill>
                  </a:tcPr>
                </a:tc>
                <a:tc>
                  <a:txBody>
                    <a:bodyPr/>
                    <a:lstStyle/>
                    <a:p>
                      <a:pPr algn="ctr"/>
                      <a:r>
                        <a:rPr sz="1400" b="0"/>
                        <a:t>Justifies fine-tuning a compact domain model</a:t>
                      </a:r>
                    </a:p>
                  </a:txBody>
                  <a:tcPr marL="45720" marR="45720" marT="27432" marB="27432">
                    <a:solidFill>
                      <a:srgbClr val="F2F5F9"/>
                    </a:solidFill>
                  </a:tcPr>
                </a:tc>
                <a:extLst>
                  <a:ext uri="{0D108BD9-81ED-4DB2-BD59-A6C34878D82A}">
                    <a16:rowId xmlns:a16="http://schemas.microsoft.com/office/drawing/2014/main" val="10002"/>
                  </a:ext>
                </a:extLst>
              </a:tr>
              <a:tr h="607422">
                <a:tc>
                  <a:txBody>
                    <a:bodyPr/>
                    <a:lstStyle/>
                    <a:p>
                      <a:pPr algn="ctr"/>
                      <a:r>
                        <a:rPr sz="1400" b="1"/>
                        <a:t>3</a:t>
                      </a:r>
                    </a:p>
                  </a:txBody>
                  <a:tcPr marL="45720" marR="45720" marT="27432" marB="27432"/>
                </a:tc>
                <a:tc>
                  <a:txBody>
                    <a:bodyPr/>
                    <a:lstStyle/>
                    <a:p>
                      <a:pPr algn="ctr"/>
                      <a:r>
                        <a:rPr sz="1400" b="0"/>
                        <a:t>Survey Authors (2025)</a:t>
                      </a:r>
                    </a:p>
                  </a:txBody>
                  <a:tcPr marL="45720" marR="45720" marT="27432" marB="27432"/>
                </a:tc>
                <a:tc>
                  <a:txBody>
                    <a:bodyPr/>
                    <a:lstStyle/>
                    <a:p>
                      <a:pPr algn="ctr"/>
                      <a:r>
                        <a:rPr sz="1400" b="0" dirty="0"/>
                        <a:t>Survey on legal </a:t>
                      </a:r>
                      <a:r>
                        <a:rPr sz="1400" b="0" dirty="0" err="1"/>
                        <a:t>summarisation</a:t>
                      </a:r>
                      <a:endParaRPr sz="1400" b="0" dirty="0"/>
                    </a:p>
                  </a:txBody>
                  <a:tcPr marL="45720" marR="45720" marT="27432" marB="27432"/>
                </a:tc>
                <a:tc>
                  <a:txBody>
                    <a:bodyPr/>
                    <a:lstStyle/>
                    <a:p>
                      <a:pPr algn="ctr"/>
                      <a:r>
                        <a:rPr sz="1400" b="0" dirty="0"/>
                        <a:t>Catalogues legal </a:t>
                      </a:r>
                      <a:r>
                        <a:rPr sz="1400" b="0" dirty="0" err="1"/>
                        <a:t>summarisation</a:t>
                      </a:r>
                      <a:r>
                        <a:rPr sz="1400" b="0" dirty="0"/>
                        <a:t> datasets</a:t>
                      </a:r>
                    </a:p>
                  </a:txBody>
                  <a:tcPr marL="45720" marR="45720" marT="27432" marB="27432"/>
                </a:tc>
                <a:tc>
                  <a:txBody>
                    <a:bodyPr/>
                    <a:lstStyle/>
                    <a:p>
                      <a:pPr algn="ctr"/>
                      <a:r>
                        <a:rPr sz="1400" b="0"/>
                        <a:t>Methods, datasets and evaluation metrics for legal summarisation</a:t>
                      </a:r>
                    </a:p>
                  </a:txBody>
                  <a:tcPr marL="45720" marR="45720" marT="27432" marB="27432"/>
                </a:tc>
                <a:tc>
                  <a:txBody>
                    <a:bodyPr/>
                    <a:lstStyle/>
                    <a:p>
                      <a:pPr algn="ctr"/>
                      <a:r>
                        <a:rPr sz="1400" b="0"/>
                        <a:t>Informs the intent-rewriting module's metric design</a:t>
                      </a:r>
                    </a:p>
                  </a:txBody>
                  <a:tcPr marL="45720" marR="45720" marT="27432" marB="27432"/>
                </a:tc>
                <a:extLst>
                  <a:ext uri="{0D108BD9-81ED-4DB2-BD59-A6C34878D82A}">
                    <a16:rowId xmlns:a16="http://schemas.microsoft.com/office/drawing/2014/main" val="10003"/>
                  </a:ext>
                </a:extLst>
              </a:tr>
              <a:tr h="607422">
                <a:tc>
                  <a:txBody>
                    <a:bodyPr/>
                    <a:lstStyle/>
                    <a:p>
                      <a:pPr algn="ctr"/>
                      <a:r>
                        <a:rPr sz="1400" b="1"/>
                        <a:t>4</a:t>
                      </a:r>
                    </a:p>
                  </a:txBody>
                  <a:tcPr marL="45720" marR="45720" marT="27432" marB="27432">
                    <a:solidFill>
                      <a:srgbClr val="F2F5F9"/>
                    </a:solidFill>
                  </a:tcPr>
                </a:tc>
                <a:tc>
                  <a:txBody>
                    <a:bodyPr/>
                    <a:lstStyle/>
                    <a:p>
                      <a:pPr algn="ctr"/>
                      <a:r>
                        <a:rPr sz="1400" b="0"/>
                        <a:t>Ganguly et al. (2023)</a:t>
                      </a:r>
                    </a:p>
                  </a:txBody>
                  <a:tcPr marL="45720" marR="45720" marT="27432" marB="27432">
                    <a:solidFill>
                      <a:srgbClr val="F2F5F9"/>
                    </a:solidFill>
                  </a:tcPr>
                </a:tc>
                <a:tc>
                  <a:txBody>
                    <a:bodyPr/>
                    <a:lstStyle/>
                    <a:p>
                      <a:pPr algn="ctr"/>
                      <a:r>
                        <a:rPr sz="1400" b="0"/>
                        <a:t>Review of legal NER and sentence boundary detection</a:t>
                      </a:r>
                    </a:p>
                  </a:txBody>
                  <a:tcPr marL="45720" marR="45720" marT="27432" marB="27432">
                    <a:solidFill>
                      <a:srgbClr val="F2F5F9"/>
                    </a:solidFill>
                  </a:tcPr>
                </a:tc>
                <a:tc>
                  <a:txBody>
                    <a:bodyPr/>
                    <a:lstStyle/>
                    <a:p>
                      <a:pPr algn="ctr"/>
                      <a:r>
                        <a:rPr sz="1400" b="0" dirty="0"/>
                        <a:t>Legal-NLP literature</a:t>
                      </a:r>
                    </a:p>
                  </a:txBody>
                  <a:tcPr marL="45720" marR="45720" marT="27432" marB="27432">
                    <a:solidFill>
                      <a:srgbClr val="F2F5F9"/>
                    </a:solidFill>
                  </a:tcPr>
                </a:tc>
                <a:tc>
                  <a:txBody>
                    <a:bodyPr/>
                    <a:lstStyle/>
                    <a:p>
                      <a:pPr algn="ctr"/>
                      <a:r>
                        <a:rPr sz="1400" b="0" dirty="0"/>
                        <a:t>Documents long-standing difficulty of NER and segmentation in legal text</a:t>
                      </a:r>
                    </a:p>
                  </a:txBody>
                  <a:tcPr marL="45720" marR="45720" marT="27432" marB="27432">
                    <a:solidFill>
                      <a:srgbClr val="F2F5F9"/>
                    </a:solidFill>
                  </a:tcPr>
                </a:tc>
                <a:tc>
                  <a:txBody>
                    <a:bodyPr/>
                    <a:lstStyle/>
                    <a:p>
                      <a:pPr algn="ctr"/>
                      <a:r>
                        <a:rPr sz="1400" b="0"/>
                        <a:t>Motivates our rule-augmented segmentation and NER design</a:t>
                      </a:r>
                    </a:p>
                  </a:txBody>
                  <a:tcPr marL="45720" marR="45720" marT="27432" marB="27432">
                    <a:solidFill>
                      <a:srgbClr val="F2F5F9"/>
                    </a:solidFill>
                  </a:tcPr>
                </a:tc>
                <a:extLst>
                  <a:ext uri="{0D108BD9-81ED-4DB2-BD59-A6C34878D82A}">
                    <a16:rowId xmlns:a16="http://schemas.microsoft.com/office/drawing/2014/main" val="10004"/>
                  </a:ext>
                </a:extLst>
              </a:tr>
              <a:tr h="607422">
                <a:tc>
                  <a:txBody>
                    <a:bodyPr/>
                    <a:lstStyle/>
                    <a:p>
                      <a:pPr algn="ctr"/>
                      <a:r>
                        <a:rPr sz="1400" b="1"/>
                        <a:t>5</a:t>
                      </a:r>
                    </a:p>
                  </a:txBody>
                  <a:tcPr marL="45720" marR="45720" marT="27432" marB="27432"/>
                </a:tc>
                <a:tc>
                  <a:txBody>
                    <a:bodyPr/>
                    <a:lstStyle/>
                    <a:p>
                      <a:pPr algn="ctr"/>
                      <a:r>
                        <a:rPr sz="1400" b="0"/>
                        <a:t>Devlin et al. (2019)</a:t>
                      </a:r>
                    </a:p>
                  </a:txBody>
                  <a:tcPr marL="45720" marR="45720" marT="27432" marB="27432"/>
                </a:tc>
                <a:tc>
                  <a:txBody>
                    <a:bodyPr/>
                    <a:lstStyle/>
                    <a:p>
                      <a:pPr algn="ctr"/>
                      <a:r>
                        <a:rPr sz="1400" b="0" dirty="0"/>
                        <a:t>Bidirectional transformer pre-training (BERT)</a:t>
                      </a:r>
                    </a:p>
                  </a:txBody>
                  <a:tcPr marL="45720" marR="45720" marT="27432" marB="27432"/>
                </a:tc>
                <a:tc>
                  <a:txBody>
                    <a:bodyPr/>
                    <a:lstStyle/>
                    <a:p>
                      <a:pPr algn="ctr"/>
                      <a:r>
                        <a:rPr sz="1400" b="0"/>
                        <a:t>BooksCorpus + English Wikipedia</a:t>
                      </a:r>
                    </a:p>
                  </a:txBody>
                  <a:tcPr marL="45720" marR="45720" marT="27432" marB="27432"/>
                </a:tc>
                <a:tc>
                  <a:txBody>
                    <a:bodyPr/>
                    <a:lstStyle/>
                    <a:p>
                      <a:pPr algn="ctr"/>
                      <a:r>
                        <a:rPr sz="1400" b="0" dirty="0"/>
                        <a:t>General-purpose language understanding backbone</a:t>
                      </a:r>
                    </a:p>
                  </a:txBody>
                  <a:tcPr marL="45720" marR="45720" marT="27432" marB="27432"/>
                </a:tc>
                <a:tc>
                  <a:txBody>
                    <a:bodyPr/>
                    <a:lstStyle/>
                    <a:p>
                      <a:pPr algn="ctr"/>
                      <a:r>
                        <a:rPr sz="1400" b="0"/>
                        <a:t>Backbone architecture for Legal-BERT (planned classifier)</a:t>
                      </a:r>
                    </a:p>
                  </a:txBody>
                  <a:tcPr marL="45720" marR="45720" marT="27432" marB="27432"/>
                </a:tc>
                <a:extLst>
                  <a:ext uri="{0D108BD9-81ED-4DB2-BD59-A6C34878D82A}">
                    <a16:rowId xmlns:a16="http://schemas.microsoft.com/office/drawing/2014/main" val="10005"/>
                  </a:ext>
                </a:extLst>
              </a:tr>
              <a:tr h="607422">
                <a:tc>
                  <a:txBody>
                    <a:bodyPr/>
                    <a:lstStyle/>
                    <a:p>
                      <a:pPr algn="ctr"/>
                      <a:r>
                        <a:rPr sz="1400" b="1"/>
                        <a:t>6</a:t>
                      </a:r>
                    </a:p>
                  </a:txBody>
                  <a:tcPr marL="45720" marR="45720" marT="27432" marB="27432">
                    <a:solidFill>
                      <a:srgbClr val="F2F5F9"/>
                    </a:solidFill>
                  </a:tcPr>
                </a:tc>
                <a:tc>
                  <a:txBody>
                    <a:bodyPr/>
                    <a:lstStyle/>
                    <a:p>
                      <a:pPr algn="ctr"/>
                      <a:r>
                        <a:rPr sz="1400" b="0"/>
                        <a:t>Chalkidis et al. (2020)</a:t>
                      </a:r>
                    </a:p>
                  </a:txBody>
                  <a:tcPr marL="45720" marR="45720" marT="27432" marB="27432">
                    <a:solidFill>
                      <a:srgbClr val="F2F5F9"/>
                    </a:solidFill>
                  </a:tcPr>
                </a:tc>
                <a:tc>
                  <a:txBody>
                    <a:bodyPr/>
                    <a:lstStyle/>
                    <a:p>
                      <a:pPr algn="ctr"/>
                      <a:r>
                        <a:rPr sz="1400" b="0"/>
                        <a:t>Domain pre-training of BERT on legal text (LEGAL-BERT)</a:t>
                      </a:r>
                    </a:p>
                  </a:txBody>
                  <a:tcPr marL="45720" marR="45720" marT="27432" marB="27432">
                    <a:solidFill>
                      <a:srgbClr val="F2F5F9"/>
                    </a:solidFill>
                  </a:tcPr>
                </a:tc>
                <a:tc>
                  <a:txBody>
                    <a:bodyPr/>
                    <a:lstStyle/>
                    <a:p>
                      <a:pPr algn="ctr"/>
                      <a:r>
                        <a:rPr sz="1400" b="0"/>
                        <a:t>Legislation, case law and contracts</a:t>
                      </a:r>
                    </a:p>
                  </a:txBody>
                  <a:tcPr marL="45720" marR="45720" marT="27432" marB="27432">
                    <a:solidFill>
                      <a:srgbClr val="F2F5F9"/>
                    </a:solidFill>
                  </a:tcPr>
                </a:tc>
                <a:tc>
                  <a:txBody>
                    <a:bodyPr/>
                    <a:lstStyle/>
                    <a:p>
                      <a:pPr algn="ctr"/>
                      <a:r>
                        <a:rPr sz="1400" b="0"/>
                        <a:t>Stronger legal-domain understanding than vanilla BERT</a:t>
                      </a:r>
                    </a:p>
                  </a:txBody>
                  <a:tcPr marL="45720" marR="45720" marT="27432" marB="27432">
                    <a:solidFill>
                      <a:srgbClr val="F2F5F9"/>
                    </a:solidFill>
                  </a:tcPr>
                </a:tc>
                <a:tc>
                  <a:txBody>
                    <a:bodyPr/>
                    <a:lstStyle/>
                    <a:p>
                      <a:pPr algn="ctr"/>
                      <a:r>
                        <a:rPr sz="1400" b="0" dirty="0"/>
                        <a:t>Selected as the planned clause classifier (</a:t>
                      </a:r>
                      <a:r>
                        <a:rPr sz="1400" b="0" dirty="0" err="1"/>
                        <a:t>nlpaueb</a:t>
                      </a:r>
                      <a:r>
                        <a:rPr sz="1400" b="0" dirty="0"/>
                        <a:t>/legal-</a:t>
                      </a:r>
                      <a:r>
                        <a:rPr sz="1400" b="0" dirty="0" err="1"/>
                        <a:t>bert</a:t>
                      </a:r>
                      <a:r>
                        <a:rPr sz="1400" b="0" dirty="0"/>
                        <a:t>-base-uncased)</a:t>
                      </a:r>
                    </a:p>
                  </a:txBody>
                  <a:tcPr marL="45720" marR="45720" marT="27432" marB="27432">
                    <a:solidFill>
                      <a:srgbClr val="F2F5F9"/>
                    </a:solidFill>
                  </a:tcPr>
                </a:tc>
                <a:extLst>
                  <a:ext uri="{0D108BD9-81ED-4DB2-BD59-A6C34878D82A}">
                    <a16:rowId xmlns:a16="http://schemas.microsoft.com/office/drawing/2014/main" val="10006"/>
                  </a:ext>
                </a:extLst>
              </a:tr>
              <a:tr h="607422">
                <a:tc>
                  <a:txBody>
                    <a:bodyPr/>
                    <a:lstStyle/>
                    <a:p>
                      <a:pPr algn="ctr"/>
                      <a:r>
                        <a:rPr sz="1400" b="1"/>
                        <a:t>7</a:t>
                      </a:r>
                    </a:p>
                  </a:txBody>
                  <a:tcPr marL="45720" marR="45720" marT="27432" marB="27432"/>
                </a:tc>
                <a:tc>
                  <a:txBody>
                    <a:bodyPr/>
                    <a:lstStyle/>
                    <a:p>
                      <a:pPr algn="ctr"/>
                      <a:r>
                        <a:rPr sz="1400" b="0"/>
                        <a:t>Sanh et al. (2019)</a:t>
                      </a:r>
                    </a:p>
                  </a:txBody>
                  <a:tcPr marL="45720" marR="45720" marT="27432" marB="27432"/>
                </a:tc>
                <a:tc>
                  <a:txBody>
                    <a:bodyPr/>
                    <a:lstStyle/>
                    <a:p>
                      <a:pPr algn="ctr"/>
                      <a:r>
                        <a:rPr sz="1400" b="0"/>
                        <a:t>Knowledge distillation of BERT (DistilBERT)</a:t>
                      </a:r>
                    </a:p>
                  </a:txBody>
                  <a:tcPr marL="45720" marR="45720" marT="27432" marB="27432"/>
                </a:tc>
                <a:tc>
                  <a:txBody>
                    <a:bodyPr/>
                    <a:lstStyle/>
                    <a:p>
                      <a:pPr algn="ctr"/>
                      <a:r>
                        <a:rPr sz="1400" b="0"/>
                        <a:t>Distilled from BERT-base</a:t>
                      </a:r>
                    </a:p>
                  </a:txBody>
                  <a:tcPr marL="45720" marR="45720" marT="27432" marB="27432"/>
                </a:tc>
                <a:tc>
                  <a:txBody>
                    <a:bodyPr/>
                    <a:lstStyle/>
                    <a:p>
                      <a:pPr algn="ctr"/>
                      <a:r>
                        <a:rPr sz="1400" b="0"/>
                        <a:t>~40% fewer parameters, ~60% faster, ~97% of accuracy</a:t>
                      </a:r>
                    </a:p>
                  </a:txBody>
                  <a:tcPr marL="45720" marR="45720" marT="27432" marB="27432"/>
                </a:tc>
                <a:tc>
                  <a:txBody>
                    <a:bodyPr/>
                    <a:lstStyle/>
                    <a:p>
                      <a:pPr algn="ctr"/>
                      <a:r>
                        <a:rPr sz="1400" b="0" dirty="0"/>
                        <a:t>Lighter alternative suitable for resource-constrained fine-tuning</a:t>
                      </a:r>
                    </a:p>
                  </a:txBody>
                  <a:tcPr marL="45720" marR="45720" marT="27432" marB="27432"/>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44990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7B7E-0547-9A59-A20F-E8801FAABD88}"/>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23EBAE6D-79FE-7CF3-B3E1-AF9694B60C29}"/>
              </a:ext>
            </a:extLst>
          </p:cNvPr>
          <p:cNvSpPr>
            <a:spLocks noGrp="1"/>
          </p:cNvSpPr>
          <p:nvPr>
            <p:ph idx="1"/>
          </p:nvPr>
        </p:nvSpPr>
        <p:spPr/>
        <p:txBody>
          <a:bodyPr>
            <a:normAutofit/>
          </a:bodyPr>
          <a:lstStyle/>
          <a:p>
            <a:pPr marL="0" indent="0" algn="l">
              <a:buNone/>
            </a:pPr>
            <a:r>
              <a:rPr sz="1300" b="1"/>
              <a:t>Table 1: Summary of existing approaches and research findings  —  part 2 of 5  —  references 8-14</a:t>
            </a:r>
          </a:p>
        </p:txBody>
      </p:sp>
      <p:sp>
        <p:nvSpPr>
          <p:cNvPr id="4" name="Date Placeholder 3">
            <a:extLst>
              <a:ext uri="{FF2B5EF4-FFF2-40B4-BE49-F238E27FC236}">
                <a16:creationId xmlns:a16="http://schemas.microsoft.com/office/drawing/2014/main" id="{115E6F6E-F6E0-10E0-82EB-90F063816C72}"/>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58DA3F0-BCE6-7A6F-82D2-0025E47D1531}"/>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35598483-8695-2FBE-9922-C8A3EB3B07D2}"/>
              </a:ext>
            </a:extLst>
          </p:cNvPr>
          <p:cNvSpPr>
            <a:spLocks noGrp="1"/>
          </p:cNvSpPr>
          <p:nvPr>
            <p:ph type="sldNum" sz="quarter" idx="12"/>
          </p:nvPr>
        </p:nvSpPr>
        <p:spPr/>
        <p:txBody>
          <a:bodyPr/>
          <a:lstStyle/>
          <a:p>
            <a:r>
              <a:t>8</a:t>
            </a:r>
          </a:p>
        </p:txBody>
      </p:sp>
      <p:graphicFrame>
        <p:nvGraphicFramePr>
          <p:cNvPr id="7" name="Table 6"/>
          <p:cNvGraphicFramePr>
            <a:graphicFrameLocks noGrp="1"/>
          </p:cNvGraphicFramePr>
          <p:nvPr>
            <p:extLst>
              <p:ext uri="{D42A27DB-BD31-4B8C-83A1-F6EECF244321}">
                <p14:modId xmlns:p14="http://schemas.microsoft.com/office/powerpoint/2010/main" val="4088545960"/>
              </p:ext>
            </p:extLst>
          </p:nvPr>
        </p:nvGraphicFramePr>
        <p:xfrm>
          <a:off x="365760" y="1508760"/>
          <a:ext cx="11475720" cy="4750956"/>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411480">
                <a:tc>
                  <a:txBody>
                    <a:bodyPr/>
                    <a:lstStyle/>
                    <a:p>
                      <a:pPr algn="ctr"/>
                      <a:r>
                        <a:rPr sz="1100" b="1">
                          <a:solidFill>
                            <a:srgbClr val="FFFFFF"/>
                          </a:solidFill>
                        </a:rPr>
                        <a:t>Sl. No.</a:t>
                      </a:r>
                    </a:p>
                  </a:txBody>
                  <a:tcPr marL="45720" marR="45720" marT="27432" marB="27432">
                    <a:solidFill>
                      <a:srgbClr val="1F3A5F"/>
                    </a:solidFill>
                  </a:tcPr>
                </a:tc>
                <a:tc>
                  <a:txBody>
                    <a:bodyPr/>
                    <a:lstStyle/>
                    <a:p>
                      <a:pPr algn="ctr"/>
                      <a:r>
                        <a:rPr sz="1100" b="1">
                          <a:solidFill>
                            <a:srgbClr val="FFFFFF"/>
                          </a:solidFill>
                        </a:rPr>
                        <a:t>Author &amp; Year</a:t>
                      </a:r>
                    </a:p>
                  </a:txBody>
                  <a:tcPr marL="45720" marR="45720" marT="27432" marB="27432">
                    <a:solidFill>
                      <a:srgbClr val="1F3A5F"/>
                    </a:solidFill>
                  </a:tcPr>
                </a:tc>
                <a:tc>
                  <a:txBody>
                    <a:bodyPr/>
                    <a:lstStyle/>
                    <a:p>
                      <a:pPr algn="ctr"/>
                      <a:r>
                        <a:rPr sz="1100" b="1">
                          <a:solidFill>
                            <a:srgbClr val="FFFFFF"/>
                          </a:solidFill>
                        </a:rPr>
                        <a:t>Methods / Techniques</a:t>
                      </a:r>
                    </a:p>
                  </a:txBody>
                  <a:tcPr marL="45720" marR="45720" marT="27432" marB="27432">
                    <a:solidFill>
                      <a:srgbClr val="1F3A5F"/>
                    </a:solidFill>
                  </a:tcPr>
                </a:tc>
                <a:tc>
                  <a:txBody>
                    <a:bodyPr/>
                    <a:lstStyle/>
                    <a:p>
                      <a:pPr algn="ctr"/>
                      <a:r>
                        <a:rPr sz="1100" b="1">
                          <a:solidFill>
                            <a:srgbClr val="FFFFFF"/>
                          </a:solidFill>
                        </a:rPr>
                        <a:t>Dataset</a:t>
                      </a:r>
                    </a:p>
                  </a:txBody>
                  <a:tcPr marL="45720" marR="45720" marT="27432" marB="27432">
                    <a:solidFill>
                      <a:srgbClr val="1F3A5F"/>
                    </a:solidFill>
                  </a:tcPr>
                </a:tc>
                <a:tc>
                  <a:txBody>
                    <a:bodyPr/>
                    <a:lstStyle/>
                    <a:p>
                      <a:pPr algn="ctr"/>
                      <a:r>
                        <a:rPr sz="1100" b="1">
                          <a:solidFill>
                            <a:srgbClr val="FFFFFF"/>
                          </a:solidFill>
                        </a:rPr>
                        <a:t>Research Outcomes</a:t>
                      </a:r>
                    </a:p>
                  </a:txBody>
                  <a:tcPr marL="45720" marR="45720" marT="27432" marB="27432">
                    <a:solidFill>
                      <a:srgbClr val="1F3A5F"/>
                    </a:solidFill>
                  </a:tcPr>
                </a:tc>
                <a:tc>
                  <a:txBody>
                    <a:bodyPr/>
                    <a:lstStyle/>
                    <a:p>
                      <a:pPr algn="ctr"/>
                      <a:r>
                        <a:rPr sz="1100" b="1">
                          <a:solidFill>
                            <a:srgbClr val="FFFFFF"/>
                          </a:solidFill>
                        </a:rPr>
                        <a:t>Findings</a:t>
                      </a:r>
                    </a:p>
                  </a:txBody>
                  <a:tcPr marL="45720" marR="45720" marT="27432" marB="27432">
                    <a:solidFill>
                      <a:srgbClr val="1F3A5F"/>
                    </a:solidFill>
                  </a:tcPr>
                </a:tc>
                <a:extLst>
                  <a:ext uri="{0D108BD9-81ED-4DB2-BD59-A6C34878D82A}">
                    <a16:rowId xmlns:a16="http://schemas.microsoft.com/office/drawing/2014/main" val="10000"/>
                  </a:ext>
                </a:extLst>
              </a:tr>
              <a:tr h="607422">
                <a:tc>
                  <a:txBody>
                    <a:bodyPr/>
                    <a:lstStyle/>
                    <a:p>
                      <a:pPr algn="ctr"/>
                      <a:r>
                        <a:rPr sz="1400" b="1" dirty="0"/>
                        <a:t>8</a:t>
                      </a:r>
                    </a:p>
                  </a:txBody>
                  <a:tcPr marL="45720" marR="45720" marT="27432" marB="27432"/>
                </a:tc>
                <a:tc>
                  <a:txBody>
                    <a:bodyPr/>
                    <a:lstStyle/>
                    <a:p>
                      <a:pPr algn="ctr"/>
                      <a:r>
                        <a:rPr sz="1400" b="0"/>
                        <a:t>Raffel et al. (2020)</a:t>
                      </a:r>
                    </a:p>
                  </a:txBody>
                  <a:tcPr marL="45720" marR="45720" marT="27432" marB="27432"/>
                </a:tc>
                <a:tc>
                  <a:txBody>
                    <a:bodyPr/>
                    <a:lstStyle/>
                    <a:p>
                      <a:pPr algn="ctr"/>
                      <a:r>
                        <a:rPr sz="1400" b="0"/>
                        <a:t>Unified text-to-text transformer (T5)</a:t>
                      </a:r>
                    </a:p>
                  </a:txBody>
                  <a:tcPr marL="45720" marR="45720" marT="27432" marB="27432"/>
                </a:tc>
                <a:tc>
                  <a:txBody>
                    <a:bodyPr/>
                    <a:lstStyle/>
                    <a:p>
                      <a:pPr algn="ctr"/>
                      <a:r>
                        <a:rPr sz="1400" b="0"/>
                        <a:t>C4 (Colossal Clean Crawled Corpus)</a:t>
                      </a:r>
                    </a:p>
                  </a:txBody>
                  <a:tcPr marL="45720" marR="45720" marT="27432" marB="27432"/>
                </a:tc>
                <a:tc>
                  <a:txBody>
                    <a:bodyPr/>
                    <a:lstStyle/>
                    <a:p>
                      <a:pPr algn="ctr"/>
                      <a:r>
                        <a:rPr sz="1400" b="0"/>
                        <a:t>Single seq2seq model for many NLP tasks</a:t>
                      </a:r>
                    </a:p>
                  </a:txBody>
                  <a:tcPr marL="45720" marR="45720" marT="27432" marB="27432"/>
                </a:tc>
                <a:tc>
                  <a:txBody>
                    <a:bodyPr/>
                    <a:lstStyle/>
                    <a:p>
                      <a:pPr algn="ctr"/>
                      <a:r>
                        <a:rPr sz="1400" b="0"/>
                        <a:t>Motivates choice of FLAN-T5-small for clause rewriting</a:t>
                      </a:r>
                    </a:p>
                  </a:txBody>
                  <a:tcPr marL="45720" marR="45720" marT="27432" marB="27432"/>
                </a:tc>
                <a:extLst>
                  <a:ext uri="{0D108BD9-81ED-4DB2-BD59-A6C34878D82A}">
                    <a16:rowId xmlns:a16="http://schemas.microsoft.com/office/drawing/2014/main" val="10001"/>
                  </a:ext>
                </a:extLst>
              </a:tr>
              <a:tr h="607422">
                <a:tc>
                  <a:txBody>
                    <a:bodyPr/>
                    <a:lstStyle/>
                    <a:p>
                      <a:pPr algn="ctr"/>
                      <a:r>
                        <a:rPr sz="1400" b="1"/>
                        <a:t>9</a:t>
                      </a:r>
                    </a:p>
                  </a:txBody>
                  <a:tcPr marL="45720" marR="45720" marT="27432" marB="27432">
                    <a:solidFill>
                      <a:srgbClr val="F2F5F9"/>
                    </a:solidFill>
                  </a:tcPr>
                </a:tc>
                <a:tc>
                  <a:txBody>
                    <a:bodyPr/>
                    <a:lstStyle/>
                    <a:p>
                      <a:pPr algn="ctr"/>
                      <a:r>
                        <a:rPr sz="1400" b="0"/>
                        <a:t>Chung et al. (2022)</a:t>
                      </a:r>
                    </a:p>
                  </a:txBody>
                  <a:tcPr marL="45720" marR="45720" marT="27432" marB="27432">
                    <a:solidFill>
                      <a:srgbClr val="F2F5F9"/>
                    </a:solidFill>
                  </a:tcPr>
                </a:tc>
                <a:tc>
                  <a:txBody>
                    <a:bodyPr/>
                    <a:lstStyle/>
                    <a:p>
                      <a:pPr algn="ctr"/>
                      <a:r>
                        <a:rPr sz="1400" b="0" dirty="0"/>
                        <a:t>Instruction fine-tuning (FLAN)</a:t>
                      </a:r>
                    </a:p>
                  </a:txBody>
                  <a:tcPr marL="45720" marR="45720" marT="27432" marB="27432">
                    <a:solidFill>
                      <a:srgbClr val="F2F5F9"/>
                    </a:solidFill>
                  </a:tcPr>
                </a:tc>
                <a:tc>
                  <a:txBody>
                    <a:bodyPr/>
                    <a:lstStyle/>
                    <a:p>
                      <a:pPr algn="ctr"/>
                      <a:r>
                        <a:rPr sz="1400" b="0"/>
                        <a:t>1.8K instruction-tuning tasks</a:t>
                      </a:r>
                    </a:p>
                  </a:txBody>
                  <a:tcPr marL="45720" marR="45720" marT="27432" marB="27432">
                    <a:solidFill>
                      <a:srgbClr val="F2F5F9"/>
                    </a:solidFill>
                  </a:tcPr>
                </a:tc>
                <a:tc>
                  <a:txBody>
                    <a:bodyPr/>
                    <a:lstStyle/>
                    <a:p>
                      <a:pPr algn="ctr"/>
                      <a:r>
                        <a:rPr sz="1400" b="0"/>
                        <a:t>Stronger zero-shot and few-shot performance across tasks</a:t>
                      </a:r>
                    </a:p>
                  </a:txBody>
                  <a:tcPr marL="45720" marR="45720" marT="27432" marB="27432">
                    <a:solidFill>
                      <a:srgbClr val="F2F5F9"/>
                    </a:solidFill>
                  </a:tcPr>
                </a:tc>
                <a:tc>
                  <a:txBody>
                    <a:bodyPr/>
                    <a:lstStyle/>
                    <a:p>
                      <a:pPr algn="ctr"/>
                      <a:r>
                        <a:rPr sz="1400" b="0"/>
                        <a:t>Underpins the planned FLAN-T5 rewriter</a:t>
                      </a:r>
                    </a:p>
                  </a:txBody>
                  <a:tcPr marL="45720" marR="45720" marT="27432" marB="27432">
                    <a:solidFill>
                      <a:srgbClr val="F2F5F9"/>
                    </a:solidFill>
                  </a:tcPr>
                </a:tc>
                <a:extLst>
                  <a:ext uri="{0D108BD9-81ED-4DB2-BD59-A6C34878D82A}">
                    <a16:rowId xmlns:a16="http://schemas.microsoft.com/office/drawing/2014/main" val="10002"/>
                  </a:ext>
                </a:extLst>
              </a:tr>
              <a:tr h="607422">
                <a:tc>
                  <a:txBody>
                    <a:bodyPr/>
                    <a:lstStyle/>
                    <a:p>
                      <a:pPr algn="ctr"/>
                      <a:r>
                        <a:rPr sz="1400" b="1"/>
                        <a:t>10</a:t>
                      </a:r>
                    </a:p>
                  </a:txBody>
                  <a:tcPr marL="45720" marR="45720" marT="27432" marB="27432"/>
                </a:tc>
                <a:tc>
                  <a:txBody>
                    <a:bodyPr/>
                    <a:lstStyle/>
                    <a:p>
                      <a:pPr algn="ctr"/>
                      <a:r>
                        <a:rPr sz="1400" b="0"/>
                        <a:t>Lewis et al. (2020)</a:t>
                      </a:r>
                    </a:p>
                  </a:txBody>
                  <a:tcPr marL="45720" marR="45720" marT="27432" marB="27432"/>
                </a:tc>
                <a:tc>
                  <a:txBody>
                    <a:bodyPr/>
                    <a:lstStyle/>
                    <a:p>
                      <a:pPr algn="ctr"/>
                      <a:r>
                        <a:rPr sz="1400" b="0" dirty="0"/>
                        <a:t>Denoising seq2seq pre-training (BART)</a:t>
                      </a:r>
                    </a:p>
                  </a:txBody>
                  <a:tcPr marL="45720" marR="45720" marT="27432" marB="27432"/>
                </a:tc>
                <a:tc>
                  <a:txBody>
                    <a:bodyPr/>
                    <a:lstStyle/>
                    <a:p>
                      <a:pPr algn="ctr"/>
                      <a:r>
                        <a:rPr sz="1400" b="0" dirty="0"/>
                        <a:t>Same pre-training data as </a:t>
                      </a:r>
                      <a:r>
                        <a:rPr sz="1400" b="0" dirty="0" err="1"/>
                        <a:t>RoBERTa</a:t>
                      </a:r>
                      <a:endParaRPr sz="1400" b="0" dirty="0"/>
                    </a:p>
                  </a:txBody>
                  <a:tcPr marL="45720" marR="45720" marT="27432" marB="27432"/>
                </a:tc>
                <a:tc>
                  <a:txBody>
                    <a:bodyPr/>
                    <a:lstStyle/>
                    <a:p>
                      <a:pPr algn="ctr"/>
                      <a:r>
                        <a:rPr sz="1400" b="0"/>
                        <a:t>Strong results on generation and comprehension</a:t>
                      </a:r>
                    </a:p>
                  </a:txBody>
                  <a:tcPr marL="45720" marR="45720" marT="27432" marB="27432"/>
                </a:tc>
                <a:tc>
                  <a:txBody>
                    <a:bodyPr/>
                    <a:lstStyle/>
                    <a:p>
                      <a:pPr algn="ctr"/>
                      <a:r>
                        <a:rPr sz="1400" b="0"/>
                        <a:t>Retained as an alternative rewriter architecture</a:t>
                      </a:r>
                    </a:p>
                  </a:txBody>
                  <a:tcPr marL="45720" marR="45720" marT="27432" marB="27432"/>
                </a:tc>
                <a:extLst>
                  <a:ext uri="{0D108BD9-81ED-4DB2-BD59-A6C34878D82A}">
                    <a16:rowId xmlns:a16="http://schemas.microsoft.com/office/drawing/2014/main" val="10003"/>
                  </a:ext>
                </a:extLst>
              </a:tr>
              <a:tr h="607422">
                <a:tc>
                  <a:txBody>
                    <a:bodyPr/>
                    <a:lstStyle/>
                    <a:p>
                      <a:pPr algn="ctr"/>
                      <a:r>
                        <a:rPr sz="1400" b="1"/>
                        <a:t>11</a:t>
                      </a:r>
                    </a:p>
                  </a:txBody>
                  <a:tcPr marL="45720" marR="45720" marT="27432" marB="27432">
                    <a:solidFill>
                      <a:srgbClr val="F2F5F9"/>
                    </a:solidFill>
                  </a:tcPr>
                </a:tc>
                <a:tc>
                  <a:txBody>
                    <a:bodyPr/>
                    <a:lstStyle/>
                    <a:p>
                      <a:pPr algn="ctr"/>
                      <a:r>
                        <a:rPr sz="1400" b="0"/>
                        <a:t>Hendrycks et al. (2021)</a:t>
                      </a:r>
                    </a:p>
                  </a:txBody>
                  <a:tcPr marL="45720" marR="45720" marT="27432" marB="27432">
                    <a:solidFill>
                      <a:srgbClr val="F2F5F9"/>
                    </a:solidFill>
                  </a:tcPr>
                </a:tc>
                <a:tc>
                  <a:txBody>
                    <a:bodyPr/>
                    <a:lstStyle/>
                    <a:p>
                      <a:pPr algn="ctr"/>
                      <a:r>
                        <a:rPr sz="1400" b="0"/>
                        <a:t>Expert annotation; QA-style contract review (CUAD)</a:t>
                      </a:r>
                    </a:p>
                  </a:txBody>
                  <a:tcPr marL="45720" marR="45720" marT="27432" marB="27432">
                    <a:solidFill>
                      <a:srgbClr val="F2F5F9"/>
                    </a:solidFill>
                  </a:tcPr>
                </a:tc>
                <a:tc>
                  <a:txBody>
                    <a:bodyPr/>
                    <a:lstStyle/>
                    <a:p>
                      <a:pPr algn="ctr"/>
                      <a:r>
                        <a:rPr sz="1400" b="0" dirty="0"/>
                        <a:t>510 commercial contracts, 13,000+ spans</a:t>
                      </a:r>
                    </a:p>
                  </a:txBody>
                  <a:tcPr marL="45720" marR="45720" marT="27432" marB="27432">
                    <a:solidFill>
                      <a:srgbClr val="F2F5F9"/>
                    </a:solidFill>
                  </a:tcPr>
                </a:tc>
                <a:tc>
                  <a:txBody>
                    <a:bodyPr/>
                    <a:lstStyle/>
                    <a:p>
                      <a:pPr algn="ctr"/>
                      <a:r>
                        <a:rPr sz="1400" b="0" dirty="0"/>
                        <a:t>41 expert-defined clause categories</a:t>
                      </a:r>
                    </a:p>
                  </a:txBody>
                  <a:tcPr marL="45720" marR="45720" marT="27432" marB="27432">
                    <a:solidFill>
                      <a:srgbClr val="F2F5F9"/>
                    </a:solidFill>
                  </a:tcPr>
                </a:tc>
                <a:tc>
                  <a:txBody>
                    <a:bodyPr/>
                    <a:lstStyle/>
                    <a:p>
                      <a:pPr algn="ctr"/>
                      <a:r>
                        <a:rPr sz="1400" b="0"/>
                        <a:t>Primary training and evaluation dataset for our classifier</a:t>
                      </a:r>
                    </a:p>
                  </a:txBody>
                  <a:tcPr marL="45720" marR="45720" marT="27432" marB="27432">
                    <a:solidFill>
                      <a:srgbClr val="F2F5F9"/>
                    </a:solidFill>
                  </a:tcPr>
                </a:tc>
                <a:extLst>
                  <a:ext uri="{0D108BD9-81ED-4DB2-BD59-A6C34878D82A}">
                    <a16:rowId xmlns:a16="http://schemas.microsoft.com/office/drawing/2014/main" val="10004"/>
                  </a:ext>
                </a:extLst>
              </a:tr>
              <a:tr h="607422">
                <a:tc>
                  <a:txBody>
                    <a:bodyPr/>
                    <a:lstStyle/>
                    <a:p>
                      <a:pPr algn="ctr"/>
                      <a:r>
                        <a:rPr sz="1400" b="1"/>
                        <a:t>12</a:t>
                      </a:r>
                    </a:p>
                  </a:txBody>
                  <a:tcPr marL="45720" marR="45720" marT="27432" marB="27432"/>
                </a:tc>
                <a:tc>
                  <a:txBody>
                    <a:bodyPr/>
                    <a:lstStyle/>
                    <a:p>
                      <a:pPr algn="ctr"/>
                      <a:r>
                        <a:rPr sz="1400" b="0"/>
                        <a:t>Cost-Benefit Analysis Study (2024)</a:t>
                      </a:r>
                    </a:p>
                  </a:txBody>
                  <a:tcPr marL="45720" marR="45720" marT="27432" marB="27432"/>
                </a:tc>
                <a:tc>
                  <a:txBody>
                    <a:bodyPr/>
                    <a:lstStyle/>
                    <a:p>
                      <a:pPr algn="ctr"/>
                      <a:r>
                        <a:rPr sz="1400" b="0"/>
                        <a:t>Comparison of shallow, deep and generative models</a:t>
                      </a:r>
                    </a:p>
                  </a:txBody>
                  <a:tcPr marL="45720" marR="45720" marT="27432" marB="27432"/>
                </a:tc>
                <a:tc>
                  <a:txBody>
                    <a:bodyPr/>
                    <a:lstStyle/>
                    <a:p>
                      <a:pPr algn="ctr"/>
                      <a:r>
                        <a:rPr sz="1400" b="0"/>
                        <a:t>CUAD single-label benchmark</a:t>
                      </a:r>
                    </a:p>
                  </a:txBody>
                  <a:tcPr marL="45720" marR="45720" marT="27432" marB="27432"/>
                </a:tc>
                <a:tc>
                  <a:txBody>
                    <a:bodyPr/>
                    <a:lstStyle/>
                    <a:p>
                      <a:pPr algn="ctr"/>
                      <a:r>
                        <a:rPr sz="1400" b="0" dirty="0"/>
                        <a:t>Fine-tuned </a:t>
                      </a:r>
                      <a:r>
                        <a:rPr sz="1400" b="0" dirty="0" err="1"/>
                        <a:t>DeBERTa</a:t>
                      </a:r>
                      <a:r>
                        <a:rPr sz="1400" b="0" dirty="0"/>
                        <a:t> 87.8% vs zero-shot GPT-4 67.2%</a:t>
                      </a:r>
                    </a:p>
                  </a:txBody>
                  <a:tcPr marL="45720" marR="45720" marT="27432" marB="27432"/>
                </a:tc>
                <a:tc>
                  <a:txBody>
                    <a:bodyPr/>
                    <a:lstStyle/>
                    <a:p>
                      <a:pPr algn="ctr"/>
                      <a:r>
                        <a:rPr sz="1400" b="0"/>
                        <a:t>Empirically validates fine-tuning a compact domain model over general LLM</a:t>
                      </a:r>
                    </a:p>
                  </a:txBody>
                  <a:tcPr marL="45720" marR="45720" marT="27432" marB="27432"/>
                </a:tc>
                <a:extLst>
                  <a:ext uri="{0D108BD9-81ED-4DB2-BD59-A6C34878D82A}">
                    <a16:rowId xmlns:a16="http://schemas.microsoft.com/office/drawing/2014/main" val="10005"/>
                  </a:ext>
                </a:extLst>
              </a:tr>
              <a:tr h="607422">
                <a:tc>
                  <a:txBody>
                    <a:bodyPr/>
                    <a:lstStyle/>
                    <a:p>
                      <a:pPr algn="ctr"/>
                      <a:r>
                        <a:rPr sz="1400" b="1"/>
                        <a:t>13</a:t>
                      </a:r>
                    </a:p>
                  </a:txBody>
                  <a:tcPr marL="45720" marR="45720" marT="27432" marB="27432">
                    <a:solidFill>
                      <a:srgbClr val="F2F5F9"/>
                    </a:solidFill>
                  </a:tcPr>
                </a:tc>
                <a:tc>
                  <a:txBody>
                    <a:bodyPr/>
                    <a:lstStyle/>
                    <a:p>
                      <a:pPr algn="ctr"/>
                      <a:r>
                        <a:rPr sz="1400" b="0"/>
                        <a:t>Koreeda &amp; Manning (2021)</a:t>
                      </a:r>
                    </a:p>
                  </a:txBody>
                  <a:tcPr marL="45720" marR="45720" marT="27432" marB="27432">
                    <a:solidFill>
                      <a:srgbClr val="F2F5F9"/>
                    </a:solidFill>
                  </a:tcPr>
                </a:tc>
                <a:tc>
                  <a:txBody>
                    <a:bodyPr/>
                    <a:lstStyle/>
                    <a:p>
                      <a:pPr algn="ctr"/>
                      <a:r>
                        <a:rPr sz="1400" b="0"/>
                        <a:t>Document-level NLI for contracts (ContractNLI)</a:t>
                      </a:r>
                    </a:p>
                  </a:txBody>
                  <a:tcPr marL="45720" marR="45720" marT="27432" marB="27432">
                    <a:solidFill>
                      <a:srgbClr val="F2F5F9"/>
                    </a:solidFill>
                  </a:tcPr>
                </a:tc>
                <a:tc>
                  <a:txBody>
                    <a:bodyPr/>
                    <a:lstStyle/>
                    <a:p>
                      <a:pPr algn="ctr"/>
                      <a:r>
                        <a:rPr sz="1400" b="0"/>
                        <a:t>Span-level evidence annotations on contracts</a:t>
                      </a:r>
                    </a:p>
                  </a:txBody>
                  <a:tcPr marL="45720" marR="45720" marT="27432" marB="27432">
                    <a:solidFill>
                      <a:srgbClr val="F2F5F9"/>
                    </a:solidFill>
                  </a:tcPr>
                </a:tc>
                <a:tc>
                  <a:txBody>
                    <a:bodyPr/>
                    <a:lstStyle/>
                    <a:p>
                      <a:pPr algn="ctr"/>
                      <a:r>
                        <a:rPr sz="1400" b="0" dirty="0"/>
                        <a:t>Benchmark for contract entailment with rationale spans</a:t>
                      </a:r>
                    </a:p>
                  </a:txBody>
                  <a:tcPr marL="45720" marR="45720" marT="27432" marB="27432">
                    <a:solidFill>
                      <a:srgbClr val="F2F5F9"/>
                    </a:solidFill>
                  </a:tcPr>
                </a:tc>
                <a:tc>
                  <a:txBody>
                    <a:bodyPr/>
                    <a:lstStyle/>
                    <a:p>
                      <a:pPr algn="ctr"/>
                      <a:r>
                        <a:rPr sz="1400" b="0" dirty="0"/>
                        <a:t>Span-level evidence design influences our clause-trigger reporting</a:t>
                      </a:r>
                    </a:p>
                  </a:txBody>
                  <a:tcPr marL="45720" marR="45720" marT="27432" marB="27432">
                    <a:solidFill>
                      <a:srgbClr val="F2F5F9"/>
                    </a:solidFill>
                  </a:tcPr>
                </a:tc>
                <a:extLst>
                  <a:ext uri="{0D108BD9-81ED-4DB2-BD59-A6C34878D82A}">
                    <a16:rowId xmlns:a16="http://schemas.microsoft.com/office/drawing/2014/main" val="10006"/>
                  </a:ext>
                </a:extLst>
              </a:tr>
              <a:tr h="607422">
                <a:tc>
                  <a:txBody>
                    <a:bodyPr/>
                    <a:lstStyle/>
                    <a:p>
                      <a:pPr algn="ctr"/>
                      <a:r>
                        <a:rPr sz="1400" b="1"/>
                        <a:t>14</a:t>
                      </a:r>
                    </a:p>
                  </a:txBody>
                  <a:tcPr marL="45720" marR="45720" marT="27432" marB="27432"/>
                </a:tc>
                <a:tc>
                  <a:txBody>
                    <a:bodyPr/>
                    <a:lstStyle/>
                    <a:p>
                      <a:pPr algn="ctr"/>
                      <a:r>
                        <a:rPr sz="1400" b="0"/>
                        <a:t>Wang et al. (2023)</a:t>
                      </a:r>
                    </a:p>
                  </a:txBody>
                  <a:tcPr marL="45720" marR="45720" marT="27432" marB="27432"/>
                </a:tc>
                <a:tc>
                  <a:txBody>
                    <a:bodyPr/>
                    <a:lstStyle/>
                    <a:p>
                      <a:pPr algn="ctr"/>
                      <a:r>
                        <a:rPr sz="1400" b="0"/>
                        <a:t>Expert annotation for merger agreements (MAUD)</a:t>
                      </a:r>
                    </a:p>
                  </a:txBody>
                  <a:tcPr marL="45720" marR="45720" marT="27432" marB="27432"/>
                </a:tc>
                <a:tc>
                  <a:txBody>
                    <a:bodyPr/>
                    <a:lstStyle/>
                    <a:p>
                      <a:pPr algn="ctr"/>
                      <a:r>
                        <a:rPr sz="1400" b="0"/>
                        <a:t>Merger-agreement contracts</a:t>
                      </a:r>
                    </a:p>
                  </a:txBody>
                  <a:tcPr marL="45720" marR="45720" marT="27432" marB="27432"/>
                </a:tc>
                <a:tc>
                  <a:txBody>
                    <a:bodyPr/>
                    <a:lstStyle/>
                    <a:p>
                      <a:pPr algn="ctr"/>
                      <a:r>
                        <a:rPr sz="1400" b="0"/>
                        <a:t>Domain-specific contract-understanding benchmark</a:t>
                      </a:r>
                    </a:p>
                  </a:txBody>
                  <a:tcPr marL="45720" marR="45720" marT="27432" marB="27432"/>
                </a:tc>
                <a:tc>
                  <a:txBody>
                    <a:bodyPr/>
                    <a:lstStyle/>
                    <a:p>
                      <a:pPr algn="ctr"/>
                      <a:r>
                        <a:rPr sz="1400" b="0" dirty="0"/>
                        <a:t>Informs taxonomy design and supplementary evaluation</a:t>
                      </a:r>
                    </a:p>
                  </a:txBody>
                  <a:tcPr marL="45720" marR="45720" marT="27432" marB="27432"/>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7B7E-0547-9A59-A20F-E8801FAABD88}"/>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23EBAE6D-79FE-7CF3-B3E1-AF9694B60C29}"/>
              </a:ext>
            </a:extLst>
          </p:cNvPr>
          <p:cNvSpPr>
            <a:spLocks noGrp="1"/>
          </p:cNvSpPr>
          <p:nvPr>
            <p:ph idx="1"/>
          </p:nvPr>
        </p:nvSpPr>
        <p:spPr/>
        <p:txBody>
          <a:bodyPr>
            <a:normAutofit/>
          </a:bodyPr>
          <a:lstStyle/>
          <a:p>
            <a:pPr marL="0" indent="0" algn="l">
              <a:buNone/>
            </a:pPr>
            <a:r>
              <a:rPr sz="1300" b="1"/>
              <a:t>Table 1: Summary of existing approaches and research findings  —  part 3 of 5  —  references 15-21</a:t>
            </a:r>
          </a:p>
        </p:txBody>
      </p:sp>
      <p:sp>
        <p:nvSpPr>
          <p:cNvPr id="4" name="Date Placeholder 3">
            <a:extLst>
              <a:ext uri="{FF2B5EF4-FFF2-40B4-BE49-F238E27FC236}">
                <a16:creationId xmlns:a16="http://schemas.microsoft.com/office/drawing/2014/main" id="{115E6F6E-F6E0-10E0-82EB-90F063816C72}"/>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58DA3F0-BCE6-7A6F-82D2-0025E47D1531}"/>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35598483-8695-2FBE-9922-C8A3EB3B07D2}"/>
              </a:ext>
            </a:extLst>
          </p:cNvPr>
          <p:cNvSpPr>
            <a:spLocks noGrp="1"/>
          </p:cNvSpPr>
          <p:nvPr>
            <p:ph type="sldNum" sz="quarter" idx="12"/>
          </p:nvPr>
        </p:nvSpPr>
        <p:spPr/>
        <p:txBody>
          <a:bodyPr/>
          <a:lstStyle/>
          <a:p>
            <a:r>
              <a:t>9</a:t>
            </a:r>
          </a:p>
        </p:txBody>
      </p:sp>
      <p:graphicFrame>
        <p:nvGraphicFramePr>
          <p:cNvPr id="7" name="Table 6"/>
          <p:cNvGraphicFramePr>
            <a:graphicFrameLocks noGrp="1"/>
          </p:cNvGraphicFramePr>
          <p:nvPr>
            <p:extLst>
              <p:ext uri="{D42A27DB-BD31-4B8C-83A1-F6EECF244321}">
                <p14:modId xmlns:p14="http://schemas.microsoft.com/office/powerpoint/2010/main" val="532208942"/>
              </p:ext>
            </p:extLst>
          </p:nvPr>
        </p:nvGraphicFramePr>
        <p:xfrm>
          <a:off x="365760" y="1508760"/>
          <a:ext cx="11475720" cy="4838478"/>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411480">
                <a:tc>
                  <a:txBody>
                    <a:bodyPr/>
                    <a:lstStyle/>
                    <a:p>
                      <a:pPr algn="ctr"/>
                      <a:r>
                        <a:rPr sz="1100" b="1">
                          <a:solidFill>
                            <a:srgbClr val="FFFFFF"/>
                          </a:solidFill>
                        </a:rPr>
                        <a:t>Sl. No.</a:t>
                      </a:r>
                    </a:p>
                  </a:txBody>
                  <a:tcPr marL="45720" marR="45720" marT="27432" marB="27432">
                    <a:solidFill>
                      <a:srgbClr val="1F3A5F"/>
                    </a:solidFill>
                  </a:tcPr>
                </a:tc>
                <a:tc>
                  <a:txBody>
                    <a:bodyPr/>
                    <a:lstStyle/>
                    <a:p>
                      <a:pPr algn="ctr"/>
                      <a:r>
                        <a:rPr sz="1100" b="1">
                          <a:solidFill>
                            <a:srgbClr val="FFFFFF"/>
                          </a:solidFill>
                        </a:rPr>
                        <a:t>Author &amp; Year</a:t>
                      </a:r>
                    </a:p>
                  </a:txBody>
                  <a:tcPr marL="45720" marR="45720" marT="27432" marB="27432">
                    <a:solidFill>
                      <a:srgbClr val="1F3A5F"/>
                    </a:solidFill>
                  </a:tcPr>
                </a:tc>
                <a:tc>
                  <a:txBody>
                    <a:bodyPr/>
                    <a:lstStyle/>
                    <a:p>
                      <a:pPr algn="ctr"/>
                      <a:r>
                        <a:rPr sz="1100" b="1">
                          <a:solidFill>
                            <a:srgbClr val="FFFFFF"/>
                          </a:solidFill>
                        </a:rPr>
                        <a:t>Methods / Techniques</a:t>
                      </a:r>
                    </a:p>
                  </a:txBody>
                  <a:tcPr marL="45720" marR="45720" marT="27432" marB="27432">
                    <a:solidFill>
                      <a:srgbClr val="1F3A5F"/>
                    </a:solidFill>
                  </a:tcPr>
                </a:tc>
                <a:tc>
                  <a:txBody>
                    <a:bodyPr/>
                    <a:lstStyle/>
                    <a:p>
                      <a:pPr algn="ctr"/>
                      <a:r>
                        <a:rPr sz="1100" b="1">
                          <a:solidFill>
                            <a:srgbClr val="FFFFFF"/>
                          </a:solidFill>
                        </a:rPr>
                        <a:t>Dataset</a:t>
                      </a:r>
                    </a:p>
                  </a:txBody>
                  <a:tcPr marL="45720" marR="45720" marT="27432" marB="27432">
                    <a:solidFill>
                      <a:srgbClr val="1F3A5F"/>
                    </a:solidFill>
                  </a:tcPr>
                </a:tc>
                <a:tc>
                  <a:txBody>
                    <a:bodyPr/>
                    <a:lstStyle/>
                    <a:p>
                      <a:pPr algn="ctr"/>
                      <a:r>
                        <a:rPr sz="1100" b="1">
                          <a:solidFill>
                            <a:srgbClr val="FFFFFF"/>
                          </a:solidFill>
                        </a:rPr>
                        <a:t>Research Outcomes</a:t>
                      </a:r>
                    </a:p>
                  </a:txBody>
                  <a:tcPr marL="45720" marR="45720" marT="27432" marB="27432">
                    <a:solidFill>
                      <a:srgbClr val="1F3A5F"/>
                    </a:solidFill>
                  </a:tcPr>
                </a:tc>
                <a:tc>
                  <a:txBody>
                    <a:bodyPr/>
                    <a:lstStyle/>
                    <a:p>
                      <a:pPr algn="ctr"/>
                      <a:r>
                        <a:rPr sz="1100" b="1">
                          <a:solidFill>
                            <a:srgbClr val="FFFFFF"/>
                          </a:solidFill>
                        </a:rPr>
                        <a:t>Findings</a:t>
                      </a:r>
                    </a:p>
                  </a:txBody>
                  <a:tcPr marL="45720" marR="45720" marT="27432" marB="27432">
                    <a:solidFill>
                      <a:srgbClr val="1F3A5F"/>
                    </a:solidFill>
                  </a:tcPr>
                </a:tc>
                <a:extLst>
                  <a:ext uri="{0D108BD9-81ED-4DB2-BD59-A6C34878D82A}">
                    <a16:rowId xmlns:a16="http://schemas.microsoft.com/office/drawing/2014/main" val="10000"/>
                  </a:ext>
                </a:extLst>
              </a:tr>
              <a:tr h="607422">
                <a:tc>
                  <a:txBody>
                    <a:bodyPr/>
                    <a:lstStyle/>
                    <a:p>
                      <a:pPr algn="ctr"/>
                      <a:r>
                        <a:rPr sz="1400" b="1" dirty="0"/>
                        <a:t>15</a:t>
                      </a:r>
                    </a:p>
                  </a:txBody>
                  <a:tcPr marL="45720" marR="45720" marT="27432" marB="27432"/>
                </a:tc>
                <a:tc>
                  <a:txBody>
                    <a:bodyPr/>
                    <a:lstStyle/>
                    <a:p>
                      <a:pPr algn="ctr"/>
                      <a:r>
                        <a:rPr sz="1400" b="0" dirty="0"/>
                        <a:t>ACORD Authors (2025)</a:t>
                      </a:r>
                    </a:p>
                  </a:txBody>
                  <a:tcPr marL="45720" marR="45720" marT="27432" marB="27432"/>
                </a:tc>
                <a:tc>
                  <a:txBody>
                    <a:bodyPr/>
                    <a:lstStyle/>
                    <a:p>
                      <a:pPr algn="ctr"/>
                      <a:r>
                        <a:rPr sz="1400" b="0" dirty="0"/>
                        <a:t>Retrieval benchmark for clause drafting (ACORD)</a:t>
                      </a:r>
                    </a:p>
                  </a:txBody>
                  <a:tcPr marL="45720" marR="45720" marT="27432" marB="27432"/>
                </a:tc>
                <a:tc>
                  <a:txBody>
                    <a:bodyPr/>
                    <a:lstStyle/>
                    <a:p>
                      <a:pPr algn="ctr"/>
                      <a:r>
                        <a:rPr sz="1400" b="0"/>
                        <a:t>Expert-annotated retrieval dataset</a:t>
                      </a:r>
                    </a:p>
                  </a:txBody>
                  <a:tcPr marL="45720" marR="45720" marT="27432" marB="27432"/>
                </a:tc>
                <a:tc>
                  <a:txBody>
                    <a:bodyPr/>
                    <a:lstStyle/>
                    <a:p>
                      <a:pPr algn="ctr"/>
                      <a:r>
                        <a:rPr sz="1400" b="0"/>
                        <a:t>Benchmark for clause-clause retrieval</a:t>
                      </a:r>
                    </a:p>
                  </a:txBody>
                  <a:tcPr marL="45720" marR="45720" marT="27432" marB="27432"/>
                </a:tc>
                <a:tc>
                  <a:txBody>
                    <a:bodyPr/>
                    <a:lstStyle/>
                    <a:p>
                      <a:pPr algn="ctr"/>
                      <a:r>
                        <a:rPr sz="1400" b="0"/>
                        <a:t>Future-work signal for retrieval-augmented rewriting</a:t>
                      </a:r>
                    </a:p>
                  </a:txBody>
                  <a:tcPr marL="45720" marR="45720" marT="27432" marB="27432"/>
                </a:tc>
                <a:extLst>
                  <a:ext uri="{0D108BD9-81ED-4DB2-BD59-A6C34878D82A}">
                    <a16:rowId xmlns:a16="http://schemas.microsoft.com/office/drawing/2014/main" val="10001"/>
                  </a:ext>
                </a:extLst>
              </a:tr>
              <a:tr h="607422">
                <a:tc>
                  <a:txBody>
                    <a:bodyPr/>
                    <a:lstStyle/>
                    <a:p>
                      <a:pPr algn="ctr"/>
                      <a:r>
                        <a:rPr sz="1400" b="1"/>
                        <a:t>16</a:t>
                      </a:r>
                    </a:p>
                  </a:txBody>
                  <a:tcPr marL="45720" marR="45720" marT="27432" marB="27432">
                    <a:solidFill>
                      <a:srgbClr val="F2F5F9"/>
                    </a:solidFill>
                  </a:tcPr>
                </a:tc>
                <a:tc>
                  <a:txBody>
                    <a:bodyPr/>
                    <a:lstStyle/>
                    <a:p>
                      <a:pPr algn="ctr"/>
                      <a:r>
                        <a:rPr sz="1400" b="0"/>
                        <a:t>Deontic Modality Study (2023)</a:t>
                      </a:r>
                    </a:p>
                  </a:txBody>
                  <a:tcPr marL="45720" marR="45720" marT="27432" marB="27432">
                    <a:solidFill>
                      <a:srgbClr val="F2F5F9"/>
                    </a:solidFill>
                  </a:tcPr>
                </a:tc>
                <a:tc>
                  <a:txBody>
                    <a:bodyPr/>
                    <a:lstStyle/>
                    <a:p>
                      <a:pPr algn="ctr"/>
                      <a:r>
                        <a:rPr sz="1400" b="0" dirty="0" err="1"/>
                        <a:t>Categorising</a:t>
                      </a:r>
                      <a:r>
                        <a:rPr sz="1400" b="0" dirty="0"/>
                        <a:t> obligations, permissions, prohibitions</a:t>
                      </a:r>
                    </a:p>
                  </a:txBody>
                  <a:tcPr marL="45720" marR="45720" marT="27432" marB="27432">
                    <a:solidFill>
                      <a:srgbClr val="F2F5F9"/>
                    </a:solidFill>
                  </a:tcPr>
                </a:tc>
                <a:tc>
                  <a:txBody>
                    <a:bodyPr/>
                    <a:lstStyle/>
                    <a:p>
                      <a:pPr algn="ctr"/>
                      <a:r>
                        <a:rPr sz="1400" b="0"/>
                        <a:t>Contract clauses</a:t>
                      </a:r>
                    </a:p>
                  </a:txBody>
                  <a:tcPr marL="45720" marR="45720" marT="27432" marB="27432">
                    <a:solidFill>
                      <a:srgbClr val="F2F5F9"/>
                    </a:solidFill>
                  </a:tcPr>
                </a:tc>
                <a:tc>
                  <a:txBody>
                    <a:bodyPr/>
                    <a:lstStyle/>
                    <a:p>
                      <a:pPr algn="ctr"/>
                      <a:r>
                        <a:rPr sz="1400" b="0"/>
                        <a:t>Deontic-modality categorisation framework</a:t>
                      </a:r>
                    </a:p>
                  </a:txBody>
                  <a:tcPr marL="45720" marR="45720" marT="27432" marB="27432">
                    <a:solidFill>
                      <a:srgbClr val="F2F5F9"/>
                    </a:solidFill>
                  </a:tcPr>
                </a:tc>
                <a:tc>
                  <a:txBody>
                    <a:bodyPr/>
                    <a:lstStyle/>
                    <a:p>
                      <a:pPr algn="ctr"/>
                      <a:r>
                        <a:rPr sz="1400" b="0"/>
                        <a:t>Directly relevant to classification and risk-flagging</a:t>
                      </a:r>
                    </a:p>
                  </a:txBody>
                  <a:tcPr marL="45720" marR="45720" marT="27432" marB="27432">
                    <a:solidFill>
                      <a:srgbClr val="F2F5F9"/>
                    </a:solidFill>
                  </a:tcPr>
                </a:tc>
                <a:extLst>
                  <a:ext uri="{0D108BD9-81ED-4DB2-BD59-A6C34878D82A}">
                    <a16:rowId xmlns:a16="http://schemas.microsoft.com/office/drawing/2014/main" val="10002"/>
                  </a:ext>
                </a:extLst>
              </a:tr>
              <a:tr h="607422">
                <a:tc>
                  <a:txBody>
                    <a:bodyPr/>
                    <a:lstStyle/>
                    <a:p>
                      <a:pPr algn="ctr"/>
                      <a:r>
                        <a:rPr sz="1400" b="1"/>
                        <a:t>17</a:t>
                      </a:r>
                    </a:p>
                  </a:txBody>
                  <a:tcPr marL="45720" marR="45720" marT="27432" marB="27432"/>
                </a:tc>
                <a:tc>
                  <a:txBody>
                    <a:bodyPr/>
                    <a:lstStyle/>
                    <a:p>
                      <a:pPr algn="ctr"/>
                      <a:r>
                        <a:rPr sz="1400" b="0"/>
                        <a:t>Cemri et al. (2022)</a:t>
                      </a:r>
                    </a:p>
                  </a:txBody>
                  <a:tcPr marL="45720" marR="45720" marT="27432" marB="27432"/>
                </a:tc>
                <a:tc>
                  <a:txBody>
                    <a:bodyPr/>
                    <a:lstStyle/>
                    <a:p>
                      <a:pPr algn="ctr"/>
                      <a:r>
                        <a:rPr sz="1400" b="0"/>
                        <a:t>Unsupervised simplification (lexical + sentence splitting)</a:t>
                      </a:r>
                    </a:p>
                  </a:txBody>
                  <a:tcPr marL="45720" marR="45720" marT="27432" marB="27432"/>
                </a:tc>
                <a:tc>
                  <a:txBody>
                    <a:bodyPr/>
                    <a:lstStyle/>
                    <a:p>
                      <a:pPr algn="ctr"/>
                      <a:r>
                        <a:rPr sz="1400" b="0" dirty="0"/>
                        <a:t>Legal-text corpora (no parallel data)</a:t>
                      </a:r>
                    </a:p>
                  </a:txBody>
                  <a:tcPr marL="45720" marR="45720" marT="27432" marB="27432"/>
                </a:tc>
                <a:tc>
                  <a:txBody>
                    <a:bodyPr/>
                    <a:lstStyle/>
                    <a:p>
                      <a:pPr algn="ctr"/>
                      <a:r>
                        <a:rPr sz="1400" b="0"/>
                        <a:t>Domain-specific simplification without parallel corpora</a:t>
                      </a:r>
                    </a:p>
                  </a:txBody>
                  <a:tcPr marL="45720" marR="45720" marT="27432" marB="27432"/>
                </a:tc>
                <a:tc>
                  <a:txBody>
                    <a:bodyPr/>
                    <a:lstStyle/>
                    <a:p>
                      <a:pPr algn="ctr"/>
                      <a:r>
                        <a:rPr sz="1400" b="0"/>
                        <a:t>Validates feasibility of simplification with limited paired data</a:t>
                      </a:r>
                    </a:p>
                  </a:txBody>
                  <a:tcPr marL="45720" marR="45720" marT="27432" marB="27432"/>
                </a:tc>
                <a:extLst>
                  <a:ext uri="{0D108BD9-81ED-4DB2-BD59-A6C34878D82A}">
                    <a16:rowId xmlns:a16="http://schemas.microsoft.com/office/drawing/2014/main" val="10003"/>
                  </a:ext>
                </a:extLst>
              </a:tr>
              <a:tr h="607422">
                <a:tc>
                  <a:txBody>
                    <a:bodyPr/>
                    <a:lstStyle/>
                    <a:p>
                      <a:pPr algn="ctr"/>
                      <a:r>
                        <a:rPr sz="1400" b="1"/>
                        <a:t>18</a:t>
                      </a:r>
                    </a:p>
                  </a:txBody>
                  <a:tcPr marL="45720" marR="45720" marT="27432" marB="27432">
                    <a:solidFill>
                      <a:srgbClr val="F2F5F9"/>
                    </a:solidFill>
                  </a:tcPr>
                </a:tc>
                <a:tc>
                  <a:txBody>
                    <a:bodyPr/>
                    <a:lstStyle/>
                    <a:p>
                      <a:pPr algn="ctr"/>
                      <a:r>
                        <a:rPr sz="1400" b="0"/>
                        <a:t>Text Simplification Study (2024)</a:t>
                      </a:r>
                    </a:p>
                  </a:txBody>
                  <a:tcPr marL="45720" marR="45720" marT="27432" marB="27432">
                    <a:solidFill>
                      <a:srgbClr val="F2F5F9"/>
                    </a:solidFill>
                  </a:tcPr>
                </a:tc>
                <a:tc>
                  <a:txBody>
                    <a:bodyPr/>
                    <a:lstStyle/>
                    <a:p>
                      <a:pPr algn="ctr"/>
                      <a:r>
                        <a:rPr sz="1400" b="0"/>
                        <a:t>Text-simplification system for contract review</a:t>
                      </a:r>
                    </a:p>
                  </a:txBody>
                  <a:tcPr marL="45720" marR="45720" marT="27432" marB="27432">
                    <a:solidFill>
                      <a:srgbClr val="F2F5F9"/>
                    </a:solidFill>
                  </a:tcPr>
                </a:tc>
                <a:tc>
                  <a:txBody>
                    <a:bodyPr/>
                    <a:lstStyle/>
                    <a:p>
                      <a:pPr algn="ctr"/>
                      <a:r>
                        <a:rPr sz="1400" b="0" dirty="0"/>
                        <a:t>Legal contract excerpts</a:t>
                      </a:r>
                    </a:p>
                  </a:txBody>
                  <a:tcPr marL="45720" marR="45720" marT="27432" marB="27432">
                    <a:solidFill>
                      <a:srgbClr val="F2F5F9"/>
                    </a:solidFill>
                  </a:tcPr>
                </a:tc>
                <a:tc>
                  <a:txBody>
                    <a:bodyPr/>
                    <a:lstStyle/>
                    <a:p>
                      <a:pPr algn="ctr"/>
                      <a:r>
                        <a:rPr sz="1400" b="0" dirty="0"/>
                        <a:t>Reduces postgraduate-level text to ~tenth-grade readability; F-K, FRE, SMOG, Dale-Chall evaluation</a:t>
                      </a:r>
                    </a:p>
                  </a:txBody>
                  <a:tcPr marL="45720" marR="45720" marT="27432" marB="27432">
                    <a:solidFill>
                      <a:srgbClr val="F2F5F9"/>
                    </a:solidFill>
                  </a:tcPr>
                </a:tc>
                <a:tc>
                  <a:txBody>
                    <a:bodyPr/>
                    <a:lstStyle/>
                    <a:p>
                      <a:pPr algn="ctr"/>
                      <a:r>
                        <a:rPr sz="1400" b="0"/>
                        <a:t>Evaluation design adopted for our rewriter</a:t>
                      </a:r>
                    </a:p>
                  </a:txBody>
                  <a:tcPr marL="45720" marR="45720" marT="27432" marB="27432">
                    <a:solidFill>
                      <a:srgbClr val="F2F5F9"/>
                    </a:solidFill>
                  </a:tcPr>
                </a:tc>
                <a:extLst>
                  <a:ext uri="{0D108BD9-81ED-4DB2-BD59-A6C34878D82A}">
                    <a16:rowId xmlns:a16="http://schemas.microsoft.com/office/drawing/2014/main" val="10004"/>
                  </a:ext>
                </a:extLst>
              </a:tr>
              <a:tr h="607422">
                <a:tc>
                  <a:txBody>
                    <a:bodyPr/>
                    <a:lstStyle/>
                    <a:p>
                      <a:pPr algn="ctr"/>
                      <a:r>
                        <a:rPr sz="1400" b="1"/>
                        <a:t>19</a:t>
                      </a:r>
                    </a:p>
                  </a:txBody>
                  <a:tcPr marL="45720" marR="45720" marT="27432" marB="27432"/>
                </a:tc>
                <a:tc>
                  <a:txBody>
                    <a:bodyPr/>
                    <a:lstStyle/>
                    <a:p>
                      <a:pPr algn="ctr"/>
                      <a:r>
                        <a:rPr sz="1400" b="0"/>
                        <a:t>Legal Lay Summarisation Study (2025)</a:t>
                      </a:r>
                    </a:p>
                  </a:txBody>
                  <a:tcPr marL="45720" marR="45720" marT="27432" marB="27432"/>
                </a:tc>
                <a:tc>
                  <a:txBody>
                    <a:bodyPr/>
                    <a:lstStyle/>
                    <a:p>
                      <a:pPr algn="ctr"/>
                      <a:r>
                        <a:rPr sz="1400" b="0"/>
                        <a:t>Lay summarisation with LLMs (LegalEase)</a:t>
                      </a:r>
                    </a:p>
                  </a:txBody>
                  <a:tcPr marL="45720" marR="45720" marT="27432" marB="27432"/>
                </a:tc>
                <a:tc>
                  <a:txBody>
                    <a:bodyPr/>
                    <a:lstStyle/>
                    <a:p>
                      <a:pPr algn="ctr"/>
                      <a:r>
                        <a:rPr sz="1400" b="0"/>
                        <a:t>LegalEase dataset</a:t>
                      </a:r>
                    </a:p>
                  </a:txBody>
                  <a:tcPr marL="45720" marR="45720" marT="27432" marB="27432"/>
                </a:tc>
                <a:tc>
                  <a:txBody>
                    <a:bodyPr/>
                    <a:lstStyle/>
                    <a:p>
                      <a:pPr algn="ctr"/>
                      <a:r>
                        <a:rPr sz="1400" b="0" dirty="0"/>
                        <a:t>Sub-domain data outperform generic legal data</a:t>
                      </a:r>
                    </a:p>
                  </a:txBody>
                  <a:tcPr marL="45720" marR="45720" marT="27432" marB="27432"/>
                </a:tc>
                <a:tc>
                  <a:txBody>
                    <a:bodyPr/>
                    <a:lstStyle/>
                    <a:p>
                      <a:pPr algn="ctr"/>
                      <a:r>
                        <a:rPr sz="1400" b="0"/>
                        <a:t>Reinforces our use of CUAD + curated seed data</a:t>
                      </a:r>
                    </a:p>
                  </a:txBody>
                  <a:tcPr marL="45720" marR="45720" marT="27432" marB="27432"/>
                </a:tc>
                <a:extLst>
                  <a:ext uri="{0D108BD9-81ED-4DB2-BD59-A6C34878D82A}">
                    <a16:rowId xmlns:a16="http://schemas.microsoft.com/office/drawing/2014/main" val="10005"/>
                  </a:ext>
                </a:extLst>
              </a:tr>
              <a:tr h="607422">
                <a:tc>
                  <a:txBody>
                    <a:bodyPr/>
                    <a:lstStyle/>
                    <a:p>
                      <a:pPr algn="ctr"/>
                      <a:r>
                        <a:rPr sz="1400" b="1"/>
                        <a:t>20</a:t>
                      </a:r>
                    </a:p>
                  </a:txBody>
                  <a:tcPr marL="45720" marR="45720" marT="27432" marB="27432">
                    <a:solidFill>
                      <a:srgbClr val="F2F5F9"/>
                    </a:solidFill>
                  </a:tcPr>
                </a:tc>
                <a:tc>
                  <a:txBody>
                    <a:bodyPr/>
                    <a:lstStyle/>
                    <a:p>
                      <a:pPr algn="ctr"/>
                      <a:r>
                        <a:rPr sz="1400" b="0"/>
                        <a:t>Manor &amp; Li (2019)</a:t>
                      </a:r>
                    </a:p>
                  </a:txBody>
                  <a:tcPr marL="45720" marR="45720" marT="27432" marB="27432">
                    <a:solidFill>
                      <a:srgbClr val="F2F5F9"/>
                    </a:solidFill>
                  </a:tcPr>
                </a:tc>
                <a:tc>
                  <a:txBody>
                    <a:bodyPr/>
                    <a:lstStyle/>
                    <a:p>
                      <a:pPr algn="ctr"/>
                      <a:r>
                        <a:rPr sz="1400" b="0"/>
                        <a:t>Plain-English summarisation of contracts</a:t>
                      </a:r>
                    </a:p>
                  </a:txBody>
                  <a:tcPr marL="45720" marR="45720" marT="27432" marB="27432">
                    <a:solidFill>
                      <a:srgbClr val="F2F5F9"/>
                    </a:solidFill>
                  </a:tcPr>
                </a:tc>
                <a:tc>
                  <a:txBody>
                    <a:bodyPr/>
                    <a:lstStyle/>
                    <a:p>
                      <a:pPr algn="ctr"/>
                      <a:r>
                        <a:rPr sz="1400" b="0"/>
                        <a:t>Online ToS / contract corpus</a:t>
                      </a:r>
                    </a:p>
                  </a:txBody>
                  <a:tcPr marL="45720" marR="45720" marT="27432" marB="27432">
                    <a:solidFill>
                      <a:srgbClr val="F2F5F9"/>
                    </a:solidFill>
                  </a:tcPr>
                </a:tc>
                <a:tc>
                  <a:txBody>
                    <a:bodyPr/>
                    <a:lstStyle/>
                    <a:p>
                      <a:pPr algn="ctr"/>
                      <a:r>
                        <a:rPr sz="1400" b="0" dirty="0"/>
                        <a:t>Foundational plain-English </a:t>
                      </a:r>
                      <a:r>
                        <a:rPr sz="1400" b="0" dirty="0" err="1"/>
                        <a:t>summarisation</a:t>
                      </a:r>
                      <a:r>
                        <a:rPr sz="1400" b="0" dirty="0"/>
                        <a:t> results</a:t>
                      </a:r>
                    </a:p>
                  </a:txBody>
                  <a:tcPr marL="45720" marR="45720" marT="27432" marB="27432">
                    <a:solidFill>
                      <a:srgbClr val="F2F5F9"/>
                    </a:solidFill>
                  </a:tcPr>
                </a:tc>
                <a:tc>
                  <a:txBody>
                    <a:bodyPr/>
                    <a:lstStyle/>
                    <a:p>
                      <a:pPr algn="ctr"/>
                      <a:r>
                        <a:rPr sz="1400" b="0" dirty="0"/>
                        <a:t>Foundational reference for the rewriting module</a:t>
                      </a:r>
                    </a:p>
                  </a:txBody>
                  <a:tcPr marL="45720" marR="45720" marT="27432" marB="27432">
                    <a:solidFill>
                      <a:srgbClr val="F2F5F9"/>
                    </a:solidFill>
                  </a:tcPr>
                </a:tc>
                <a:extLst>
                  <a:ext uri="{0D108BD9-81ED-4DB2-BD59-A6C34878D82A}">
                    <a16:rowId xmlns:a16="http://schemas.microsoft.com/office/drawing/2014/main" val="10006"/>
                  </a:ext>
                </a:extLst>
              </a:tr>
              <a:tr h="607422">
                <a:tc>
                  <a:txBody>
                    <a:bodyPr/>
                    <a:lstStyle/>
                    <a:p>
                      <a:pPr algn="ctr"/>
                      <a:r>
                        <a:rPr sz="1400" b="1"/>
                        <a:t>21</a:t>
                      </a:r>
                    </a:p>
                  </a:txBody>
                  <a:tcPr marL="45720" marR="45720" marT="27432" marB="27432"/>
                </a:tc>
                <a:tc>
                  <a:txBody>
                    <a:bodyPr/>
                    <a:lstStyle/>
                    <a:p>
                      <a:pPr algn="ctr"/>
                      <a:r>
                        <a:rPr sz="1400" b="0"/>
                        <a:t>Lippi et al. (2019)</a:t>
                      </a:r>
                    </a:p>
                  </a:txBody>
                  <a:tcPr marL="45720" marR="45720" marT="27432" marB="27432"/>
                </a:tc>
                <a:tc>
                  <a:txBody>
                    <a:bodyPr/>
                    <a:lstStyle/>
                    <a:p>
                      <a:pPr algn="ctr"/>
                      <a:r>
                        <a:rPr sz="1400" b="0"/>
                        <a:t>ML detection of unfair clauses (CLAUDETTE)</a:t>
                      </a:r>
                    </a:p>
                  </a:txBody>
                  <a:tcPr marL="45720" marR="45720" marT="27432" marB="27432"/>
                </a:tc>
                <a:tc>
                  <a:txBody>
                    <a:bodyPr/>
                    <a:lstStyle/>
                    <a:p>
                      <a:pPr algn="ctr"/>
                      <a:r>
                        <a:rPr sz="1400" b="0"/>
                        <a:t>UNFAIR-ToS corpus</a:t>
                      </a:r>
                    </a:p>
                  </a:txBody>
                  <a:tcPr marL="45720" marR="45720" marT="27432" marB="27432"/>
                </a:tc>
                <a:tc>
                  <a:txBody>
                    <a:bodyPr/>
                    <a:lstStyle/>
                    <a:p>
                      <a:pPr algn="ctr"/>
                      <a:r>
                        <a:rPr sz="1400" b="0"/>
                        <a:t>Automated unfair-clause detection</a:t>
                      </a:r>
                    </a:p>
                  </a:txBody>
                  <a:tcPr marL="45720" marR="45720" marT="27432" marB="27432"/>
                </a:tc>
                <a:tc>
                  <a:txBody>
                    <a:bodyPr/>
                    <a:lstStyle/>
                    <a:p>
                      <a:pPr algn="ctr"/>
                      <a:r>
                        <a:rPr sz="1400" b="0" dirty="0"/>
                        <a:t>Informs the rule-based risk-flagging design</a:t>
                      </a:r>
                    </a:p>
                  </a:txBody>
                  <a:tcPr marL="45720" marR="45720" marT="27432" marB="27432"/>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7B7E-0547-9A59-A20F-E8801FAABD88}"/>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23EBAE6D-79FE-7CF3-B3E1-AF9694B60C29}"/>
              </a:ext>
            </a:extLst>
          </p:cNvPr>
          <p:cNvSpPr>
            <a:spLocks noGrp="1"/>
          </p:cNvSpPr>
          <p:nvPr>
            <p:ph idx="1"/>
          </p:nvPr>
        </p:nvSpPr>
        <p:spPr/>
        <p:txBody>
          <a:bodyPr>
            <a:normAutofit/>
          </a:bodyPr>
          <a:lstStyle/>
          <a:p>
            <a:pPr marL="0" indent="0" algn="l">
              <a:buNone/>
            </a:pPr>
            <a:r>
              <a:rPr sz="1300" b="1"/>
              <a:t>Table 1: Summary of existing approaches and research findings  —  part 4 of 5  —  references 22-28</a:t>
            </a:r>
          </a:p>
        </p:txBody>
      </p:sp>
      <p:sp>
        <p:nvSpPr>
          <p:cNvPr id="4" name="Date Placeholder 3">
            <a:extLst>
              <a:ext uri="{FF2B5EF4-FFF2-40B4-BE49-F238E27FC236}">
                <a16:creationId xmlns:a16="http://schemas.microsoft.com/office/drawing/2014/main" id="{115E6F6E-F6E0-10E0-82EB-90F063816C72}"/>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58DA3F0-BCE6-7A6F-82D2-0025E47D1531}"/>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35598483-8695-2FBE-9922-C8A3EB3B07D2}"/>
              </a:ext>
            </a:extLst>
          </p:cNvPr>
          <p:cNvSpPr>
            <a:spLocks noGrp="1"/>
          </p:cNvSpPr>
          <p:nvPr>
            <p:ph type="sldNum" sz="quarter" idx="12"/>
          </p:nvPr>
        </p:nvSpPr>
        <p:spPr/>
        <p:txBody>
          <a:bodyPr/>
          <a:lstStyle/>
          <a:p>
            <a:r>
              <a:t>10</a:t>
            </a:r>
          </a:p>
        </p:txBody>
      </p:sp>
      <p:graphicFrame>
        <p:nvGraphicFramePr>
          <p:cNvPr id="7" name="Table 6"/>
          <p:cNvGraphicFramePr>
            <a:graphicFrameLocks noGrp="1"/>
          </p:cNvGraphicFramePr>
          <p:nvPr>
            <p:extLst>
              <p:ext uri="{D42A27DB-BD31-4B8C-83A1-F6EECF244321}">
                <p14:modId xmlns:p14="http://schemas.microsoft.com/office/powerpoint/2010/main" val="61315707"/>
              </p:ext>
            </p:extLst>
          </p:nvPr>
        </p:nvGraphicFramePr>
        <p:xfrm>
          <a:off x="365760" y="1508760"/>
          <a:ext cx="11475720" cy="4870096"/>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403384">
                <a:tc>
                  <a:txBody>
                    <a:bodyPr/>
                    <a:lstStyle/>
                    <a:p>
                      <a:pPr algn="ctr"/>
                      <a:r>
                        <a:rPr sz="1100" b="1">
                          <a:solidFill>
                            <a:srgbClr val="FFFFFF"/>
                          </a:solidFill>
                        </a:rPr>
                        <a:t>Sl. No.</a:t>
                      </a:r>
                    </a:p>
                  </a:txBody>
                  <a:tcPr marL="45720" marR="45720" marT="27432" marB="27432">
                    <a:solidFill>
                      <a:srgbClr val="1F3A5F"/>
                    </a:solidFill>
                  </a:tcPr>
                </a:tc>
                <a:tc>
                  <a:txBody>
                    <a:bodyPr/>
                    <a:lstStyle/>
                    <a:p>
                      <a:pPr algn="ctr"/>
                      <a:r>
                        <a:rPr sz="1100" b="1">
                          <a:solidFill>
                            <a:srgbClr val="FFFFFF"/>
                          </a:solidFill>
                        </a:rPr>
                        <a:t>Author &amp; Year</a:t>
                      </a:r>
                    </a:p>
                  </a:txBody>
                  <a:tcPr marL="45720" marR="45720" marT="27432" marB="27432">
                    <a:solidFill>
                      <a:srgbClr val="1F3A5F"/>
                    </a:solidFill>
                  </a:tcPr>
                </a:tc>
                <a:tc>
                  <a:txBody>
                    <a:bodyPr/>
                    <a:lstStyle/>
                    <a:p>
                      <a:pPr algn="ctr"/>
                      <a:r>
                        <a:rPr sz="1100" b="1">
                          <a:solidFill>
                            <a:srgbClr val="FFFFFF"/>
                          </a:solidFill>
                        </a:rPr>
                        <a:t>Methods / Techniques</a:t>
                      </a:r>
                    </a:p>
                  </a:txBody>
                  <a:tcPr marL="45720" marR="45720" marT="27432" marB="27432">
                    <a:solidFill>
                      <a:srgbClr val="1F3A5F"/>
                    </a:solidFill>
                  </a:tcPr>
                </a:tc>
                <a:tc>
                  <a:txBody>
                    <a:bodyPr/>
                    <a:lstStyle/>
                    <a:p>
                      <a:pPr algn="ctr"/>
                      <a:r>
                        <a:rPr sz="1100" b="1">
                          <a:solidFill>
                            <a:srgbClr val="FFFFFF"/>
                          </a:solidFill>
                        </a:rPr>
                        <a:t>Dataset</a:t>
                      </a:r>
                    </a:p>
                  </a:txBody>
                  <a:tcPr marL="45720" marR="45720" marT="27432" marB="27432">
                    <a:solidFill>
                      <a:srgbClr val="1F3A5F"/>
                    </a:solidFill>
                  </a:tcPr>
                </a:tc>
                <a:tc>
                  <a:txBody>
                    <a:bodyPr/>
                    <a:lstStyle/>
                    <a:p>
                      <a:pPr algn="ctr"/>
                      <a:r>
                        <a:rPr sz="1100" b="1">
                          <a:solidFill>
                            <a:srgbClr val="FFFFFF"/>
                          </a:solidFill>
                        </a:rPr>
                        <a:t>Research Outcomes</a:t>
                      </a:r>
                    </a:p>
                  </a:txBody>
                  <a:tcPr marL="45720" marR="45720" marT="27432" marB="27432">
                    <a:solidFill>
                      <a:srgbClr val="1F3A5F"/>
                    </a:solidFill>
                  </a:tcPr>
                </a:tc>
                <a:tc>
                  <a:txBody>
                    <a:bodyPr/>
                    <a:lstStyle/>
                    <a:p>
                      <a:pPr algn="ctr"/>
                      <a:r>
                        <a:rPr sz="1100" b="1">
                          <a:solidFill>
                            <a:srgbClr val="FFFFFF"/>
                          </a:solidFill>
                        </a:rPr>
                        <a:t>Findings</a:t>
                      </a:r>
                    </a:p>
                  </a:txBody>
                  <a:tcPr marL="45720" marR="45720" marT="27432" marB="27432">
                    <a:solidFill>
                      <a:srgbClr val="1F3A5F"/>
                    </a:solidFill>
                  </a:tcPr>
                </a:tc>
                <a:extLst>
                  <a:ext uri="{0D108BD9-81ED-4DB2-BD59-A6C34878D82A}">
                    <a16:rowId xmlns:a16="http://schemas.microsoft.com/office/drawing/2014/main" val="10000"/>
                  </a:ext>
                </a:extLst>
              </a:tr>
              <a:tr h="681270">
                <a:tc>
                  <a:txBody>
                    <a:bodyPr/>
                    <a:lstStyle/>
                    <a:p>
                      <a:pPr algn="ctr"/>
                      <a:r>
                        <a:rPr sz="1400" b="1" dirty="0"/>
                        <a:t>22</a:t>
                      </a:r>
                    </a:p>
                  </a:txBody>
                  <a:tcPr marL="45720" marR="45720" marT="27432" marB="27432"/>
                </a:tc>
                <a:tc>
                  <a:txBody>
                    <a:bodyPr/>
                    <a:lstStyle/>
                    <a:p>
                      <a:pPr algn="ctr"/>
                      <a:r>
                        <a:rPr sz="1400" b="0" dirty="0"/>
                        <a:t>Ruas et al. (2021)</a:t>
                      </a:r>
                    </a:p>
                  </a:txBody>
                  <a:tcPr marL="45720" marR="45720" marT="27432" marB="27432"/>
                </a:tc>
                <a:tc>
                  <a:txBody>
                    <a:bodyPr/>
                    <a:lstStyle/>
                    <a:p>
                      <a:pPr algn="ctr"/>
                      <a:r>
                        <a:rPr sz="1400" b="0" dirty="0"/>
                        <a:t>Memory-augmented neural networks with legal rationales</a:t>
                      </a:r>
                    </a:p>
                  </a:txBody>
                  <a:tcPr marL="45720" marR="45720" marT="27432" marB="27432"/>
                </a:tc>
                <a:tc>
                  <a:txBody>
                    <a:bodyPr/>
                    <a:lstStyle/>
                    <a:p>
                      <a:pPr algn="ctr"/>
                      <a:r>
                        <a:rPr sz="1400" b="0"/>
                        <a:t>Consumer-contract unfairness corpus</a:t>
                      </a:r>
                    </a:p>
                  </a:txBody>
                  <a:tcPr marL="45720" marR="45720" marT="27432" marB="27432"/>
                </a:tc>
                <a:tc>
                  <a:txBody>
                    <a:bodyPr/>
                    <a:lstStyle/>
                    <a:p>
                      <a:pPr algn="ctr"/>
                      <a:r>
                        <a:rPr sz="1400" b="0"/>
                        <a:t>Explainable unfair-clause detection</a:t>
                      </a:r>
                    </a:p>
                  </a:txBody>
                  <a:tcPr marL="45720" marR="45720" marT="27432" marB="27432"/>
                </a:tc>
                <a:tc>
                  <a:txBody>
                    <a:bodyPr/>
                    <a:lstStyle/>
                    <a:p>
                      <a:pPr algn="ctr"/>
                      <a:r>
                        <a:rPr sz="1400" b="0"/>
                        <a:t>Inspires explainable, trigger-named risk flags</a:t>
                      </a:r>
                    </a:p>
                  </a:txBody>
                  <a:tcPr marL="45720" marR="45720" marT="27432" marB="27432"/>
                </a:tc>
                <a:extLst>
                  <a:ext uri="{0D108BD9-81ED-4DB2-BD59-A6C34878D82A}">
                    <a16:rowId xmlns:a16="http://schemas.microsoft.com/office/drawing/2014/main" val="10001"/>
                  </a:ext>
                </a:extLst>
              </a:tr>
              <a:tr h="681270">
                <a:tc>
                  <a:txBody>
                    <a:bodyPr/>
                    <a:lstStyle/>
                    <a:p>
                      <a:pPr algn="ctr"/>
                      <a:r>
                        <a:rPr sz="1400" b="1"/>
                        <a:t>23</a:t>
                      </a:r>
                    </a:p>
                  </a:txBody>
                  <a:tcPr marL="45720" marR="45720" marT="27432" marB="27432">
                    <a:solidFill>
                      <a:srgbClr val="F2F5F9"/>
                    </a:solidFill>
                  </a:tcPr>
                </a:tc>
                <a:tc>
                  <a:txBody>
                    <a:bodyPr/>
                    <a:lstStyle/>
                    <a:p>
                      <a:pPr algn="ctr"/>
                      <a:r>
                        <a:rPr sz="1400" b="0"/>
                        <a:t>Abusive Clause Detection Study (2024)</a:t>
                      </a:r>
                    </a:p>
                  </a:txBody>
                  <a:tcPr marL="45720" marR="45720" marT="27432" marB="27432">
                    <a:solidFill>
                      <a:srgbClr val="F2F5F9"/>
                    </a:solidFill>
                  </a:tcPr>
                </a:tc>
                <a:tc>
                  <a:txBody>
                    <a:bodyPr/>
                    <a:lstStyle/>
                    <a:p>
                      <a:pPr algn="ctr"/>
                      <a:r>
                        <a:rPr sz="1400" b="0" dirty="0"/>
                        <a:t>Transformer-based abusive-clause detector</a:t>
                      </a:r>
                    </a:p>
                  </a:txBody>
                  <a:tcPr marL="45720" marR="45720" marT="27432" marB="27432">
                    <a:solidFill>
                      <a:srgbClr val="F2F5F9"/>
                    </a:solidFill>
                  </a:tcPr>
                </a:tc>
                <a:tc>
                  <a:txBody>
                    <a:bodyPr/>
                    <a:lstStyle/>
                    <a:p>
                      <a:pPr algn="ctr"/>
                      <a:r>
                        <a:rPr sz="1400" b="0"/>
                        <a:t>B2C contracts</a:t>
                      </a:r>
                    </a:p>
                  </a:txBody>
                  <a:tcPr marL="45720" marR="45720" marT="27432" marB="27432">
                    <a:solidFill>
                      <a:srgbClr val="F2F5F9"/>
                    </a:solidFill>
                  </a:tcPr>
                </a:tc>
                <a:tc>
                  <a:txBody>
                    <a:bodyPr/>
                    <a:lstStyle/>
                    <a:p>
                      <a:pPr algn="ctr"/>
                      <a:r>
                        <a:rPr sz="1400" b="0"/>
                        <a:t>Production-deployable abusive-clause detection</a:t>
                      </a:r>
                    </a:p>
                  </a:txBody>
                  <a:tcPr marL="45720" marR="45720" marT="27432" marB="27432">
                    <a:solidFill>
                      <a:srgbClr val="F2F5F9"/>
                    </a:solidFill>
                  </a:tcPr>
                </a:tc>
                <a:tc>
                  <a:txBody>
                    <a:bodyPr/>
                    <a:lstStyle/>
                    <a:p>
                      <a:pPr algn="ctr"/>
                      <a:r>
                        <a:rPr sz="1400" b="0"/>
                        <a:t>Benchmark for risk-flag precision/recall</a:t>
                      </a:r>
                    </a:p>
                  </a:txBody>
                  <a:tcPr marL="45720" marR="45720" marT="27432" marB="27432">
                    <a:solidFill>
                      <a:srgbClr val="F2F5F9"/>
                    </a:solidFill>
                  </a:tcPr>
                </a:tc>
                <a:extLst>
                  <a:ext uri="{0D108BD9-81ED-4DB2-BD59-A6C34878D82A}">
                    <a16:rowId xmlns:a16="http://schemas.microsoft.com/office/drawing/2014/main" val="10002"/>
                  </a:ext>
                </a:extLst>
              </a:tr>
              <a:tr h="681270">
                <a:tc>
                  <a:txBody>
                    <a:bodyPr/>
                    <a:lstStyle/>
                    <a:p>
                      <a:pPr algn="ctr"/>
                      <a:r>
                        <a:rPr sz="1400" b="1"/>
                        <a:t>24</a:t>
                      </a:r>
                    </a:p>
                  </a:txBody>
                  <a:tcPr marL="45720" marR="45720" marT="27432" marB="27432"/>
                </a:tc>
                <a:tc>
                  <a:txBody>
                    <a:bodyPr/>
                    <a:lstStyle/>
                    <a:p>
                      <a:pPr algn="ctr"/>
                      <a:r>
                        <a:rPr sz="1400" b="0"/>
                        <a:t>Mitigating Unfairness Study (2023)</a:t>
                      </a:r>
                    </a:p>
                  </a:txBody>
                  <a:tcPr marL="45720" marR="45720" marT="27432" marB="27432"/>
                </a:tc>
                <a:tc>
                  <a:txBody>
                    <a:bodyPr/>
                    <a:lstStyle/>
                    <a:p>
                      <a:pPr algn="ctr"/>
                      <a:r>
                        <a:rPr sz="1400" b="0"/>
                        <a:t>LLM prompting + chain-of-thought for unfair clauses</a:t>
                      </a:r>
                    </a:p>
                  </a:txBody>
                  <a:tcPr marL="45720" marR="45720" marT="27432" marB="27432"/>
                </a:tc>
                <a:tc>
                  <a:txBody>
                    <a:bodyPr/>
                    <a:lstStyle/>
                    <a:p>
                      <a:pPr algn="ctr"/>
                      <a:r>
                        <a:rPr sz="1400" b="0" dirty="0"/>
                        <a:t>Consumer contract clauses</a:t>
                      </a:r>
                    </a:p>
                  </a:txBody>
                  <a:tcPr marL="45720" marR="45720" marT="27432" marB="27432"/>
                </a:tc>
                <a:tc>
                  <a:txBody>
                    <a:bodyPr/>
                    <a:lstStyle/>
                    <a:p>
                      <a:pPr algn="ctr"/>
                      <a:r>
                        <a:rPr sz="1400" b="0"/>
                        <a:t>CoT reasoning improves unfair-clause detection and mitigation</a:t>
                      </a:r>
                    </a:p>
                  </a:txBody>
                  <a:tcPr marL="45720" marR="45720" marT="27432" marB="27432"/>
                </a:tc>
                <a:tc>
                  <a:txBody>
                    <a:bodyPr/>
                    <a:lstStyle/>
                    <a:p>
                      <a:pPr algn="ctr"/>
                      <a:r>
                        <a:rPr sz="1400" b="0"/>
                        <a:t>Considered but rejected to keep risk flagging transparent</a:t>
                      </a:r>
                    </a:p>
                  </a:txBody>
                  <a:tcPr marL="45720" marR="45720" marT="27432" marB="27432"/>
                </a:tc>
                <a:extLst>
                  <a:ext uri="{0D108BD9-81ED-4DB2-BD59-A6C34878D82A}">
                    <a16:rowId xmlns:a16="http://schemas.microsoft.com/office/drawing/2014/main" val="10003"/>
                  </a:ext>
                </a:extLst>
              </a:tr>
              <a:tr h="595470">
                <a:tc>
                  <a:txBody>
                    <a:bodyPr/>
                    <a:lstStyle/>
                    <a:p>
                      <a:pPr algn="ctr"/>
                      <a:r>
                        <a:rPr sz="1400" b="1"/>
                        <a:t>25</a:t>
                      </a:r>
                    </a:p>
                  </a:txBody>
                  <a:tcPr marL="45720" marR="45720" marT="27432" marB="27432">
                    <a:solidFill>
                      <a:srgbClr val="F2F5F9"/>
                    </a:solidFill>
                  </a:tcPr>
                </a:tc>
                <a:tc>
                  <a:txBody>
                    <a:bodyPr/>
                    <a:lstStyle/>
                    <a:p>
                      <a:pPr algn="ctr"/>
                      <a:r>
                        <a:rPr sz="1400" b="0"/>
                        <a:t>Contract Smells Study (2025)</a:t>
                      </a:r>
                    </a:p>
                  </a:txBody>
                  <a:tcPr marL="45720" marR="45720" marT="27432" marB="27432">
                    <a:solidFill>
                      <a:srgbClr val="F2F5F9"/>
                    </a:solidFill>
                  </a:tcPr>
                </a:tc>
                <a:tc>
                  <a:txBody>
                    <a:bodyPr/>
                    <a:lstStyle/>
                    <a:p>
                      <a:pPr algn="ctr"/>
                      <a:r>
                        <a:rPr sz="1400" b="0"/>
                        <a:t>LLM detection of 'contract smells' (code-smell analogy)</a:t>
                      </a:r>
                    </a:p>
                  </a:txBody>
                  <a:tcPr marL="45720" marR="45720" marT="27432" marB="27432">
                    <a:solidFill>
                      <a:srgbClr val="F2F5F9"/>
                    </a:solidFill>
                  </a:tcPr>
                </a:tc>
                <a:tc>
                  <a:txBody>
                    <a:bodyPr/>
                    <a:lstStyle/>
                    <a:p>
                      <a:pPr algn="ctr"/>
                      <a:r>
                        <a:rPr sz="1400" b="0" dirty="0"/>
                        <a:t>Commercial contracts</a:t>
                      </a:r>
                    </a:p>
                  </a:txBody>
                  <a:tcPr marL="45720" marR="45720" marT="27432" marB="27432">
                    <a:solidFill>
                      <a:srgbClr val="F2F5F9"/>
                    </a:solidFill>
                  </a:tcPr>
                </a:tc>
                <a:tc>
                  <a:txBody>
                    <a:bodyPr/>
                    <a:lstStyle/>
                    <a:p>
                      <a:pPr algn="ctr"/>
                      <a:r>
                        <a:rPr sz="1400" b="0"/>
                        <a:t>Reframes contract risks as inspectable patterns</a:t>
                      </a:r>
                    </a:p>
                  </a:txBody>
                  <a:tcPr marL="45720" marR="45720" marT="27432" marB="27432">
                    <a:solidFill>
                      <a:srgbClr val="F2F5F9"/>
                    </a:solidFill>
                  </a:tcPr>
                </a:tc>
                <a:tc>
                  <a:txBody>
                    <a:bodyPr/>
                    <a:lstStyle/>
                    <a:p>
                      <a:pPr algn="ctr"/>
                      <a:r>
                        <a:rPr sz="1400" b="0"/>
                        <a:t>Conceptual basis for trigger-named risk flagging</a:t>
                      </a:r>
                    </a:p>
                  </a:txBody>
                  <a:tcPr marL="45720" marR="45720" marT="27432" marB="27432">
                    <a:solidFill>
                      <a:srgbClr val="F2F5F9"/>
                    </a:solidFill>
                  </a:tcPr>
                </a:tc>
                <a:extLst>
                  <a:ext uri="{0D108BD9-81ED-4DB2-BD59-A6C34878D82A}">
                    <a16:rowId xmlns:a16="http://schemas.microsoft.com/office/drawing/2014/main" val="10004"/>
                  </a:ext>
                </a:extLst>
              </a:tr>
              <a:tr h="595470">
                <a:tc>
                  <a:txBody>
                    <a:bodyPr/>
                    <a:lstStyle/>
                    <a:p>
                      <a:pPr algn="ctr"/>
                      <a:r>
                        <a:rPr sz="1400" b="1"/>
                        <a:t>26</a:t>
                      </a:r>
                    </a:p>
                  </a:txBody>
                  <a:tcPr marL="45720" marR="45720" marT="27432" marB="27432"/>
                </a:tc>
                <a:tc>
                  <a:txBody>
                    <a:bodyPr/>
                    <a:lstStyle/>
                    <a:p>
                      <a:pPr algn="ctr"/>
                      <a:r>
                        <a:rPr sz="1400" b="0"/>
                        <a:t>Wolf et al. (2020)</a:t>
                      </a:r>
                    </a:p>
                  </a:txBody>
                  <a:tcPr marL="45720" marR="45720" marT="27432" marB="27432"/>
                </a:tc>
                <a:tc>
                  <a:txBody>
                    <a:bodyPr/>
                    <a:lstStyle/>
                    <a:p>
                      <a:pPr algn="ctr"/>
                      <a:r>
                        <a:rPr sz="1400" b="0"/>
                        <a:t>Hugging Face Transformers library</a:t>
                      </a:r>
                    </a:p>
                  </a:txBody>
                  <a:tcPr marL="45720" marR="45720" marT="27432" marB="27432"/>
                </a:tc>
                <a:tc>
                  <a:txBody>
                    <a:bodyPr/>
                    <a:lstStyle/>
                    <a:p>
                      <a:pPr algn="ctr"/>
                      <a:r>
                        <a:rPr sz="1400" b="0"/>
                        <a:t>n/a (toolkit paper)</a:t>
                      </a:r>
                    </a:p>
                  </a:txBody>
                  <a:tcPr marL="45720" marR="45720" marT="27432" marB="27432"/>
                </a:tc>
                <a:tc>
                  <a:txBody>
                    <a:bodyPr/>
                    <a:lstStyle/>
                    <a:p>
                      <a:pPr algn="ctr"/>
                      <a:r>
                        <a:rPr sz="1400" b="0" dirty="0"/>
                        <a:t>Open-source state-of-the-art NLP toolkit</a:t>
                      </a:r>
                    </a:p>
                  </a:txBody>
                  <a:tcPr marL="45720" marR="45720" marT="27432" marB="27432"/>
                </a:tc>
                <a:tc>
                  <a:txBody>
                    <a:bodyPr/>
                    <a:lstStyle/>
                    <a:p>
                      <a:pPr algn="ctr"/>
                      <a:r>
                        <a:rPr sz="1400" b="0"/>
                        <a:t>Core dependency for fine-tuning and inference</a:t>
                      </a:r>
                    </a:p>
                  </a:txBody>
                  <a:tcPr marL="45720" marR="45720" marT="27432" marB="27432"/>
                </a:tc>
                <a:extLst>
                  <a:ext uri="{0D108BD9-81ED-4DB2-BD59-A6C34878D82A}">
                    <a16:rowId xmlns:a16="http://schemas.microsoft.com/office/drawing/2014/main" val="10005"/>
                  </a:ext>
                </a:extLst>
              </a:tr>
              <a:tr h="595470">
                <a:tc>
                  <a:txBody>
                    <a:bodyPr/>
                    <a:lstStyle/>
                    <a:p>
                      <a:pPr algn="ctr"/>
                      <a:r>
                        <a:rPr sz="1400" b="1"/>
                        <a:t>27</a:t>
                      </a:r>
                    </a:p>
                  </a:txBody>
                  <a:tcPr marL="45720" marR="45720" marT="27432" marB="27432">
                    <a:solidFill>
                      <a:srgbClr val="F2F5F9"/>
                    </a:solidFill>
                  </a:tcPr>
                </a:tc>
                <a:tc>
                  <a:txBody>
                    <a:bodyPr/>
                    <a:lstStyle/>
                    <a:p>
                      <a:pPr algn="ctr"/>
                      <a:r>
                        <a:rPr sz="1400" b="0"/>
                        <a:t>Honnibal &amp; Montani (2017)</a:t>
                      </a:r>
                    </a:p>
                  </a:txBody>
                  <a:tcPr marL="45720" marR="45720" marT="27432" marB="27432">
                    <a:solidFill>
                      <a:srgbClr val="F2F5F9"/>
                    </a:solidFill>
                  </a:tcPr>
                </a:tc>
                <a:tc>
                  <a:txBody>
                    <a:bodyPr/>
                    <a:lstStyle/>
                    <a:p>
                      <a:pPr algn="ctr"/>
                      <a:r>
                        <a:rPr sz="1400" b="0"/>
                        <a:t>spaCy 2 NLP pipeline</a:t>
                      </a:r>
                    </a:p>
                  </a:txBody>
                  <a:tcPr marL="45720" marR="45720" marT="27432" marB="27432">
                    <a:solidFill>
                      <a:srgbClr val="F2F5F9"/>
                    </a:solidFill>
                  </a:tcPr>
                </a:tc>
                <a:tc>
                  <a:txBody>
                    <a:bodyPr/>
                    <a:lstStyle/>
                    <a:p>
                      <a:pPr algn="ctr"/>
                      <a:r>
                        <a:rPr sz="1400" b="0"/>
                        <a:t>n/a (toolkit paper)</a:t>
                      </a:r>
                    </a:p>
                  </a:txBody>
                  <a:tcPr marL="45720" marR="45720" marT="27432" marB="27432">
                    <a:solidFill>
                      <a:srgbClr val="F2F5F9"/>
                    </a:solidFill>
                  </a:tcPr>
                </a:tc>
                <a:tc>
                  <a:txBody>
                    <a:bodyPr/>
                    <a:lstStyle/>
                    <a:p>
                      <a:pPr algn="ctr"/>
                      <a:r>
                        <a:rPr sz="1400" b="0" dirty="0" err="1"/>
                        <a:t>Tokenisation</a:t>
                      </a:r>
                      <a:r>
                        <a:rPr sz="1400" b="0" dirty="0"/>
                        <a:t>, segmentation, NER infrastructure</a:t>
                      </a:r>
                    </a:p>
                  </a:txBody>
                  <a:tcPr marL="45720" marR="45720" marT="27432" marB="27432">
                    <a:solidFill>
                      <a:srgbClr val="F2F5F9"/>
                    </a:solidFill>
                  </a:tcPr>
                </a:tc>
                <a:tc>
                  <a:txBody>
                    <a:bodyPr/>
                    <a:lstStyle/>
                    <a:p>
                      <a:pPr algn="ctr"/>
                      <a:r>
                        <a:rPr sz="1400" b="0" dirty="0"/>
                        <a:t>Used for clause segmentation and (planned) statistical NER</a:t>
                      </a:r>
                    </a:p>
                  </a:txBody>
                  <a:tcPr marL="45720" marR="45720" marT="27432" marB="27432">
                    <a:solidFill>
                      <a:srgbClr val="F2F5F9"/>
                    </a:solidFill>
                  </a:tcPr>
                </a:tc>
                <a:extLst>
                  <a:ext uri="{0D108BD9-81ED-4DB2-BD59-A6C34878D82A}">
                    <a16:rowId xmlns:a16="http://schemas.microsoft.com/office/drawing/2014/main" val="10006"/>
                  </a:ext>
                </a:extLst>
              </a:tr>
              <a:tr h="595470">
                <a:tc>
                  <a:txBody>
                    <a:bodyPr/>
                    <a:lstStyle/>
                    <a:p>
                      <a:pPr algn="ctr"/>
                      <a:r>
                        <a:rPr sz="1400" b="1"/>
                        <a:t>28</a:t>
                      </a:r>
                    </a:p>
                  </a:txBody>
                  <a:tcPr marL="45720" marR="45720" marT="27432" marB="27432"/>
                </a:tc>
                <a:tc>
                  <a:txBody>
                    <a:bodyPr/>
                    <a:lstStyle/>
                    <a:p>
                      <a:pPr algn="ctr"/>
                      <a:r>
                        <a:rPr sz="1400" b="0"/>
                        <a:t>Smith (2007)</a:t>
                      </a:r>
                    </a:p>
                  </a:txBody>
                  <a:tcPr marL="45720" marR="45720" marT="27432" marB="27432"/>
                </a:tc>
                <a:tc>
                  <a:txBody>
                    <a:bodyPr/>
                    <a:lstStyle/>
                    <a:p>
                      <a:pPr algn="ctr"/>
                      <a:r>
                        <a:rPr sz="1400" b="0"/>
                        <a:t>Tesseract OCR engine</a:t>
                      </a:r>
                    </a:p>
                  </a:txBody>
                  <a:tcPr marL="45720" marR="45720" marT="27432" marB="27432"/>
                </a:tc>
                <a:tc>
                  <a:txBody>
                    <a:bodyPr/>
                    <a:lstStyle/>
                    <a:p>
                      <a:pPr algn="ctr"/>
                      <a:r>
                        <a:rPr sz="1400" b="0"/>
                        <a:t>n/a (system paper)</a:t>
                      </a:r>
                    </a:p>
                  </a:txBody>
                  <a:tcPr marL="45720" marR="45720" marT="27432" marB="27432"/>
                </a:tc>
                <a:tc>
                  <a:txBody>
                    <a:bodyPr/>
                    <a:lstStyle/>
                    <a:p>
                      <a:pPr algn="ctr"/>
                      <a:r>
                        <a:rPr sz="1400" b="0"/>
                        <a:t>Open-source OCR for printed documents</a:t>
                      </a:r>
                    </a:p>
                  </a:txBody>
                  <a:tcPr marL="45720" marR="45720" marT="27432" marB="27432"/>
                </a:tc>
                <a:tc>
                  <a:txBody>
                    <a:bodyPr/>
                    <a:lstStyle/>
                    <a:p>
                      <a:pPr algn="ctr"/>
                      <a:r>
                        <a:rPr sz="1400" b="0" dirty="0"/>
                        <a:t>Supports text extraction from scanned PDFs</a:t>
                      </a:r>
                    </a:p>
                  </a:txBody>
                  <a:tcPr marL="45720" marR="45720" marT="27432" marB="27432"/>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7B7E-0547-9A59-A20F-E8801FAABD88}"/>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23EBAE6D-79FE-7CF3-B3E1-AF9694B60C29}"/>
              </a:ext>
            </a:extLst>
          </p:cNvPr>
          <p:cNvSpPr>
            <a:spLocks noGrp="1"/>
          </p:cNvSpPr>
          <p:nvPr>
            <p:ph idx="1"/>
          </p:nvPr>
        </p:nvSpPr>
        <p:spPr/>
        <p:txBody>
          <a:bodyPr>
            <a:normAutofit/>
          </a:bodyPr>
          <a:lstStyle/>
          <a:p>
            <a:pPr marL="0" indent="0" algn="l">
              <a:buNone/>
            </a:pPr>
            <a:r>
              <a:rPr sz="1300" b="1"/>
              <a:t>Table 1: Summary of existing approaches and research findings  —  part 5 of 5  —  references 29-35</a:t>
            </a:r>
          </a:p>
        </p:txBody>
      </p:sp>
      <p:sp>
        <p:nvSpPr>
          <p:cNvPr id="4" name="Date Placeholder 3">
            <a:extLst>
              <a:ext uri="{FF2B5EF4-FFF2-40B4-BE49-F238E27FC236}">
                <a16:creationId xmlns:a16="http://schemas.microsoft.com/office/drawing/2014/main" id="{115E6F6E-F6E0-10E0-82EB-90F063816C72}"/>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58DA3F0-BCE6-7A6F-82D2-0025E47D1531}"/>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35598483-8695-2FBE-9922-C8A3EB3B07D2}"/>
              </a:ext>
            </a:extLst>
          </p:cNvPr>
          <p:cNvSpPr>
            <a:spLocks noGrp="1"/>
          </p:cNvSpPr>
          <p:nvPr>
            <p:ph type="sldNum" sz="quarter" idx="12"/>
          </p:nvPr>
        </p:nvSpPr>
        <p:spPr/>
        <p:txBody>
          <a:bodyPr/>
          <a:lstStyle/>
          <a:p>
            <a:r>
              <a:t>11</a:t>
            </a:r>
          </a:p>
        </p:txBody>
      </p:sp>
      <p:graphicFrame>
        <p:nvGraphicFramePr>
          <p:cNvPr id="7" name="Table 6"/>
          <p:cNvGraphicFramePr>
            <a:graphicFrameLocks noGrp="1"/>
          </p:cNvGraphicFramePr>
          <p:nvPr>
            <p:extLst>
              <p:ext uri="{D42A27DB-BD31-4B8C-83A1-F6EECF244321}">
                <p14:modId xmlns:p14="http://schemas.microsoft.com/office/powerpoint/2010/main" val="3203347319"/>
              </p:ext>
            </p:extLst>
          </p:nvPr>
        </p:nvGraphicFramePr>
        <p:xfrm>
          <a:off x="365760" y="1508760"/>
          <a:ext cx="11475720" cy="4838478"/>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411480">
                <a:tc>
                  <a:txBody>
                    <a:bodyPr/>
                    <a:lstStyle/>
                    <a:p>
                      <a:pPr algn="ctr"/>
                      <a:r>
                        <a:rPr sz="1100" b="1" dirty="0">
                          <a:solidFill>
                            <a:srgbClr val="FFFFFF"/>
                          </a:solidFill>
                        </a:rPr>
                        <a:t>Sl. No.</a:t>
                      </a:r>
                    </a:p>
                  </a:txBody>
                  <a:tcPr marL="45720" marR="45720" marT="27432" marB="27432">
                    <a:solidFill>
                      <a:srgbClr val="1F3A5F"/>
                    </a:solidFill>
                  </a:tcPr>
                </a:tc>
                <a:tc>
                  <a:txBody>
                    <a:bodyPr/>
                    <a:lstStyle/>
                    <a:p>
                      <a:pPr algn="ctr"/>
                      <a:r>
                        <a:rPr sz="1100" b="1">
                          <a:solidFill>
                            <a:srgbClr val="FFFFFF"/>
                          </a:solidFill>
                        </a:rPr>
                        <a:t>Author &amp; Year</a:t>
                      </a:r>
                    </a:p>
                  </a:txBody>
                  <a:tcPr marL="45720" marR="45720" marT="27432" marB="27432">
                    <a:solidFill>
                      <a:srgbClr val="1F3A5F"/>
                    </a:solidFill>
                  </a:tcPr>
                </a:tc>
                <a:tc>
                  <a:txBody>
                    <a:bodyPr/>
                    <a:lstStyle/>
                    <a:p>
                      <a:pPr algn="ctr"/>
                      <a:r>
                        <a:rPr sz="1100" b="1">
                          <a:solidFill>
                            <a:srgbClr val="FFFFFF"/>
                          </a:solidFill>
                        </a:rPr>
                        <a:t>Methods / Techniques</a:t>
                      </a:r>
                    </a:p>
                  </a:txBody>
                  <a:tcPr marL="45720" marR="45720" marT="27432" marB="27432">
                    <a:solidFill>
                      <a:srgbClr val="1F3A5F"/>
                    </a:solidFill>
                  </a:tcPr>
                </a:tc>
                <a:tc>
                  <a:txBody>
                    <a:bodyPr/>
                    <a:lstStyle/>
                    <a:p>
                      <a:pPr algn="ctr"/>
                      <a:r>
                        <a:rPr sz="1100" b="1">
                          <a:solidFill>
                            <a:srgbClr val="FFFFFF"/>
                          </a:solidFill>
                        </a:rPr>
                        <a:t>Dataset</a:t>
                      </a:r>
                    </a:p>
                  </a:txBody>
                  <a:tcPr marL="45720" marR="45720" marT="27432" marB="27432">
                    <a:solidFill>
                      <a:srgbClr val="1F3A5F"/>
                    </a:solidFill>
                  </a:tcPr>
                </a:tc>
                <a:tc>
                  <a:txBody>
                    <a:bodyPr/>
                    <a:lstStyle/>
                    <a:p>
                      <a:pPr algn="ctr"/>
                      <a:r>
                        <a:rPr sz="1100" b="1">
                          <a:solidFill>
                            <a:srgbClr val="FFFFFF"/>
                          </a:solidFill>
                        </a:rPr>
                        <a:t>Research Outcomes</a:t>
                      </a:r>
                    </a:p>
                  </a:txBody>
                  <a:tcPr marL="45720" marR="45720" marT="27432" marB="27432">
                    <a:solidFill>
                      <a:srgbClr val="1F3A5F"/>
                    </a:solidFill>
                  </a:tcPr>
                </a:tc>
                <a:tc>
                  <a:txBody>
                    <a:bodyPr/>
                    <a:lstStyle/>
                    <a:p>
                      <a:pPr algn="ctr"/>
                      <a:r>
                        <a:rPr sz="1100" b="1">
                          <a:solidFill>
                            <a:srgbClr val="FFFFFF"/>
                          </a:solidFill>
                        </a:rPr>
                        <a:t>Findings</a:t>
                      </a:r>
                    </a:p>
                  </a:txBody>
                  <a:tcPr marL="45720" marR="45720" marT="27432" marB="27432">
                    <a:solidFill>
                      <a:srgbClr val="1F3A5F"/>
                    </a:solidFill>
                  </a:tcPr>
                </a:tc>
                <a:extLst>
                  <a:ext uri="{0D108BD9-81ED-4DB2-BD59-A6C34878D82A}">
                    <a16:rowId xmlns:a16="http://schemas.microsoft.com/office/drawing/2014/main" val="10000"/>
                  </a:ext>
                </a:extLst>
              </a:tr>
              <a:tr h="607422">
                <a:tc>
                  <a:txBody>
                    <a:bodyPr/>
                    <a:lstStyle/>
                    <a:p>
                      <a:pPr algn="ctr"/>
                      <a:r>
                        <a:rPr sz="1400" b="1" dirty="0"/>
                        <a:t>29</a:t>
                      </a:r>
                    </a:p>
                  </a:txBody>
                  <a:tcPr marL="45720" marR="45720" marT="27432" marB="27432"/>
                </a:tc>
                <a:tc>
                  <a:txBody>
                    <a:bodyPr/>
                    <a:lstStyle/>
                    <a:p>
                      <a:pPr algn="l"/>
                      <a:r>
                        <a:rPr sz="1400" b="0" dirty="0"/>
                        <a:t>Loshchilov &amp; Hutter (2019)</a:t>
                      </a:r>
                    </a:p>
                  </a:txBody>
                  <a:tcPr marL="45720" marR="45720" marT="27432" marB="27432"/>
                </a:tc>
                <a:tc>
                  <a:txBody>
                    <a:bodyPr/>
                    <a:lstStyle/>
                    <a:p>
                      <a:pPr algn="l"/>
                      <a:r>
                        <a:rPr sz="1400" b="0"/>
                        <a:t>Decoupled weight-decay (AdamW)</a:t>
                      </a:r>
                    </a:p>
                  </a:txBody>
                  <a:tcPr marL="45720" marR="45720" marT="27432" marB="27432"/>
                </a:tc>
                <a:tc>
                  <a:txBody>
                    <a:bodyPr/>
                    <a:lstStyle/>
                    <a:p>
                      <a:pPr algn="l"/>
                      <a:r>
                        <a:rPr sz="1400" b="0"/>
                        <a:t>Standard NLP/vision benchmarks</a:t>
                      </a:r>
                    </a:p>
                  </a:txBody>
                  <a:tcPr marL="45720" marR="45720" marT="27432" marB="27432"/>
                </a:tc>
                <a:tc>
                  <a:txBody>
                    <a:bodyPr/>
                    <a:lstStyle/>
                    <a:p>
                      <a:pPr algn="l"/>
                      <a:r>
                        <a:rPr sz="1400" b="0"/>
                        <a:t>Improved regularisation for transformer fine-tuning</a:t>
                      </a:r>
                    </a:p>
                  </a:txBody>
                  <a:tcPr marL="45720" marR="45720" marT="27432" marB="27432"/>
                </a:tc>
                <a:tc>
                  <a:txBody>
                    <a:bodyPr/>
                    <a:lstStyle/>
                    <a:p>
                      <a:pPr algn="l"/>
                      <a:r>
                        <a:rPr sz="1400" b="0"/>
                        <a:t>Standard optimiser for our planned fine-tuning</a:t>
                      </a:r>
                    </a:p>
                  </a:txBody>
                  <a:tcPr marL="45720" marR="45720" marT="27432" marB="27432"/>
                </a:tc>
                <a:extLst>
                  <a:ext uri="{0D108BD9-81ED-4DB2-BD59-A6C34878D82A}">
                    <a16:rowId xmlns:a16="http://schemas.microsoft.com/office/drawing/2014/main" val="10001"/>
                  </a:ext>
                </a:extLst>
              </a:tr>
              <a:tr h="607422">
                <a:tc>
                  <a:txBody>
                    <a:bodyPr/>
                    <a:lstStyle/>
                    <a:p>
                      <a:pPr algn="ctr"/>
                      <a:r>
                        <a:rPr sz="1400" b="1"/>
                        <a:t>30</a:t>
                      </a:r>
                    </a:p>
                  </a:txBody>
                  <a:tcPr marL="45720" marR="45720" marT="27432" marB="27432">
                    <a:solidFill>
                      <a:srgbClr val="F2F5F9"/>
                    </a:solidFill>
                  </a:tcPr>
                </a:tc>
                <a:tc>
                  <a:txBody>
                    <a:bodyPr/>
                    <a:lstStyle/>
                    <a:p>
                      <a:pPr algn="l"/>
                      <a:r>
                        <a:rPr sz="1400" b="0"/>
                        <a:t>Papineni et al. (2002)</a:t>
                      </a:r>
                    </a:p>
                  </a:txBody>
                  <a:tcPr marL="45720" marR="45720" marT="27432" marB="27432">
                    <a:solidFill>
                      <a:srgbClr val="F2F5F9"/>
                    </a:solidFill>
                  </a:tcPr>
                </a:tc>
                <a:tc>
                  <a:txBody>
                    <a:bodyPr/>
                    <a:lstStyle/>
                    <a:p>
                      <a:pPr algn="l"/>
                      <a:r>
                        <a:rPr sz="1400" b="0" dirty="0"/>
                        <a:t>BLEU metric for MT evaluation</a:t>
                      </a:r>
                    </a:p>
                  </a:txBody>
                  <a:tcPr marL="45720" marR="45720" marT="27432" marB="27432">
                    <a:solidFill>
                      <a:srgbClr val="F2F5F9"/>
                    </a:solidFill>
                  </a:tcPr>
                </a:tc>
                <a:tc>
                  <a:txBody>
                    <a:bodyPr/>
                    <a:lstStyle/>
                    <a:p>
                      <a:pPr algn="l"/>
                      <a:r>
                        <a:rPr sz="1400" b="0" dirty="0"/>
                        <a:t>n/a (metric paper)</a:t>
                      </a:r>
                    </a:p>
                  </a:txBody>
                  <a:tcPr marL="45720" marR="45720" marT="27432" marB="27432">
                    <a:solidFill>
                      <a:srgbClr val="F2F5F9"/>
                    </a:solidFill>
                  </a:tcPr>
                </a:tc>
                <a:tc>
                  <a:txBody>
                    <a:bodyPr/>
                    <a:lstStyle/>
                    <a:p>
                      <a:pPr algn="l"/>
                      <a:r>
                        <a:rPr sz="1400" b="0"/>
                        <a:t>n-gram precision-based automated metric</a:t>
                      </a:r>
                    </a:p>
                  </a:txBody>
                  <a:tcPr marL="45720" marR="45720" marT="27432" marB="27432">
                    <a:solidFill>
                      <a:srgbClr val="F2F5F9"/>
                    </a:solidFill>
                  </a:tcPr>
                </a:tc>
                <a:tc>
                  <a:txBody>
                    <a:bodyPr/>
                    <a:lstStyle/>
                    <a:p>
                      <a:pPr algn="l"/>
                      <a:r>
                        <a:rPr sz="1400" b="0"/>
                        <a:t>Planned automated metric for the rewriter</a:t>
                      </a:r>
                    </a:p>
                  </a:txBody>
                  <a:tcPr marL="45720" marR="45720" marT="27432" marB="27432">
                    <a:solidFill>
                      <a:srgbClr val="F2F5F9"/>
                    </a:solidFill>
                  </a:tcPr>
                </a:tc>
                <a:extLst>
                  <a:ext uri="{0D108BD9-81ED-4DB2-BD59-A6C34878D82A}">
                    <a16:rowId xmlns:a16="http://schemas.microsoft.com/office/drawing/2014/main" val="10002"/>
                  </a:ext>
                </a:extLst>
              </a:tr>
              <a:tr h="607422">
                <a:tc>
                  <a:txBody>
                    <a:bodyPr/>
                    <a:lstStyle/>
                    <a:p>
                      <a:pPr algn="ctr"/>
                      <a:r>
                        <a:rPr sz="1400" b="1"/>
                        <a:t>31</a:t>
                      </a:r>
                    </a:p>
                  </a:txBody>
                  <a:tcPr marL="45720" marR="45720" marT="27432" marB="27432"/>
                </a:tc>
                <a:tc>
                  <a:txBody>
                    <a:bodyPr/>
                    <a:lstStyle/>
                    <a:p>
                      <a:pPr algn="l"/>
                      <a:r>
                        <a:rPr sz="1400" b="0"/>
                        <a:t>Lin (2004)</a:t>
                      </a:r>
                    </a:p>
                  </a:txBody>
                  <a:tcPr marL="45720" marR="45720" marT="27432" marB="27432"/>
                </a:tc>
                <a:tc>
                  <a:txBody>
                    <a:bodyPr/>
                    <a:lstStyle/>
                    <a:p>
                      <a:pPr algn="l"/>
                      <a:r>
                        <a:rPr sz="1400" b="0"/>
                        <a:t>ROUGE metric for summary evaluation</a:t>
                      </a:r>
                    </a:p>
                  </a:txBody>
                  <a:tcPr marL="45720" marR="45720" marT="27432" marB="27432"/>
                </a:tc>
                <a:tc>
                  <a:txBody>
                    <a:bodyPr/>
                    <a:lstStyle/>
                    <a:p>
                      <a:pPr algn="l"/>
                      <a:r>
                        <a:rPr sz="1400" b="0" dirty="0"/>
                        <a:t>n/a (metric paper)</a:t>
                      </a:r>
                    </a:p>
                  </a:txBody>
                  <a:tcPr marL="45720" marR="45720" marT="27432" marB="27432"/>
                </a:tc>
                <a:tc>
                  <a:txBody>
                    <a:bodyPr/>
                    <a:lstStyle/>
                    <a:p>
                      <a:pPr algn="l"/>
                      <a:r>
                        <a:rPr sz="1400" b="0"/>
                        <a:t>Recall-oriented automated metric</a:t>
                      </a:r>
                    </a:p>
                  </a:txBody>
                  <a:tcPr marL="45720" marR="45720" marT="27432" marB="27432"/>
                </a:tc>
                <a:tc>
                  <a:txBody>
                    <a:bodyPr/>
                    <a:lstStyle/>
                    <a:p>
                      <a:pPr algn="l"/>
                      <a:r>
                        <a:rPr sz="1400" b="0"/>
                        <a:t>Planned automated metric for the rewriter</a:t>
                      </a:r>
                    </a:p>
                  </a:txBody>
                  <a:tcPr marL="45720" marR="45720" marT="27432" marB="27432"/>
                </a:tc>
                <a:extLst>
                  <a:ext uri="{0D108BD9-81ED-4DB2-BD59-A6C34878D82A}">
                    <a16:rowId xmlns:a16="http://schemas.microsoft.com/office/drawing/2014/main" val="10003"/>
                  </a:ext>
                </a:extLst>
              </a:tr>
              <a:tr h="607422">
                <a:tc>
                  <a:txBody>
                    <a:bodyPr/>
                    <a:lstStyle/>
                    <a:p>
                      <a:pPr algn="ctr"/>
                      <a:r>
                        <a:rPr sz="1400" b="1"/>
                        <a:t>32</a:t>
                      </a:r>
                    </a:p>
                  </a:txBody>
                  <a:tcPr marL="45720" marR="45720" marT="27432" marB="27432">
                    <a:solidFill>
                      <a:srgbClr val="F2F5F9"/>
                    </a:solidFill>
                  </a:tcPr>
                </a:tc>
                <a:tc>
                  <a:txBody>
                    <a:bodyPr/>
                    <a:lstStyle/>
                    <a:p>
                      <a:pPr algn="l"/>
                      <a:r>
                        <a:rPr sz="1400" b="0"/>
                        <a:t>Abadi et al. (2015)</a:t>
                      </a:r>
                    </a:p>
                  </a:txBody>
                  <a:tcPr marL="45720" marR="45720" marT="27432" marB="27432">
                    <a:solidFill>
                      <a:srgbClr val="F2F5F9"/>
                    </a:solidFill>
                  </a:tcPr>
                </a:tc>
                <a:tc>
                  <a:txBody>
                    <a:bodyPr/>
                    <a:lstStyle/>
                    <a:p>
                      <a:pPr algn="l"/>
                      <a:r>
                        <a:rPr sz="1400" b="0"/>
                        <a:t>TensorFlow framework</a:t>
                      </a:r>
                    </a:p>
                  </a:txBody>
                  <a:tcPr marL="45720" marR="45720" marT="27432" marB="27432">
                    <a:solidFill>
                      <a:srgbClr val="F2F5F9"/>
                    </a:solidFill>
                  </a:tcPr>
                </a:tc>
                <a:tc>
                  <a:txBody>
                    <a:bodyPr/>
                    <a:lstStyle/>
                    <a:p>
                      <a:pPr algn="l"/>
                      <a:r>
                        <a:rPr sz="1400" b="0" dirty="0"/>
                        <a:t>n/a (framework paper)</a:t>
                      </a:r>
                    </a:p>
                  </a:txBody>
                  <a:tcPr marL="45720" marR="45720" marT="27432" marB="27432">
                    <a:solidFill>
                      <a:srgbClr val="F2F5F9"/>
                    </a:solidFill>
                  </a:tcPr>
                </a:tc>
                <a:tc>
                  <a:txBody>
                    <a:bodyPr/>
                    <a:lstStyle/>
                    <a:p>
                      <a:pPr algn="l"/>
                      <a:r>
                        <a:rPr sz="1400" b="0" dirty="0"/>
                        <a:t>Large-scale ML framework</a:t>
                      </a:r>
                    </a:p>
                  </a:txBody>
                  <a:tcPr marL="45720" marR="45720" marT="27432" marB="27432">
                    <a:solidFill>
                      <a:srgbClr val="F2F5F9"/>
                    </a:solidFill>
                  </a:tcPr>
                </a:tc>
                <a:tc>
                  <a:txBody>
                    <a:bodyPr/>
                    <a:lstStyle/>
                    <a:p>
                      <a:pPr algn="l"/>
                      <a:r>
                        <a:rPr sz="1400" b="0"/>
                        <a:t>Reference framework (we use PyTorch via Transformers)</a:t>
                      </a:r>
                    </a:p>
                  </a:txBody>
                  <a:tcPr marL="45720" marR="45720" marT="27432" marB="27432">
                    <a:solidFill>
                      <a:srgbClr val="F2F5F9"/>
                    </a:solidFill>
                  </a:tcPr>
                </a:tc>
                <a:extLst>
                  <a:ext uri="{0D108BD9-81ED-4DB2-BD59-A6C34878D82A}">
                    <a16:rowId xmlns:a16="http://schemas.microsoft.com/office/drawing/2014/main" val="10004"/>
                  </a:ext>
                </a:extLst>
              </a:tr>
              <a:tr h="607422">
                <a:tc>
                  <a:txBody>
                    <a:bodyPr/>
                    <a:lstStyle/>
                    <a:p>
                      <a:pPr algn="ctr"/>
                      <a:r>
                        <a:rPr sz="1400" b="1"/>
                        <a:t>33</a:t>
                      </a:r>
                    </a:p>
                  </a:txBody>
                  <a:tcPr marL="45720" marR="45720" marT="27432" marB="27432"/>
                </a:tc>
                <a:tc>
                  <a:txBody>
                    <a:bodyPr/>
                    <a:lstStyle/>
                    <a:p>
                      <a:pPr algn="l"/>
                      <a:r>
                        <a:rPr sz="1400" b="0"/>
                        <a:t>Chalkidis et al. (2021)</a:t>
                      </a:r>
                    </a:p>
                  </a:txBody>
                  <a:tcPr marL="45720" marR="45720" marT="27432" marB="27432"/>
                </a:tc>
                <a:tc>
                  <a:txBody>
                    <a:bodyPr/>
                    <a:lstStyle/>
                    <a:p>
                      <a:pPr algn="l"/>
                      <a:r>
                        <a:rPr sz="1400" b="0"/>
                        <a:t>LexGLUE benchmark suite</a:t>
                      </a:r>
                    </a:p>
                  </a:txBody>
                  <a:tcPr marL="45720" marR="45720" marT="27432" marB="27432"/>
                </a:tc>
                <a:tc>
                  <a:txBody>
                    <a:bodyPr/>
                    <a:lstStyle/>
                    <a:p>
                      <a:pPr algn="l"/>
                      <a:r>
                        <a:rPr sz="1400" b="0"/>
                        <a:t>Aggregated legal-NLP datasets</a:t>
                      </a:r>
                    </a:p>
                  </a:txBody>
                  <a:tcPr marL="45720" marR="45720" marT="27432" marB="27432"/>
                </a:tc>
                <a:tc>
                  <a:txBody>
                    <a:bodyPr/>
                    <a:lstStyle/>
                    <a:p>
                      <a:pPr algn="l"/>
                      <a:r>
                        <a:rPr sz="1400" b="0" dirty="0"/>
                        <a:t>Benchmark for legal language understanding in English</a:t>
                      </a:r>
                    </a:p>
                  </a:txBody>
                  <a:tcPr marL="45720" marR="45720" marT="27432" marB="27432"/>
                </a:tc>
                <a:tc>
                  <a:txBody>
                    <a:bodyPr/>
                    <a:lstStyle/>
                    <a:p>
                      <a:pPr algn="l"/>
                      <a:r>
                        <a:rPr sz="1400" b="0"/>
                        <a:t>Supplementary evaluation target</a:t>
                      </a:r>
                    </a:p>
                  </a:txBody>
                  <a:tcPr marL="45720" marR="45720" marT="27432" marB="27432"/>
                </a:tc>
                <a:extLst>
                  <a:ext uri="{0D108BD9-81ED-4DB2-BD59-A6C34878D82A}">
                    <a16:rowId xmlns:a16="http://schemas.microsoft.com/office/drawing/2014/main" val="10005"/>
                  </a:ext>
                </a:extLst>
              </a:tr>
              <a:tr h="607422">
                <a:tc>
                  <a:txBody>
                    <a:bodyPr/>
                    <a:lstStyle/>
                    <a:p>
                      <a:pPr algn="ctr"/>
                      <a:r>
                        <a:rPr sz="1400" b="1"/>
                        <a:t>34</a:t>
                      </a:r>
                    </a:p>
                  </a:txBody>
                  <a:tcPr marL="45720" marR="45720" marT="27432" marB="27432">
                    <a:solidFill>
                      <a:srgbClr val="F2F5F9"/>
                    </a:solidFill>
                  </a:tcPr>
                </a:tc>
                <a:tc>
                  <a:txBody>
                    <a:bodyPr/>
                    <a:lstStyle/>
                    <a:p>
                      <a:pPr algn="l"/>
                      <a:r>
                        <a:rPr sz="1400" b="0"/>
                        <a:t>LEDGAR Dataset (2020)</a:t>
                      </a:r>
                    </a:p>
                  </a:txBody>
                  <a:tcPr marL="45720" marR="45720" marT="27432" marB="27432">
                    <a:solidFill>
                      <a:srgbClr val="F2F5F9"/>
                    </a:solidFill>
                  </a:tcPr>
                </a:tc>
                <a:tc>
                  <a:txBody>
                    <a:bodyPr/>
                    <a:lstStyle/>
                    <a:p>
                      <a:pPr algn="l"/>
                      <a:r>
                        <a:rPr sz="1400" b="0"/>
                        <a:t>Large-scale multi-label contract classification (LEDGAR)</a:t>
                      </a:r>
                    </a:p>
                  </a:txBody>
                  <a:tcPr marL="45720" marR="45720" marT="27432" marB="27432">
                    <a:solidFill>
                      <a:srgbClr val="F2F5F9"/>
                    </a:solidFill>
                  </a:tcPr>
                </a:tc>
                <a:tc>
                  <a:txBody>
                    <a:bodyPr/>
                    <a:lstStyle/>
                    <a:p>
                      <a:pPr algn="l"/>
                      <a:r>
                        <a:rPr sz="1400" b="0"/>
                        <a:t>Contract provisions from regulatory filings</a:t>
                      </a:r>
                    </a:p>
                  </a:txBody>
                  <a:tcPr marL="45720" marR="45720" marT="27432" marB="27432">
                    <a:solidFill>
                      <a:srgbClr val="F2F5F9"/>
                    </a:solidFill>
                  </a:tcPr>
                </a:tc>
                <a:tc>
                  <a:txBody>
                    <a:bodyPr/>
                    <a:lstStyle/>
                    <a:p>
                      <a:pPr algn="l"/>
                      <a:r>
                        <a:rPr sz="1400" b="0" dirty="0"/>
                        <a:t>Large-scale provisions corpus</a:t>
                      </a:r>
                    </a:p>
                  </a:txBody>
                  <a:tcPr marL="45720" marR="45720" marT="27432" marB="27432">
                    <a:solidFill>
                      <a:srgbClr val="F2F5F9"/>
                    </a:solidFill>
                  </a:tcPr>
                </a:tc>
                <a:tc>
                  <a:txBody>
                    <a:bodyPr/>
                    <a:lstStyle/>
                    <a:p>
                      <a:pPr algn="l"/>
                      <a:r>
                        <a:rPr sz="1400" b="0" dirty="0"/>
                        <a:t>Supplementary training data for the classifier</a:t>
                      </a:r>
                    </a:p>
                  </a:txBody>
                  <a:tcPr marL="45720" marR="45720" marT="27432" marB="27432">
                    <a:solidFill>
                      <a:srgbClr val="F2F5F9"/>
                    </a:solidFill>
                  </a:tcPr>
                </a:tc>
                <a:extLst>
                  <a:ext uri="{0D108BD9-81ED-4DB2-BD59-A6C34878D82A}">
                    <a16:rowId xmlns:a16="http://schemas.microsoft.com/office/drawing/2014/main" val="10006"/>
                  </a:ext>
                </a:extLst>
              </a:tr>
              <a:tr h="607422">
                <a:tc>
                  <a:txBody>
                    <a:bodyPr/>
                    <a:lstStyle/>
                    <a:p>
                      <a:pPr algn="ctr"/>
                      <a:r>
                        <a:rPr sz="1400" b="1"/>
                        <a:t>35</a:t>
                      </a:r>
                    </a:p>
                  </a:txBody>
                  <a:tcPr marL="45720" marR="45720" marT="27432" marB="27432"/>
                </a:tc>
                <a:tc>
                  <a:txBody>
                    <a:bodyPr/>
                    <a:lstStyle/>
                    <a:p>
                      <a:pPr algn="l"/>
                      <a:r>
                        <a:rPr sz="1400" b="0"/>
                        <a:t>Vuthoo, Khetarpaul &amp; Mishra (2026)</a:t>
                      </a:r>
                    </a:p>
                  </a:txBody>
                  <a:tcPr marL="45720" marR="45720" marT="27432" marB="27432"/>
                </a:tc>
                <a:tc>
                  <a:txBody>
                    <a:bodyPr/>
                    <a:lstStyle/>
                    <a:p>
                      <a:pPr algn="l"/>
                      <a:r>
                        <a:rPr sz="1400" b="0"/>
                        <a:t>Efficient clause identification using NLP + web-sourced data</a:t>
                      </a:r>
                    </a:p>
                  </a:txBody>
                  <a:tcPr marL="45720" marR="45720" marT="27432" marB="27432"/>
                </a:tc>
                <a:tc>
                  <a:txBody>
                    <a:bodyPr/>
                    <a:lstStyle/>
                    <a:p>
                      <a:pPr algn="l"/>
                      <a:r>
                        <a:rPr sz="1400" b="0"/>
                        <a:t>Contract corpora with web augmentation</a:t>
                      </a:r>
                    </a:p>
                  </a:txBody>
                  <a:tcPr marL="45720" marR="45720" marT="27432" marB="27432"/>
                </a:tc>
                <a:tc>
                  <a:txBody>
                    <a:bodyPr/>
                    <a:lstStyle/>
                    <a:p>
                      <a:pPr algn="l"/>
                      <a:r>
                        <a:rPr sz="1400" b="0"/>
                        <a:t>Methodology for scalable clause identification</a:t>
                      </a:r>
                    </a:p>
                  </a:txBody>
                  <a:tcPr marL="45720" marR="45720" marT="27432" marB="27432"/>
                </a:tc>
                <a:tc>
                  <a:txBody>
                    <a:bodyPr/>
                    <a:lstStyle/>
                    <a:p>
                      <a:pPr algn="l"/>
                      <a:r>
                        <a:rPr sz="1400" b="0" dirty="0"/>
                        <a:t>Methodology relevant to our segmentation stage</a:t>
                      </a:r>
                    </a:p>
                  </a:txBody>
                  <a:tcPr marL="45720" marR="45720" marT="27432" marB="27432"/>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2D5A-4CC1-899E-C2B2-ECAB4565891A}"/>
              </a:ext>
            </a:extLst>
          </p:cNvPr>
          <p:cNvSpPr>
            <a:spLocks noGrp="1"/>
          </p:cNvSpPr>
          <p:nvPr>
            <p:ph type="title"/>
          </p:nvPr>
        </p:nvSpPr>
        <p:spPr/>
        <p:txBody>
          <a:bodyPr>
            <a:normAutofit/>
          </a:bodyPr>
          <a:lstStyle/>
          <a:p>
            <a:r>
              <a:rPr lang="en-IN" dirty="0"/>
              <a:t>Research Gap &amp; Improvements</a:t>
            </a:r>
          </a:p>
        </p:txBody>
      </p:sp>
      <p:sp>
        <p:nvSpPr>
          <p:cNvPr id="7" name="Content Placeholder 6">
            <a:extLst>
              <a:ext uri="{FF2B5EF4-FFF2-40B4-BE49-F238E27FC236}">
                <a16:creationId xmlns:a16="http://schemas.microsoft.com/office/drawing/2014/main" id="{B9F19B8C-A9D7-3EFD-B53B-91EA2A10FA90}"/>
              </a:ext>
            </a:extLst>
          </p:cNvPr>
          <p:cNvSpPr>
            <a:spLocks noGrp="1"/>
          </p:cNvSpPr>
          <p:nvPr>
            <p:ph idx="1"/>
          </p:nvPr>
        </p:nvSpPr>
        <p:spPr/>
        <p:txBody>
          <a:bodyPr wrap="square">
            <a:normAutofit/>
          </a:bodyPr>
          <a:lstStyle/>
          <a:p>
            <a:pPr algn="just">
              <a:spcAft>
                <a:spcPts val="300"/>
              </a:spcAft>
            </a:pPr>
            <a:r>
              <a:rPr sz="1300" b="1">
                <a:solidFill>
                  <a:srgbClr val="1A3260"/>
                </a:solidFill>
              </a:rPr>
              <a:t>1.  Fragmentation of capability — </a:t>
            </a:r>
            <a:r>
              <a:rPr sz="1300" b="0"/>
              <a:t>existing tools each solve only one sub-task. Classification benchmarks (CUAD [11], LEDGAR [34], LexGLUE [33]), text-simplification systems (Cemri et al. [17]; legal-contract simplification [18]) and unfair-clause detectors (CLAUDETTE — Lippi et al. [21]) are each built and evaluated in isolation — yet a non-expert reader needs all of them at once.</a:t>
            </a:r>
            <a:endParaRPr lang="en-IN" sz="1600" dirty="0"/>
          </a:p>
          <a:p>
            <a:pPr>
              <a:spcAft>
                <a:spcPts val="1100"/>
              </a:spcAft>
            </a:pPr>
            <a:r>
              <a:rPr sz="1300" b="1">
                <a:solidFill>
                  <a:srgbClr val="1A3260"/>
                </a:solidFill>
              </a:rPr>
              <a:t>Our improvement — </a:t>
            </a:r>
            <a:r>
              <a:rPr sz="1300" b="0"/>
              <a:t>one integrated, clause-level pipeline joining classification, entity extraction, rewriting and risk flagging through a single JSON contract.</a:t>
            </a:r>
          </a:p>
          <a:p>
            <a:pPr>
              <a:spcAft>
                <a:spcPts val="300"/>
              </a:spcAft>
            </a:pPr>
            <a:r>
              <a:rPr sz="1300" b="1">
                <a:solidFill>
                  <a:srgbClr val="1A3260"/>
                </a:solidFill>
              </a:rPr>
              <a:t>2.  Summarisation is not comprehension — </a:t>
            </a:r>
            <a:r>
              <a:rPr sz="1300" b="0"/>
              <a:t>most consumer-facing work (e.g. Manor &amp; Li [20]) produces only a shorter version of a document. Shortening text the reader still cannot interpret does not, by itself, create understanding.</a:t>
            </a:r>
          </a:p>
          <a:p>
            <a:pPr>
              <a:spcAft>
                <a:spcPts val="1100"/>
              </a:spcAft>
            </a:pPr>
            <a:r>
              <a:rPr sz="1300" b="1">
                <a:solidFill>
                  <a:srgbClr val="1A3260"/>
                </a:solidFill>
              </a:rPr>
              <a:t>Our improvement — </a:t>
            </a:r>
            <a:r>
              <a:rPr sz="1300" b="0"/>
              <a:t>genuine clause-by-clause explanation: each clause is classified, rewritten in plain language and risk-rated, not merely abbreviated.</a:t>
            </a:r>
          </a:p>
          <a:p>
            <a:pPr>
              <a:spcAft>
                <a:spcPts val="300"/>
              </a:spcAft>
            </a:pPr>
            <a:r>
              <a:rPr sz="1300" b="1">
                <a:solidFill>
                  <a:srgbClr val="1A3260"/>
                </a:solidFill>
              </a:rPr>
              <a:t>3.  Opaque risk assessment — </a:t>
            </a:r>
            <a:r>
              <a:rPr sz="1300" b="0"/>
              <a:t>several unfair-clause detectors are neural and opaque (Ruas et al. [22]; B2C abusive-clause detector [23]; chain-of-thought LLM prompting [24]), so the user cannot see why a clause was flagged.</a:t>
            </a:r>
          </a:p>
          <a:p>
            <a:pPr>
              <a:spcAft>
                <a:spcPts val="200"/>
              </a:spcAft>
            </a:pPr>
            <a:r>
              <a:rPr sz="1300" b="1">
                <a:solidFill>
                  <a:srgbClr val="1A3260"/>
                </a:solidFill>
              </a:rPr>
              <a:t>Our improvement — </a:t>
            </a:r>
            <a:r>
              <a:rPr sz="1300" b="0"/>
              <a:t>a deterministic three-layer rule-based risk engine in which every trigger is named and inspectable.</a:t>
            </a:r>
          </a:p>
        </p:txBody>
      </p:sp>
      <p:sp>
        <p:nvSpPr>
          <p:cNvPr id="4" name="Date Placeholder 3">
            <a:extLst>
              <a:ext uri="{FF2B5EF4-FFF2-40B4-BE49-F238E27FC236}">
                <a16:creationId xmlns:a16="http://schemas.microsoft.com/office/drawing/2014/main" id="{C137C721-CBB6-E115-9B8A-603FCE4CE40A}"/>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9E009615-AC16-ADD1-B9F7-EBFA6EC1798E}"/>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D25E9137-B570-9F99-3E80-F3FB070054D5}"/>
              </a:ext>
            </a:extLst>
          </p:cNvPr>
          <p:cNvSpPr>
            <a:spLocks noGrp="1"/>
          </p:cNvSpPr>
          <p:nvPr>
            <p:ph type="sldNum" sz="quarter" idx="12"/>
          </p:nvPr>
        </p:nvSpPr>
        <p:spPr/>
        <p:txBody>
          <a:bodyPr/>
          <a:lstStyle/>
          <a:p>
            <a:r>
              <a:t>12</a:t>
            </a:r>
          </a:p>
        </p:txBody>
      </p:sp>
    </p:spTree>
    <p:extLst>
      <p:ext uri="{BB962C8B-B14F-4D97-AF65-F5344CB8AC3E}">
        <p14:creationId xmlns:p14="http://schemas.microsoft.com/office/powerpoint/2010/main" val="1901347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A1CC6-4242-C511-5C00-562F84E68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3382B-0AD0-28BC-DCD8-F299E41B887D}"/>
              </a:ext>
            </a:extLst>
          </p:cNvPr>
          <p:cNvSpPr>
            <a:spLocks noGrp="1"/>
          </p:cNvSpPr>
          <p:nvPr>
            <p:ph type="title"/>
          </p:nvPr>
        </p:nvSpPr>
        <p:spPr/>
        <p:txBody>
          <a:bodyPr/>
          <a:lstStyle/>
          <a:p>
            <a:r>
              <a:rPr lang="en-IN" dirty="0"/>
              <a:t>Proposed Solution &amp; Architecture</a:t>
            </a:r>
          </a:p>
        </p:txBody>
      </p:sp>
      <p:sp>
        <p:nvSpPr>
          <p:cNvPr id="4" name="Date Placeholder 3">
            <a:extLst>
              <a:ext uri="{FF2B5EF4-FFF2-40B4-BE49-F238E27FC236}">
                <a16:creationId xmlns:a16="http://schemas.microsoft.com/office/drawing/2014/main" id="{9B2E86B6-416B-B50E-E96C-9AA6998601EC}"/>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0F0C20E3-97B4-A75F-835E-B6104DC057A6}"/>
              </a:ext>
            </a:extLst>
          </p:cNvPr>
          <p:cNvSpPr>
            <a:spLocks noGrp="1"/>
          </p:cNvSpPr>
          <p:nvPr>
            <p:ph type="ftr" sz="quarter" idx="11"/>
          </p:nvPr>
        </p:nvSpPr>
        <p:spPr/>
        <p:txBody>
          <a:bodyPr/>
          <a:lstStyle/>
          <a:p>
            <a:r>
              <a:rPr lang="en-US" sz="1600" dirty="0"/>
              <a:t>URP 4301 - Capstone Year Research Project</a:t>
            </a:r>
          </a:p>
        </p:txBody>
      </p:sp>
      <p:sp>
        <p:nvSpPr>
          <p:cNvPr id="6" name="Slide Number Placeholder 5">
            <a:extLst>
              <a:ext uri="{FF2B5EF4-FFF2-40B4-BE49-F238E27FC236}">
                <a16:creationId xmlns:a16="http://schemas.microsoft.com/office/drawing/2014/main" id="{E738F063-ACF1-EC40-D86E-0A5076AF9C67}"/>
              </a:ext>
            </a:extLst>
          </p:cNvPr>
          <p:cNvSpPr>
            <a:spLocks noGrp="1"/>
          </p:cNvSpPr>
          <p:nvPr>
            <p:ph type="sldNum" sz="quarter" idx="12"/>
          </p:nvPr>
        </p:nvSpPr>
        <p:spPr/>
        <p:txBody>
          <a:bodyPr/>
          <a:lstStyle/>
          <a:p>
            <a:r>
              <a:t>13</a:t>
            </a:r>
          </a:p>
        </p:txBody>
      </p:sp>
      <p:sp>
        <p:nvSpPr>
          <p:cNvPr id="11" name="TextBox 10"/>
          <p:cNvSpPr txBox="1"/>
          <p:nvPr/>
        </p:nvSpPr>
        <p:spPr>
          <a:xfrm>
            <a:off x="265176" y="1335024"/>
            <a:ext cx="4617720" cy="4892040"/>
          </a:xfrm>
          <a:prstGeom prst="rect">
            <a:avLst/>
          </a:prstGeom>
          <a:noFill/>
        </p:spPr>
        <p:txBody>
          <a:bodyPr wrap="square">
            <a:spAutoFit/>
          </a:bodyPr>
          <a:lstStyle/>
          <a:p>
            <a:pPr algn="just">
              <a:spcAft>
                <a:spcPts val="600"/>
              </a:spcAft>
              <a:buNone/>
            </a:pPr>
            <a:r>
              <a:rPr sz="1200" b="1">
                <a:solidFill>
                  <a:srgbClr val="1A3260"/>
                </a:solidFill>
              </a:rPr>
              <a:t>•  </a:t>
            </a:r>
            <a:r>
              <a:rPr sz="1200" b="0"/>
              <a:t>The system is two cooperating services that exchange data over a stable, versioned HTTP / JSON contract (the /v1/analyze and /v1/health endpoints).</a:t>
            </a:r>
          </a:p>
          <a:p>
            <a:pPr>
              <a:spcAft>
                <a:spcPts val="600"/>
              </a:spcAft>
              <a:buNone/>
            </a:pPr>
            <a:r>
              <a:rPr sz="1200" b="1">
                <a:solidFill>
                  <a:srgbClr val="1A3260"/>
                </a:solidFill>
              </a:rPr>
              <a:t>•  </a:t>
            </a:r>
            <a:r>
              <a:rPr sz="1200" b="0"/>
              <a:t>The Next.js 15 web application owns everything the user touches — the dashboard, Auth.js v5 login, document upload, MongoDB persistence and orchestration.</a:t>
            </a:r>
          </a:p>
          <a:p>
            <a:pPr>
              <a:spcAft>
                <a:spcPts val="600"/>
              </a:spcAft>
              <a:buNone/>
            </a:pPr>
            <a:r>
              <a:rPr sz="1200" b="1">
                <a:solidFill>
                  <a:srgbClr val="1A3260"/>
                </a:solidFill>
              </a:rPr>
              <a:t>•  </a:t>
            </a:r>
            <a:r>
              <a:rPr sz="1200" b="0"/>
              <a:t>The FastAPI service (Python 3.11) owns all NLP and machine-learning inference; the web application never runs a model itself.</a:t>
            </a:r>
          </a:p>
          <a:p>
            <a:pPr>
              <a:spcAft>
                <a:spcPts val="600"/>
              </a:spcAft>
              <a:buNone/>
            </a:pPr>
            <a:r>
              <a:rPr sz="1200" b="1">
                <a:solidFill>
                  <a:srgbClr val="1A3260"/>
                </a:solidFill>
              </a:rPr>
              <a:t>•  </a:t>
            </a:r>
            <a:r>
              <a:rPr sz="1200" b="0"/>
              <a:t>For each document the ML service runs six stages in order: it ingests and normalises the text, then segments it into clauses, and then processes every clause in turn — classifying it, extracting its entities, rewriting it in plain language and assigning a risk level.</a:t>
            </a:r>
          </a:p>
          <a:p>
            <a:pPr>
              <a:spcAft>
                <a:spcPts val="600"/>
              </a:spcAft>
              <a:buNone/>
            </a:pPr>
            <a:r>
              <a:rPr sz="1200" b="1">
                <a:solidFill>
                  <a:srgbClr val="1A3260"/>
                </a:solidFill>
              </a:rPr>
              <a:t>•  </a:t>
            </a:r>
            <a:r>
              <a:rPr sz="1200" b="0"/>
              <a:t>The structured JSON result is stored in MongoDB Atlas, which holds the users, documents, analyses and clauses.</a:t>
            </a:r>
          </a:p>
          <a:p>
            <a:pPr>
              <a:spcAft>
                <a:spcPts val="600"/>
              </a:spcAft>
              <a:buNone/>
            </a:pPr>
            <a:r>
              <a:rPr sz="1200" b="1">
                <a:solidFill>
                  <a:srgbClr val="1A3260"/>
                </a:solidFill>
              </a:rPr>
              <a:t>•  </a:t>
            </a:r>
            <a:r>
              <a:rPr sz="1200" b="0"/>
              <a:t>Digital-PDF text is extracted in the browser with pdf.js; scanned PDFs are routed to server-side OCR before analysis.</a:t>
            </a:r>
          </a:p>
          <a:p>
            <a:pPr>
              <a:spcAft>
                <a:spcPts val="600"/>
              </a:spcAft>
              <a:buNone/>
            </a:pPr>
            <a:r>
              <a:rPr sz="1200" b="1">
                <a:solidFill>
                  <a:srgbClr val="1A3260"/>
                </a:solidFill>
              </a:rPr>
              <a:t>•  </a:t>
            </a:r>
            <a:r>
              <a:rPr sz="1200" b="0"/>
              <a:t>The split is deliberate: serverless platforms cap the bundle size below the model size and JavaScript inference is slower, while a self-hosted service avoids the cold starts and rate limits of hosted APIs.</a:t>
            </a:r>
          </a:p>
        </p:txBody>
      </p:sp>
      <p:pic>
        <p:nvPicPr>
          <p:cNvPr id="12" name="Picture 11" descr="architecture_diagram.png"/>
          <p:cNvPicPr>
            <a:picLocks noChangeAspect="1"/>
          </p:cNvPicPr>
          <p:nvPr/>
        </p:nvPicPr>
        <p:blipFill>
          <a:blip r:embed="rId4"/>
          <a:stretch>
            <a:fillRect/>
          </a:stretch>
        </p:blipFill>
        <p:spPr>
          <a:xfrm>
            <a:off x="5138928" y="1417320"/>
            <a:ext cx="6583680" cy="4877248"/>
          </a:xfrm>
          <a:prstGeom prst="rect">
            <a:avLst/>
          </a:prstGeom>
        </p:spPr>
      </p:pic>
    </p:spTree>
    <p:extLst>
      <p:ext uri="{BB962C8B-B14F-4D97-AF65-F5344CB8AC3E}">
        <p14:creationId xmlns:p14="http://schemas.microsoft.com/office/powerpoint/2010/main" val="4091407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C7F74-205B-63C5-D428-510BE38011F2}"/>
              </a:ext>
            </a:extLst>
          </p:cNvPr>
          <p:cNvSpPr>
            <a:spLocks noGrp="1"/>
          </p:cNvSpPr>
          <p:nvPr>
            <p:ph type="title"/>
          </p:nvPr>
        </p:nvSpPr>
        <p:spPr/>
        <p:txBody>
          <a:bodyPr/>
          <a:lstStyle/>
          <a:p>
            <a:r>
              <a:rPr lang="en-IN" dirty="0"/>
              <a:t>Dataset Description</a:t>
            </a:r>
          </a:p>
        </p:txBody>
      </p:sp>
      <p:sp>
        <p:nvSpPr>
          <p:cNvPr id="8" name="Content Placeholder 7">
            <a:extLst>
              <a:ext uri="{FF2B5EF4-FFF2-40B4-BE49-F238E27FC236}">
                <a16:creationId xmlns:a16="http://schemas.microsoft.com/office/drawing/2014/main" id="{4AEC24E8-8F64-3698-E13E-A765CD8BE576}"/>
              </a:ext>
            </a:extLst>
          </p:cNvPr>
          <p:cNvSpPr>
            <a:spLocks noGrp="1"/>
          </p:cNvSpPr>
          <p:nvPr>
            <p:ph idx="1"/>
          </p:nvPr>
        </p:nvSpPr>
        <p:spPr/>
        <p:txBody>
          <a:bodyPr wrap="square">
            <a:normAutofit/>
          </a:bodyPr>
          <a:lstStyle/>
          <a:p>
            <a:pPr>
              <a:spcAft>
                <a:spcPts val="600"/>
              </a:spcAft>
            </a:pPr>
            <a:r>
              <a:rPr sz="1800" b="1">
                <a:solidFill>
                  <a:srgbClr val="1A3260"/>
                </a:solidFill>
              </a:rPr>
              <a:t>Primary source — </a:t>
            </a:r>
            <a:r>
              <a:rPr sz="1800" b="0"/>
              <a:t>CUAD (Contract Understanding Atticus Dataset), Hendrycks et al., NeurIPS 2021, created by The Atticus Project.</a:t>
            </a:r>
            <a:endParaRPr lang="en-IN" sz="1600" dirty="0"/>
          </a:p>
          <a:p>
            <a:pPr>
              <a:spcAft>
                <a:spcPts val="600"/>
              </a:spcAft>
            </a:pPr>
            <a:r>
              <a:rPr sz="1800" b="1">
                <a:solidFill>
                  <a:srgbClr val="1A3260"/>
                </a:solidFill>
              </a:rPr>
              <a:t>Downloaded from — </a:t>
            </a:r>
            <a:r>
              <a:rPr sz="1800" b="0"/>
              <a:t>the official Atticus Project release on GitHub, github.com/TheAtticusProject/cuad (also mirrored on Hugging Face Datasets as theatticusproject/cuad-qa).</a:t>
            </a:r>
          </a:p>
          <a:p>
            <a:pPr>
              <a:spcAft>
                <a:spcPts val="600"/>
              </a:spcAft>
            </a:pPr>
            <a:r>
              <a:rPr sz="1800" b="1">
                <a:solidFill>
                  <a:srgbClr val="1A3260"/>
                </a:solidFill>
              </a:rPr>
              <a:t>Scale — </a:t>
            </a:r>
            <a:r>
              <a:rPr sz="1800" b="0"/>
              <a:t>510 commercial contracts with 13,000+ expert annotations across 41 fine-grained clause categories.</a:t>
            </a:r>
          </a:p>
          <a:p>
            <a:pPr>
              <a:spcAft>
                <a:spcPts val="600"/>
              </a:spcAft>
            </a:pPr>
            <a:r>
              <a:rPr sz="1800" b="1">
                <a:solidFill>
                  <a:srgbClr val="1A3260"/>
                </a:solidFill>
              </a:rPr>
              <a:t>Licence — </a:t>
            </a:r>
            <a:r>
              <a:rPr sz="1800" b="0"/>
              <a:t>released under Creative Commons CC BY 4.0, free for academic and commercial use.</a:t>
            </a:r>
          </a:p>
          <a:p>
            <a:pPr>
              <a:spcAft>
                <a:spcPts val="600"/>
              </a:spcAft>
            </a:pPr>
            <a:r>
              <a:rPr sz="1800" b="1">
                <a:solidFill>
                  <a:srgbClr val="1A3260"/>
                </a:solidFill>
              </a:rPr>
              <a:t>Structure — </a:t>
            </a:r>
            <a:r>
              <a:rPr sz="1800" b="0"/>
              <a:t>CUAD frames contract review as question-answering: each example pairs a category question with an answer span in a contract.</a:t>
            </a:r>
          </a:p>
          <a:p>
            <a:pPr>
              <a:spcAft>
                <a:spcPts val="600"/>
              </a:spcAft>
            </a:pPr>
            <a:r>
              <a:rPr sz="1800" b="1">
                <a:solidFill>
                  <a:srgbClr val="1A3260"/>
                </a:solidFill>
              </a:rPr>
              <a:t>Taxonomy — </a:t>
            </a:r>
            <a:r>
              <a:rPr sz="1800" b="0"/>
              <a:t>the 41 CUAD categories are mapped onto a purpose-built 12-category taxonomy; uncertain mappings are sent to OTHER.</a:t>
            </a:r>
          </a:p>
          <a:p>
            <a:pPr>
              <a:spcAft>
                <a:spcPts val="600"/>
              </a:spcAft>
            </a:pPr>
            <a:r>
              <a:rPr sz="1800" b="1">
                <a:solidFill>
                  <a:srgbClr val="1A3260"/>
                </a:solidFill>
              </a:rPr>
              <a:t>Seed source — </a:t>
            </a:r>
            <a:r>
              <a:rPr sz="1800" b="0"/>
              <a:t>clauses_seed.csv, 72 hand-curated clauses (6 per category) covering the categories CUAD under-supports.</a:t>
            </a:r>
          </a:p>
          <a:p>
            <a:pPr>
              <a:spcAft>
                <a:spcPts val="600"/>
              </a:spcAft>
            </a:pPr>
            <a:r>
              <a:rPr sz="1800" b="1">
                <a:solidFill>
                  <a:srgbClr val="1A3260"/>
                </a:solidFill>
              </a:rPr>
              <a:t>Final training set — </a:t>
            </a:r>
            <a:r>
              <a:rPr sz="1800" b="0"/>
              <a:t>4,034 labelled clauses — 3,962 from CUAD after balanced sampling, plus the 72 seed clauses.</a:t>
            </a:r>
          </a:p>
        </p:txBody>
      </p:sp>
      <p:sp>
        <p:nvSpPr>
          <p:cNvPr id="4" name="Date Placeholder 3">
            <a:extLst>
              <a:ext uri="{FF2B5EF4-FFF2-40B4-BE49-F238E27FC236}">
                <a16:creationId xmlns:a16="http://schemas.microsoft.com/office/drawing/2014/main" id="{96B8C34B-4D90-7018-52E5-4AC6F9D51F68}"/>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D1760E05-876C-2FF6-3B74-16577BE46821}"/>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34606754-A01F-E2CA-5769-96082A8304C4}"/>
              </a:ext>
            </a:extLst>
          </p:cNvPr>
          <p:cNvSpPr>
            <a:spLocks noGrp="1"/>
          </p:cNvSpPr>
          <p:nvPr>
            <p:ph type="sldNum" sz="quarter" idx="12"/>
          </p:nvPr>
        </p:nvSpPr>
        <p:spPr/>
        <p:txBody>
          <a:bodyPr/>
          <a:lstStyle/>
          <a:p>
            <a:r>
              <a:t>14</a:t>
            </a:r>
          </a:p>
        </p:txBody>
      </p:sp>
    </p:spTree>
    <p:extLst>
      <p:ext uri="{BB962C8B-B14F-4D97-AF65-F5344CB8AC3E}">
        <p14:creationId xmlns:p14="http://schemas.microsoft.com/office/powerpoint/2010/main" val="3053386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12CDB-6E77-C007-66FE-52DD06386D72}"/>
              </a:ext>
            </a:extLst>
          </p:cNvPr>
          <p:cNvSpPr>
            <a:spLocks noGrp="1"/>
          </p:cNvSpPr>
          <p:nvPr>
            <p:ph type="title"/>
          </p:nvPr>
        </p:nvSpPr>
        <p:spPr/>
        <p:txBody>
          <a:bodyPr/>
          <a:lstStyle/>
          <a:p>
            <a:r>
              <a:rPr lang="en-IN" dirty="0"/>
              <a:t>Data Preprocessing</a:t>
            </a:r>
          </a:p>
        </p:txBody>
      </p:sp>
      <p:sp>
        <p:nvSpPr>
          <p:cNvPr id="7" name="Content Placeholder 6">
            <a:extLst>
              <a:ext uri="{FF2B5EF4-FFF2-40B4-BE49-F238E27FC236}">
                <a16:creationId xmlns:a16="http://schemas.microsoft.com/office/drawing/2014/main" id="{7FB7B087-C41E-53DF-617E-4F7FADE0FAAB}"/>
              </a:ext>
            </a:extLst>
          </p:cNvPr>
          <p:cNvSpPr>
            <a:spLocks noGrp="1"/>
          </p:cNvSpPr>
          <p:nvPr>
            <p:ph idx="1"/>
          </p:nvPr>
        </p:nvSpPr>
        <p:spPr>
          <a:xfrm>
            <a:off x="265176" y="1078992"/>
            <a:ext cx="11740896" cy="1691640"/>
          </a:xfrm>
        </p:spPr>
        <p:txBody>
          <a:bodyPr wrap="square">
            <a:normAutofit fontScale="92500"/>
          </a:bodyPr>
          <a:lstStyle/>
          <a:p>
            <a:pPr>
              <a:spcAft>
                <a:spcPts val="300"/>
              </a:spcAft>
            </a:pPr>
            <a:r>
              <a:rPr sz="1300" b="0"/>
              <a:t>CUAD answer spans are parsed directly from the official release; empty answers and spans under 20 characters are discarded.</a:t>
            </a:r>
            <a:endParaRPr lang="en-IN" sz="4000" dirty="0"/>
          </a:p>
          <a:p>
            <a:pPr>
              <a:spcAft>
                <a:spcPts val="300"/>
              </a:spcAft>
            </a:pPr>
            <a:r>
              <a:rPr sz="1300" b="0"/>
              <a:t>Spans longer than 2,000 characters are truncated; document-metadata categories (names, dates, parties) are filtered out.</a:t>
            </a:r>
          </a:p>
          <a:p>
            <a:pPr>
              <a:spcAft>
                <a:spcPts val="300"/>
              </a:spcAft>
            </a:pPr>
            <a:r>
              <a:rPr sz="1300" b="0"/>
              <a:t>The 41 CUAD categories are mapped to the project's 12-category taxonomy and the text is normalised (accents, whitespace, casing).</a:t>
            </a:r>
          </a:p>
          <a:p>
            <a:pPr>
              <a:spcAft>
                <a:spcPts val="300"/>
              </a:spcAft>
            </a:pPr>
            <a:r>
              <a:rPr sz="1300" b="0"/>
              <a:t>Balanced sampling (at most 800 spans per class) and the 72 merged seed clauses give the final 4,034-example training set.</a:t>
            </a:r>
          </a:p>
        </p:txBody>
      </p:sp>
      <p:sp>
        <p:nvSpPr>
          <p:cNvPr id="4" name="Date Placeholder 3">
            <a:extLst>
              <a:ext uri="{FF2B5EF4-FFF2-40B4-BE49-F238E27FC236}">
                <a16:creationId xmlns:a16="http://schemas.microsoft.com/office/drawing/2014/main" id="{2CD23B11-B80E-B853-439C-9B6A865C8F2B}"/>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9A64B9AC-F9C5-89EC-86CF-EDA020A843B3}"/>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78A58386-0602-F43D-3246-7CE42CAA76F7}"/>
              </a:ext>
            </a:extLst>
          </p:cNvPr>
          <p:cNvSpPr>
            <a:spLocks noGrp="1"/>
          </p:cNvSpPr>
          <p:nvPr>
            <p:ph type="sldNum" sz="quarter" idx="12"/>
          </p:nvPr>
        </p:nvSpPr>
        <p:spPr/>
        <p:txBody>
          <a:bodyPr/>
          <a:lstStyle/>
          <a:p>
            <a:r>
              <a:t>15</a:t>
            </a:r>
          </a:p>
        </p:txBody>
      </p:sp>
      <p:pic>
        <p:nvPicPr>
          <p:cNvPr id="8" name="Picture 7" descr="preprocessing_flow.png"/>
          <p:cNvPicPr>
            <a:picLocks noChangeAspect="1"/>
          </p:cNvPicPr>
          <p:nvPr/>
        </p:nvPicPr>
        <p:blipFill>
          <a:blip r:embed="rId4"/>
          <a:stretch>
            <a:fillRect/>
          </a:stretch>
        </p:blipFill>
        <p:spPr>
          <a:xfrm>
            <a:off x="338328" y="2907792"/>
            <a:ext cx="11521440" cy="3160807"/>
          </a:xfrm>
          <a:prstGeom prst="rect">
            <a:avLst/>
          </a:prstGeom>
        </p:spPr>
      </p:pic>
    </p:spTree>
    <p:extLst>
      <p:ext uri="{BB962C8B-B14F-4D97-AF65-F5344CB8AC3E}">
        <p14:creationId xmlns:p14="http://schemas.microsoft.com/office/powerpoint/2010/main" val="2097838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7A974-7527-5F9E-0A63-D0CC405EA93F}"/>
              </a:ext>
            </a:extLst>
          </p:cNvPr>
          <p:cNvSpPr>
            <a:spLocks noGrp="1"/>
          </p:cNvSpPr>
          <p:nvPr>
            <p:ph type="title"/>
          </p:nvPr>
        </p:nvSpPr>
        <p:spPr/>
        <p:txBody>
          <a:bodyPr/>
          <a:lstStyle/>
          <a:p>
            <a:r>
              <a:rPr lang="en-IN" dirty="0"/>
              <a:t>Exploratory Data Analysis (EDA)</a:t>
            </a:r>
          </a:p>
        </p:txBody>
      </p:sp>
      <p:sp>
        <p:nvSpPr>
          <p:cNvPr id="4" name="Date Placeholder 3">
            <a:extLst>
              <a:ext uri="{FF2B5EF4-FFF2-40B4-BE49-F238E27FC236}">
                <a16:creationId xmlns:a16="http://schemas.microsoft.com/office/drawing/2014/main" id="{C1B2A856-56A8-505D-E9EB-11D11EAC18C1}"/>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308B09F-1900-53D5-F49C-CDBF47E1C787}"/>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A150BCBC-CA68-518F-806D-9BBEC68768FE}"/>
              </a:ext>
            </a:extLst>
          </p:cNvPr>
          <p:cNvSpPr>
            <a:spLocks noGrp="1"/>
          </p:cNvSpPr>
          <p:nvPr>
            <p:ph type="sldNum" sz="quarter" idx="12"/>
          </p:nvPr>
        </p:nvSpPr>
        <p:spPr/>
        <p:txBody>
          <a:bodyPr/>
          <a:lstStyle/>
          <a:p>
            <a:r>
              <a:t>16</a:t>
            </a:r>
          </a:p>
        </p:txBody>
      </p:sp>
      <p:sp>
        <p:nvSpPr>
          <p:cNvPr id="8" name="Content Placeholder 7">
            <a:extLst>
              <a:ext uri="{FF2B5EF4-FFF2-40B4-BE49-F238E27FC236}">
                <a16:creationId xmlns:a16="http://schemas.microsoft.com/office/drawing/2014/main" id="{9D469A59-D35E-6278-5EE6-8C30132C10C5}"/>
              </a:ext>
            </a:extLst>
          </p:cNvPr>
          <p:cNvSpPr>
            <a:spLocks noGrp="1"/>
          </p:cNvSpPr>
          <p:nvPr>
            <p:ph idx="1"/>
          </p:nvPr>
        </p:nvSpPr>
        <p:spPr>
          <a:xfrm>
            <a:off x="265176" y="1078992"/>
            <a:ext cx="11740896" cy="1097280"/>
          </a:xfrm>
        </p:spPr>
        <p:txBody>
          <a:bodyPr wrap="square">
            <a:normAutofit/>
          </a:bodyPr>
          <a:lstStyle/>
          <a:p>
            <a:pPr>
              <a:spcAft>
                <a:spcPts val="300"/>
              </a:spcAft>
            </a:pPr>
            <a:r>
              <a:rPr sz="1300" b="0"/>
              <a:t>9,118 usable clause spans were extracted from CUAD; balanced sampling plus 72 seed clauses yields 4,034 labelled examples.</a:t>
            </a:r>
            <a:endParaRPr lang="en-IN" sz="1700" dirty="0"/>
          </a:p>
          <a:p>
            <a:pPr>
              <a:spcAft>
                <a:spcPts val="300"/>
              </a:spcAft>
            </a:pPr>
            <a:r>
              <a:rPr sz="1300" b="0"/>
              <a:t>Seven categories are well-supported (181–806 examples each); five categories rely on just 6 seed examples each — a severe class imbalance and the key modelling challenge.</a:t>
            </a:r>
          </a:p>
        </p:txBody>
      </p:sp>
      <p:pic>
        <p:nvPicPr>
          <p:cNvPr id="9" name="Picture 8" descr="eda_label_distribution.png"/>
          <p:cNvPicPr>
            <a:picLocks noChangeAspect="1"/>
          </p:cNvPicPr>
          <p:nvPr/>
        </p:nvPicPr>
        <p:blipFill>
          <a:blip r:embed="rId4"/>
          <a:stretch>
            <a:fillRect/>
          </a:stretch>
        </p:blipFill>
        <p:spPr>
          <a:xfrm>
            <a:off x="886968" y="2240280"/>
            <a:ext cx="10424160" cy="3965499"/>
          </a:xfrm>
          <a:prstGeom prst="rect">
            <a:avLst/>
          </a:prstGeom>
        </p:spPr>
      </p:pic>
    </p:spTree>
    <p:extLst>
      <p:ext uri="{BB962C8B-B14F-4D97-AF65-F5344CB8AC3E}">
        <p14:creationId xmlns:p14="http://schemas.microsoft.com/office/powerpoint/2010/main" val="2662997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EB24D-3A90-E582-DF94-A3CB8C158539}"/>
              </a:ext>
            </a:extLst>
          </p:cNvPr>
          <p:cNvSpPr>
            <a:spLocks noGrp="1"/>
          </p:cNvSpPr>
          <p:nvPr>
            <p:ph type="title"/>
          </p:nvPr>
        </p:nvSpPr>
        <p:spPr/>
        <p:txBody>
          <a:bodyPr/>
          <a:lstStyle/>
          <a:p>
            <a:r>
              <a:rPr lang="en-IN" dirty="0"/>
              <a:t>Model Selection</a:t>
            </a:r>
          </a:p>
        </p:txBody>
      </p:sp>
      <p:sp>
        <p:nvSpPr>
          <p:cNvPr id="7" name="Content Placeholder 6">
            <a:extLst>
              <a:ext uri="{FF2B5EF4-FFF2-40B4-BE49-F238E27FC236}">
                <a16:creationId xmlns:a16="http://schemas.microsoft.com/office/drawing/2014/main" id="{A4CD1777-FFCF-9D87-ACB6-8615F9A9135F}"/>
              </a:ext>
            </a:extLst>
          </p:cNvPr>
          <p:cNvSpPr>
            <a:spLocks noGrp="1"/>
          </p:cNvSpPr>
          <p:nvPr>
            <p:ph idx="1"/>
          </p:nvPr>
        </p:nvSpPr>
        <p:spPr>
          <a:xfrm>
            <a:off x="265176" y="1060704"/>
            <a:ext cx="11740896" cy="960120"/>
          </a:xfrm>
        </p:spPr>
        <p:txBody>
          <a:bodyPr wrap="square">
            <a:normAutofit/>
          </a:bodyPr>
          <a:lstStyle/>
          <a:p>
            <a:pPr>
              <a:spcAft>
                <a:spcPts val="300"/>
              </a:spcAft>
            </a:pPr>
            <a:r>
              <a:rPr sz="1300" b="0"/>
              <a:t>Task — 12-class clause classification, plus a separate clause-rewriting model; both must run on free CPU-tier hosting at inference time.</a:t>
            </a:r>
            <a:endParaRPr lang="en-IN" sz="1700" dirty="0"/>
          </a:p>
          <a:p>
            <a:pPr>
              <a:spcAft>
                <a:spcPts val="300"/>
              </a:spcAft>
            </a:pPr>
            <a:r>
              <a:rPr sz="1300" b="0"/>
              <a:t>Chosen models — fine-tuned nlpaueb/legal-bert-base-uncased classifier (macro F1 0.902) and fine-tuned google/flan-t5-small rewriter (ROUGE-L 0.352), both pushed to the Hugging Face Hub. A TF-IDF + Logistic Regression baseline (macro F1 0.61) is retained as a runtime fallback.</a:t>
            </a:r>
          </a:p>
        </p:txBody>
      </p:sp>
      <p:sp>
        <p:nvSpPr>
          <p:cNvPr id="4" name="Date Placeholder 3">
            <a:extLst>
              <a:ext uri="{FF2B5EF4-FFF2-40B4-BE49-F238E27FC236}">
                <a16:creationId xmlns:a16="http://schemas.microsoft.com/office/drawing/2014/main" id="{B1465007-424B-12D1-0F49-F7D3FDF78365}"/>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CD267F1B-325D-A256-EC96-FF3CD5D242FE}"/>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01ED1689-713B-0724-35AF-D8E9C0D02B18}"/>
              </a:ext>
            </a:extLst>
          </p:cNvPr>
          <p:cNvSpPr>
            <a:spLocks noGrp="1"/>
          </p:cNvSpPr>
          <p:nvPr>
            <p:ph type="sldNum" sz="quarter" idx="12"/>
          </p:nvPr>
        </p:nvSpPr>
        <p:spPr/>
        <p:txBody>
          <a:bodyPr/>
          <a:lstStyle/>
          <a:p>
            <a:r>
              <a:t>17</a:t>
            </a:r>
          </a:p>
        </p:txBody>
      </p:sp>
      <p:pic>
        <p:nvPicPr>
          <p:cNvPr id="8" name="Picture 7" descr="model_selection.png"/>
          <p:cNvPicPr>
            <a:picLocks noChangeAspect="1"/>
          </p:cNvPicPr>
          <p:nvPr/>
        </p:nvPicPr>
        <p:blipFill>
          <a:blip r:embed="rId4"/>
          <a:stretch>
            <a:fillRect/>
          </a:stretch>
        </p:blipFill>
        <p:spPr>
          <a:xfrm>
            <a:off x="1252728" y="2103120"/>
            <a:ext cx="9692640" cy="4091049"/>
          </a:xfrm>
          <a:prstGeom prst="rect">
            <a:avLst/>
          </a:prstGeom>
        </p:spPr>
      </p:pic>
    </p:spTree>
    <p:extLst>
      <p:ext uri="{BB962C8B-B14F-4D97-AF65-F5344CB8AC3E}">
        <p14:creationId xmlns:p14="http://schemas.microsoft.com/office/powerpoint/2010/main" val="2391399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82845-696E-8F21-52F2-728CFFC12D27}"/>
              </a:ext>
            </a:extLst>
          </p:cNvPr>
          <p:cNvSpPr>
            <a:spLocks noGrp="1"/>
          </p:cNvSpPr>
          <p:nvPr>
            <p:ph type="title"/>
          </p:nvPr>
        </p:nvSpPr>
        <p:spPr/>
        <p:txBody>
          <a:bodyPr/>
          <a:lstStyle/>
          <a:p>
            <a:r>
              <a:rPr lang="en-IN" dirty="0"/>
              <a:t>Model Architecture </a:t>
            </a:r>
          </a:p>
        </p:txBody>
      </p:sp>
      <p:sp>
        <p:nvSpPr>
          <p:cNvPr id="4" name="Date Placeholder 3">
            <a:extLst>
              <a:ext uri="{FF2B5EF4-FFF2-40B4-BE49-F238E27FC236}">
                <a16:creationId xmlns:a16="http://schemas.microsoft.com/office/drawing/2014/main" id="{7B766820-7995-D6D2-B223-A11880818280}"/>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F4019FB6-33D0-F424-27FC-FC5058E4934B}"/>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278C3405-9009-1A29-25A8-04C4E29C0D5E}"/>
              </a:ext>
            </a:extLst>
          </p:cNvPr>
          <p:cNvSpPr>
            <a:spLocks noGrp="1"/>
          </p:cNvSpPr>
          <p:nvPr>
            <p:ph type="sldNum" sz="quarter" idx="12"/>
          </p:nvPr>
        </p:nvSpPr>
        <p:spPr/>
        <p:txBody>
          <a:bodyPr/>
          <a:lstStyle/>
          <a:p>
            <a:r>
              <a:t>18</a:t>
            </a:r>
          </a:p>
        </p:txBody>
      </p:sp>
      <p:sp>
        <p:nvSpPr>
          <p:cNvPr id="11" name="TextBox 10"/>
          <p:cNvSpPr txBox="1"/>
          <p:nvPr/>
        </p:nvSpPr>
        <p:spPr>
          <a:xfrm>
            <a:off x="265176" y="1389888"/>
            <a:ext cx="4434840" cy="4800600"/>
          </a:xfrm>
          <a:prstGeom prst="rect">
            <a:avLst/>
          </a:prstGeom>
          <a:noFill/>
        </p:spPr>
        <p:txBody>
          <a:bodyPr wrap="square">
            <a:spAutoFit/>
          </a:bodyPr>
          <a:lstStyle/>
          <a:p>
            <a:pPr marL="285750" indent="-285750" algn="just">
              <a:spcAft>
                <a:spcPts val="600"/>
              </a:spcAft>
              <a:buFont typeface="Wingdings" panose="05000000000000000000" pitchFamily="2" charset="2"/>
              <a:buNone/>
            </a:pPr>
            <a:r>
              <a:rPr sz="1200" b="1">
                <a:solidFill>
                  <a:srgbClr val="1A3260"/>
                </a:solidFill>
              </a:rPr>
              <a:t>•  </a:t>
            </a:r>
            <a:r>
              <a:rPr sz="1200" b="0"/>
              <a:t>Six-stage sequential pipeline; stages 3 to 6 run once per clause.</a:t>
            </a:r>
          </a:p>
          <a:p>
            <a:pPr>
              <a:spcAft>
                <a:spcPts val="600"/>
              </a:spcAft>
              <a:buNone/>
            </a:pPr>
            <a:r>
              <a:rPr sz="1200" b="1">
                <a:solidFill>
                  <a:srgbClr val="1A3260"/>
                </a:solidFill>
              </a:rPr>
              <a:t>•  </a:t>
            </a:r>
            <a:r>
              <a:rPr sz="1200" b="1">
                <a:solidFill>
                  <a:srgbClr val="1A3260"/>
                </a:solidFill>
              </a:rPr>
              <a:t>Ingestion — </a:t>
            </a:r>
            <a:r>
              <a:rPr sz="1200" b="0"/>
              <a:t>rule-based text normalisation in the browser via pdf.js; server-side PyMuPDF text extraction with a Tesseract OCR fallback for scanned PDFs.</a:t>
            </a:r>
          </a:p>
          <a:p>
            <a:pPr>
              <a:spcAft>
                <a:spcPts val="600"/>
              </a:spcAft>
              <a:buNone/>
            </a:pPr>
            <a:r>
              <a:rPr sz="1200" b="1">
                <a:solidFill>
                  <a:srgbClr val="1A3260"/>
                </a:solidFill>
              </a:rPr>
              <a:t>•  </a:t>
            </a:r>
            <a:r>
              <a:rPr sz="1200" b="1">
                <a:solidFill>
                  <a:srgbClr val="1A3260"/>
                </a:solidFill>
              </a:rPr>
              <a:t>Segmentation — </a:t>
            </a:r>
            <a:r>
              <a:rPr sz="1200" b="0"/>
              <a:t>hybrid regex for structural markers (1., 1.1, (a), (i), Section / Article) with a spaCy sentenciser fallback; character offsets are preserved.</a:t>
            </a:r>
          </a:p>
          <a:p>
            <a:pPr>
              <a:spcAft>
                <a:spcPts val="600"/>
              </a:spcAft>
              <a:buNone/>
            </a:pPr>
            <a:r>
              <a:rPr sz="1200" b="1">
                <a:solidFill>
                  <a:srgbClr val="1A3260"/>
                </a:solidFill>
              </a:rPr>
              <a:t>•  </a:t>
            </a:r>
            <a:r>
              <a:rPr sz="1200" b="1">
                <a:solidFill>
                  <a:srgbClr val="1A3260"/>
                </a:solidFill>
              </a:rPr>
              <a:t>Classifier — </a:t>
            </a:r>
            <a:r>
              <a:rPr sz="1200" b="0"/>
              <a:t>fine-tuned nlpaueb/legal-bert-base-uncased (freak3123/legal-bert-cuad-v1) — four-epoch T4 training on CUAD + a 227-example seed set with class-balanced cross-entropy loss; a TF-IDF + LogReg artefact and a keyword heuristic are kept as automatic fallbacks.</a:t>
            </a:r>
          </a:p>
          <a:p>
            <a:pPr>
              <a:spcAft>
                <a:spcPts val="600"/>
              </a:spcAft>
              <a:buNone/>
            </a:pPr>
            <a:r>
              <a:rPr sz="1200" b="1">
                <a:solidFill>
                  <a:srgbClr val="1A3260"/>
                </a:solidFill>
              </a:rPr>
              <a:t>•  </a:t>
            </a:r>
            <a:r>
              <a:rPr sz="1200" b="1">
                <a:solidFill>
                  <a:srgbClr val="1A3260"/>
                </a:solidFill>
              </a:rPr>
              <a:t>NER — </a:t>
            </a:r>
            <a:r>
              <a:rPr sz="1200" b="0"/>
              <a:t>hybrid: restrictive regex for the six entity types plus spaCy en_core_web_sm for DATE / AMOUNT / PARTY recall; regex wins on overlap.</a:t>
            </a:r>
          </a:p>
          <a:p>
            <a:pPr>
              <a:spcAft>
                <a:spcPts val="600"/>
              </a:spcAft>
              <a:buNone/>
            </a:pPr>
            <a:r>
              <a:rPr sz="1200" b="1">
                <a:solidFill>
                  <a:srgbClr val="1A3260"/>
                </a:solidFill>
              </a:rPr>
              <a:t>•  </a:t>
            </a:r>
            <a:r>
              <a:rPr sz="1200" b="1">
                <a:solidFill>
                  <a:srgbClr val="1A3260"/>
                </a:solidFill>
              </a:rPr>
              <a:t>Rewriter — </a:t>
            </a:r>
            <a:r>
              <a:rPr sz="1200" b="0"/>
              <a:t>fine-tuned google/flan-t5-small (freak3123/flan-t5-simplify-v1) trained on the Plain English Contracts corpus; a template-based simplifier remains as a fallback.</a:t>
            </a:r>
          </a:p>
          <a:p>
            <a:pPr>
              <a:spcAft>
                <a:spcPts val="600"/>
              </a:spcAft>
              <a:buNone/>
            </a:pPr>
            <a:r>
              <a:rPr sz="1200" b="1">
                <a:solidFill>
                  <a:srgbClr val="1A3260"/>
                </a:solidFill>
              </a:rPr>
              <a:t>•  </a:t>
            </a:r>
            <a:r>
              <a:rPr sz="1200" b="1">
                <a:solidFill>
                  <a:srgbClr val="1A3260"/>
                </a:solidFill>
              </a:rPr>
              <a:t>Risk flagging — </a:t>
            </a:r>
            <a:r>
              <a:rPr sz="1200" b="0"/>
              <a:t>a three-layer rule engine (weighted keyword triggers and structural regex) sums a score, caps it at 1.0 and maps it to a low, medium or high level.</a:t>
            </a:r>
          </a:p>
        </p:txBody>
      </p:sp>
      <p:pic>
        <p:nvPicPr>
          <p:cNvPr id="12" name="Picture 11" descr="model_architecture.png"/>
          <p:cNvPicPr>
            <a:picLocks noChangeAspect="1"/>
          </p:cNvPicPr>
          <p:nvPr/>
        </p:nvPicPr>
        <p:blipFill>
          <a:blip r:embed="rId4"/>
          <a:stretch>
            <a:fillRect/>
          </a:stretch>
        </p:blipFill>
        <p:spPr>
          <a:xfrm>
            <a:off x="4864608" y="1517904"/>
            <a:ext cx="7086600" cy="4149047"/>
          </a:xfrm>
          <a:prstGeom prst="rect">
            <a:avLst/>
          </a:prstGeom>
        </p:spPr>
      </p:pic>
    </p:spTree>
    <p:extLst>
      <p:ext uri="{BB962C8B-B14F-4D97-AF65-F5344CB8AC3E}">
        <p14:creationId xmlns:p14="http://schemas.microsoft.com/office/powerpoint/2010/main" val="1712597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06028-C877-255F-44AA-A12ADC3DAE5C}"/>
              </a:ext>
            </a:extLst>
          </p:cNvPr>
          <p:cNvSpPr>
            <a:spLocks noGrp="1"/>
          </p:cNvSpPr>
          <p:nvPr>
            <p:ph type="title"/>
          </p:nvPr>
        </p:nvSpPr>
        <p:spPr/>
        <p:txBody>
          <a:bodyPr>
            <a:normAutofit fontScale="90000"/>
          </a:bodyPr>
          <a:lstStyle/>
          <a:p>
            <a:r>
              <a:rPr lang="en-IN" dirty="0"/>
              <a:t>Software Tools &amp; Platform information</a:t>
            </a:r>
          </a:p>
        </p:txBody>
      </p:sp>
      <p:sp>
        <p:nvSpPr>
          <p:cNvPr id="3" name="Content Placeholder 2">
            <a:extLst>
              <a:ext uri="{FF2B5EF4-FFF2-40B4-BE49-F238E27FC236}">
                <a16:creationId xmlns:a16="http://schemas.microsoft.com/office/drawing/2014/main" id="{8D17181A-93E1-8206-5B1C-FE289A0B2A8C}"/>
              </a:ext>
            </a:extLst>
          </p:cNvPr>
          <p:cNvSpPr>
            <a:spLocks noGrp="1"/>
          </p:cNvSpPr>
          <p:nvPr>
            <p:ph idx="1"/>
          </p:nvPr>
        </p:nvSpPr>
        <p:spPr/>
        <p:txBody>
          <a:bodyPr>
            <a:normAutofit/>
          </a:bodyPr>
          <a:lstStyle/>
          <a:p>
            <a:pPr marL="0" indent="0">
              <a:lnSpc>
                <a:spcPct val="110000"/>
              </a:lnSpc>
              <a:buNone/>
            </a:pPr>
            <a:br>
              <a:rPr lang="en-IN" sz="2400" dirty="0"/>
            </a:br>
            <a:endParaRPr lang="en-IN" sz="2400" dirty="0"/>
          </a:p>
          <a:p>
            <a:pPr>
              <a:lnSpc>
                <a:spcPct val="110000"/>
              </a:lnSpc>
            </a:pPr>
            <a:endParaRPr lang="en-IN" sz="2400" dirty="0"/>
          </a:p>
          <a:p>
            <a:pPr>
              <a:lnSpc>
                <a:spcPct val="110000"/>
              </a:lnSpc>
            </a:pPr>
            <a:endParaRPr lang="en-IN" sz="2400" dirty="0"/>
          </a:p>
          <a:p>
            <a:pPr>
              <a:lnSpc>
                <a:spcPct val="110000"/>
              </a:lnSpc>
            </a:pPr>
            <a:endParaRPr lang="en-IN" sz="2400" dirty="0"/>
          </a:p>
        </p:txBody>
      </p:sp>
      <p:sp>
        <p:nvSpPr>
          <p:cNvPr id="4" name="Date Placeholder 3">
            <a:extLst>
              <a:ext uri="{FF2B5EF4-FFF2-40B4-BE49-F238E27FC236}">
                <a16:creationId xmlns:a16="http://schemas.microsoft.com/office/drawing/2014/main" id="{DED06C28-1E49-EFFB-F02C-A7A421F2D0C8}"/>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A3A8B1DF-531C-750E-41C3-3724664A6D43}"/>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63126A5F-D640-6A0F-5126-DF8ECEB4C65F}"/>
              </a:ext>
            </a:extLst>
          </p:cNvPr>
          <p:cNvSpPr>
            <a:spLocks noGrp="1"/>
          </p:cNvSpPr>
          <p:nvPr>
            <p:ph type="sldNum" sz="quarter" idx="12"/>
          </p:nvPr>
        </p:nvSpPr>
        <p:spPr/>
        <p:txBody>
          <a:bodyPr/>
          <a:lstStyle/>
          <a:p>
            <a:r>
              <a:t>19</a:t>
            </a:r>
          </a:p>
        </p:txBody>
      </p:sp>
      <p:graphicFrame>
        <p:nvGraphicFramePr>
          <p:cNvPr id="7" name="Table 6">
            <a:extLst>
              <a:ext uri="{FF2B5EF4-FFF2-40B4-BE49-F238E27FC236}">
                <a16:creationId xmlns:a16="http://schemas.microsoft.com/office/drawing/2014/main" id="{474448F6-4156-B2F7-A99D-74C04D55ADED}"/>
              </a:ext>
            </a:extLst>
          </p:cNvPr>
          <p:cNvGraphicFramePr>
            <a:graphicFrameLocks noGrp="1"/>
          </p:cNvGraphicFramePr>
          <p:nvPr>
            <p:extLst>
              <p:ext uri="{D42A27DB-BD31-4B8C-83A1-F6EECF244321}">
                <p14:modId xmlns:p14="http://schemas.microsoft.com/office/powerpoint/2010/main" val="2953242761"/>
              </p:ext>
            </p:extLst>
          </p:nvPr>
        </p:nvGraphicFramePr>
        <p:xfrm>
          <a:off x="266330" y="1207364"/>
          <a:ext cx="11745156" cy="4022652"/>
        </p:xfrm>
        <a:graphic>
          <a:graphicData uri="http://schemas.openxmlformats.org/drawingml/2006/table">
            <a:tbl>
              <a:tblPr/>
              <a:tblGrid>
                <a:gridCol w="3686545">
                  <a:extLst>
                    <a:ext uri="{9D8B030D-6E8A-4147-A177-3AD203B41FA5}">
                      <a16:colId xmlns:a16="http://schemas.microsoft.com/office/drawing/2014/main" val="577974025"/>
                    </a:ext>
                  </a:extLst>
                </a:gridCol>
                <a:gridCol w="8058611">
                  <a:extLst>
                    <a:ext uri="{9D8B030D-6E8A-4147-A177-3AD203B41FA5}">
                      <a16:colId xmlns:a16="http://schemas.microsoft.com/office/drawing/2014/main" val="3083453615"/>
                    </a:ext>
                  </a:extLst>
                </a:gridCol>
              </a:tblGrid>
              <a:tr h="234760">
                <a:tc>
                  <a:txBody>
                    <a:bodyPr/>
                    <a:lstStyle/>
                    <a:p>
                      <a:pPr algn="ctr">
                        <a:buNone/>
                      </a:pPr>
                      <a:r>
                        <a:rPr lang="en-IN" sz="2000" b="1" dirty="0">
                          <a:latin typeface="Calisto MT" panose="02040603050505030304" pitchFamily="18" charset="0"/>
                        </a:rPr>
                        <a:t>Category</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IN" sz="2000" b="1" dirty="0">
                          <a:latin typeface="Calisto MT" panose="02040603050505030304" pitchFamily="18" charset="0"/>
                        </a:rPr>
                        <a:t>Information</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272951085"/>
                  </a:ext>
                </a:extLst>
              </a:tr>
              <a:tr h="410830">
                <a:tc>
                  <a:txBody>
                    <a:bodyPr/>
                    <a:lstStyle/>
                    <a:p>
                      <a:pPr>
                        <a:buNone/>
                      </a:pPr>
                      <a:r>
                        <a:rPr lang="en-IN" sz="2000" b="1" dirty="0">
                          <a:latin typeface="Calisto MT" panose="02040603050505030304" pitchFamily="18" charset="0"/>
                        </a:rPr>
                        <a:t>Hardware Platform</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2000"/>
                        <a:t>Lenovo IdeaPad Slim 3i — Intel Core i7 (13th Gen), 16 GB RAM, 512 GB SSD, Intel Iris Xe integrated graphics; no dedicated GPU</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4967842"/>
                  </a:ext>
                </a:extLst>
              </a:tr>
              <a:tr h="234760">
                <a:tc>
                  <a:txBody>
                    <a:bodyPr/>
                    <a:lstStyle/>
                    <a:p>
                      <a:pPr>
                        <a:buNone/>
                      </a:pPr>
                      <a:r>
                        <a:rPr lang="en-IN" sz="2000" b="1" dirty="0">
                          <a:latin typeface="Calisto MT" panose="02040603050505030304" pitchFamily="18" charset="0"/>
                        </a:rPr>
                        <a:t>Operating System</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Windows 11 (developed on); Linux and macOS supported</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4166276"/>
                  </a:ext>
                </a:extLst>
              </a:tr>
              <a:tr h="234760">
                <a:tc>
                  <a:txBody>
                    <a:bodyPr/>
                    <a:lstStyle/>
                    <a:p>
                      <a:pPr>
                        <a:buNone/>
                      </a:pPr>
                      <a:r>
                        <a:rPr lang="en-IN" sz="2000" b="1">
                          <a:latin typeface="Calisto MT" panose="02040603050505030304" pitchFamily="18" charset="0"/>
                        </a:rPr>
                        <a:t>Programming Language</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Python 3.11 and TypeScript</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482731"/>
                  </a:ext>
                </a:extLst>
              </a:tr>
              <a:tr h="410830">
                <a:tc>
                  <a:txBody>
                    <a:bodyPr/>
                    <a:lstStyle/>
                    <a:p>
                      <a:pPr>
                        <a:buNone/>
                      </a:pPr>
                      <a:r>
                        <a:rPr lang="en-IN" sz="2000" b="1" dirty="0">
                          <a:latin typeface="Calisto MT" panose="02040603050505030304" pitchFamily="18" charset="0"/>
                        </a:rPr>
                        <a:t>Development Environment</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VS Code, uv (Python), npm workspaces, Git</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0032979"/>
                  </a:ext>
                </a:extLst>
              </a:tr>
              <a:tr h="234760">
                <a:tc>
                  <a:txBody>
                    <a:bodyPr/>
                    <a:lstStyle/>
                    <a:p>
                      <a:pPr>
                        <a:buNone/>
                      </a:pPr>
                      <a:r>
                        <a:rPr lang="en-IN" sz="2000" b="1" dirty="0">
                          <a:latin typeface="Calisto MT" panose="02040603050505030304" pitchFamily="18" charset="0"/>
                        </a:rPr>
                        <a:t>Deep Learning Frameworks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Next.js 15, React, FastAPI (Transformers/PyTorch planned)</a:t>
                      </a:r>
                      <a:endParaRPr lang="en-IN" sz="2000" dirty="0">
                        <a:latin typeface="Calisto MT" panose="02040603050505030304" pitchFamily="18" charset="0"/>
                      </a:endParaRP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4519109"/>
                  </a:ext>
                </a:extLst>
              </a:tr>
              <a:tr h="234760">
                <a:tc>
                  <a:txBody>
                    <a:bodyPr/>
                    <a:lstStyle/>
                    <a:p>
                      <a:pPr>
                        <a:buNone/>
                      </a:pPr>
                      <a:r>
                        <a:rPr lang="en-IN" sz="2000" b="1" dirty="0">
                          <a:latin typeface="Calisto MT" panose="02040603050505030304" pitchFamily="18" charset="0"/>
                        </a:rPr>
                        <a:t>Libraries &amp; Packages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scikit-learn, joblib, spaCy, Pydantic, NumPy</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9798231"/>
                  </a:ext>
                </a:extLst>
              </a:tr>
              <a:tr h="234760">
                <a:tc>
                  <a:txBody>
                    <a:bodyPr/>
                    <a:lstStyle/>
                    <a:p>
                      <a:pPr>
                        <a:buNone/>
                      </a:pPr>
                      <a:r>
                        <a:rPr lang="en-IN" sz="2000" b="1">
                          <a:latin typeface="Calisto MT" panose="02040603050505030304" pitchFamily="18" charset="0"/>
                        </a:rPr>
                        <a:t>NLP Libraries (Optional)</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spaCy 3.8 (segmentation); Hugging Face Transformers (planned)</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1470570"/>
                  </a:ext>
                </a:extLst>
              </a:tr>
              <a:tr h="234760">
                <a:tc>
                  <a:txBody>
                    <a:bodyPr/>
                    <a:lstStyle/>
                    <a:p>
                      <a:pPr>
                        <a:buNone/>
                      </a:pPr>
                      <a:r>
                        <a:rPr lang="en-IN" sz="2000" b="1" dirty="0">
                          <a:latin typeface="Calisto MT" panose="02040603050505030304" pitchFamily="18" charset="0"/>
                        </a:rPr>
                        <a:t>Database / Storage</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MongoDB Atlas via the Mongoose ODM</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7421831"/>
                  </a:ext>
                </a:extLst>
              </a:tr>
              <a:tr h="410830">
                <a:tc>
                  <a:txBody>
                    <a:bodyPr/>
                    <a:lstStyle/>
                    <a:p>
                      <a:pPr>
                        <a:buNone/>
                      </a:pPr>
                      <a:r>
                        <a:rPr lang="en-IN" sz="2000" b="1" dirty="0">
                          <a:latin typeface="Calisto MT" panose="02040603050505030304" pitchFamily="18" charset="0"/>
                        </a:rPr>
                        <a:t>Model Training Platform</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Local CPU; Kaggle GPU notebooks planned for fine-tuning</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2508528"/>
                  </a:ext>
                </a:extLst>
              </a:tr>
            </a:tbl>
          </a:graphicData>
        </a:graphic>
      </p:graphicFrame>
    </p:spTree>
    <p:extLst>
      <p:ext uri="{BB962C8B-B14F-4D97-AF65-F5344CB8AC3E}">
        <p14:creationId xmlns:p14="http://schemas.microsoft.com/office/powerpoint/2010/main" val="4137304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7DD1-84CD-A6BD-CD55-94AF2680D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4F247-52BB-50D6-3FC9-1147EF913229}"/>
              </a:ext>
            </a:extLst>
          </p:cNvPr>
          <p:cNvSpPr>
            <a:spLocks noGrp="1"/>
          </p:cNvSpPr>
          <p:nvPr>
            <p:ph type="title"/>
          </p:nvPr>
        </p:nvSpPr>
        <p:spPr/>
        <p:txBody>
          <a:bodyPr/>
          <a:lstStyle/>
          <a:p>
            <a:r>
              <a:rPr lang="en-IN" dirty="0"/>
              <a:t>Platform information</a:t>
            </a:r>
          </a:p>
        </p:txBody>
      </p:sp>
      <p:sp>
        <p:nvSpPr>
          <p:cNvPr id="3" name="Content Placeholder 2">
            <a:extLst>
              <a:ext uri="{FF2B5EF4-FFF2-40B4-BE49-F238E27FC236}">
                <a16:creationId xmlns:a16="http://schemas.microsoft.com/office/drawing/2014/main" id="{91BAA1D9-AFB8-3021-2160-442DD51C36D8}"/>
              </a:ext>
            </a:extLst>
          </p:cNvPr>
          <p:cNvSpPr>
            <a:spLocks noGrp="1"/>
          </p:cNvSpPr>
          <p:nvPr>
            <p:ph idx="1"/>
          </p:nvPr>
        </p:nvSpPr>
        <p:spPr/>
        <p:txBody>
          <a:bodyPr>
            <a:normAutofit/>
          </a:bodyPr>
          <a:lstStyle/>
          <a:p>
            <a:pPr marL="0" indent="0">
              <a:lnSpc>
                <a:spcPct val="110000"/>
              </a:lnSpc>
              <a:buNone/>
            </a:pPr>
            <a:br>
              <a:rPr lang="en-IN" sz="2400" dirty="0"/>
            </a:br>
            <a:endParaRPr lang="en-IN" sz="2400" dirty="0"/>
          </a:p>
          <a:p>
            <a:pPr>
              <a:lnSpc>
                <a:spcPct val="110000"/>
              </a:lnSpc>
            </a:pPr>
            <a:endParaRPr lang="en-IN" sz="2400" dirty="0"/>
          </a:p>
          <a:p>
            <a:pPr>
              <a:lnSpc>
                <a:spcPct val="110000"/>
              </a:lnSpc>
            </a:pPr>
            <a:endParaRPr lang="en-IN" sz="2400" dirty="0"/>
          </a:p>
          <a:p>
            <a:pPr>
              <a:lnSpc>
                <a:spcPct val="110000"/>
              </a:lnSpc>
            </a:pPr>
            <a:endParaRPr lang="en-IN" sz="2400" dirty="0"/>
          </a:p>
        </p:txBody>
      </p:sp>
      <p:sp>
        <p:nvSpPr>
          <p:cNvPr id="4" name="Date Placeholder 3">
            <a:extLst>
              <a:ext uri="{FF2B5EF4-FFF2-40B4-BE49-F238E27FC236}">
                <a16:creationId xmlns:a16="http://schemas.microsoft.com/office/drawing/2014/main" id="{4E5C8352-8217-C523-9F7A-C90506177B61}"/>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FB2B8595-4D5E-77AF-D723-5F9EE9185113}"/>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F2E86A97-0A31-F0B3-0A56-B7815C53A857}"/>
              </a:ext>
            </a:extLst>
          </p:cNvPr>
          <p:cNvSpPr>
            <a:spLocks noGrp="1"/>
          </p:cNvSpPr>
          <p:nvPr>
            <p:ph type="sldNum" sz="quarter" idx="12"/>
          </p:nvPr>
        </p:nvSpPr>
        <p:spPr/>
        <p:txBody>
          <a:bodyPr/>
          <a:lstStyle/>
          <a:p>
            <a:r>
              <a:t>20</a:t>
            </a:r>
          </a:p>
        </p:txBody>
      </p:sp>
      <p:graphicFrame>
        <p:nvGraphicFramePr>
          <p:cNvPr id="7" name="Table 6">
            <a:extLst>
              <a:ext uri="{FF2B5EF4-FFF2-40B4-BE49-F238E27FC236}">
                <a16:creationId xmlns:a16="http://schemas.microsoft.com/office/drawing/2014/main" id="{59BBE4CF-2386-B4AE-9A0C-7BAC51C9DB19}"/>
              </a:ext>
            </a:extLst>
          </p:cNvPr>
          <p:cNvGraphicFramePr>
            <a:graphicFrameLocks noGrp="1"/>
          </p:cNvGraphicFramePr>
          <p:nvPr>
            <p:extLst>
              <p:ext uri="{D42A27DB-BD31-4B8C-83A1-F6EECF244321}">
                <p14:modId xmlns:p14="http://schemas.microsoft.com/office/powerpoint/2010/main" val="131816998"/>
              </p:ext>
            </p:extLst>
          </p:nvPr>
        </p:nvGraphicFramePr>
        <p:xfrm>
          <a:off x="266330" y="1207364"/>
          <a:ext cx="11745156" cy="3620240"/>
        </p:xfrm>
        <a:graphic>
          <a:graphicData uri="http://schemas.openxmlformats.org/drawingml/2006/table">
            <a:tbl>
              <a:tblPr/>
              <a:tblGrid>
                <a:gridCol w="3734170">
                  <a:extLst>
                    <a:ext uri="{9D8B030D-6E8A-4147-A177-3AD203B41FA5}">
                      <a16:colId xmlns:a16="http://schemas.microsoft.com/office/drawing/2014/main" val="577974025"/>
                    </a:ext>
                  </a:extLst>
                </a:gridCol>
                <a:gridCol w="8010986">
                  <a:extLst>
                    <a:ext uri="{9D8B030D-6E8A-4147-A177-3AD203B41FA5}">
                      <a16:colId xmlns:a16="http://schemas.microsoft.com/office/drawing/2014/main" val="3083453615"/>
                    </a:ext>
                  </a:extLst>
                </a:gridCol>
              </a:tblGrid>
              <a:tr h="234760">
                <a:tc>
                  <a:txBody>
                    <a:bodyPr/>
                    <a:lstStyle/>
                    <a:p>
                      <a:pPr algn="ctr">
                        <a:buNone/>
                      </a:pPr>
                      <a:r>
                        <a:rPr lang="en-IN" sz="2000" b="1" dirty="0">
                          <a:latin typeface="Calisto MT" panose="02040603050505030304" pitchFamily="18" charset="0"/>
                        </a:rPr>
                        <a:t>Category</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IN" sz="2000" b="1" dirty="0">
                          <a:latin typeface="Calisto MT" panose="02040603050505030304" pitchFamily="18" charset="0"/>
                        </a:rPr>
                        <a:t>Information</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272951085"/>
                  </a:ext>
                </a:extLst>
              </a:tr>
              <a:tr h="234760">
                <a:tc>
                  <a:txBody>
                    <a:bodyPr/>
                    <a:lstStyle/>
                    <a:p>
                      <a:pPr>
                        <a:buNone/>
                      </a:pPr>
                      <a:r>
                        <a:rPr lang="en-IN" sz="2000" b="1" dirty="0">
                          <a:latin typeface="Calisto MT" panose="02040603050505030304" pitchFamily="18" charset="0"/>
                        </a:rPr>
                        <a:t>Version Control</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Git and GitHub</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140749"/>
                  </a:ext>
                </a:extLst>
              </a:tr>
              <a:tr h="234760">
                <a:tc>
                  <a:txBody>
                    <a:bodyPr/>
                    <a:lstStyle/>
                    <a:p>
                      <a:pPr>
                        <a:buNone/>
                      </a:pPr>
                      <a:r>
                        <a:rPr lang="en-IN" sz="2000" b="1" dirty="0">
                          <a:latin typeface="Calisto MT" panose="02040603050505030304" pitchFamily="18" charset="0"/>
                        </a:rPr>
                        <a:t>Deployment Platform</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Vercel (web app) and Hugging Face Spaces (ML service) - planned</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995742"/>
                  </a:ext>
                </a:extLst>
              </a:tr>
              <a:tr h="234760">
                <a:tc>
                  <a:txBody>
                    <a:bodyPr/>
                    <a:lstStyle/>
                    <a:p>
                      <a:pPr>
                        <a:buNone/>
                      </a:pPr>
                      <a:r>
                        <a:rPr lang="en-IN" sz="2000" b="1" dirty="0">
                          <a:latin typeface="Calisto MT" panose="02040603050505030304" pitchFamily="18" charset="0"/>
                        </a:rPr>
                        <a:t>Cloud Platforms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MongoDB Atlas (database); Kaggle GPU notebooks (planned)</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5563874"/>
                  </a:ext>
                </a:extLst>
              </a:tr>
              <a:tr h="234760">
                <a:tc>
                  <a:txBody>
                    <a:bodyPr/>
                    <a:lstStyle/>
                    <a:p>
                      <a:pPr>
                        <a:buNone/>
                      </a:pPr>
                      <a:r>
                        <a:rPr lang="en-IN" sz="2000" b="1" dirty="0">
                          <a:latin typeface="Calisto MT" panose="02040603050505030304" pitchFamily="18" charset="0"/>
                        </a:rPr>
                        <a:t>API Integration Tools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REST API; versioned JSON contract (/v1/analyze, /v1/health)</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9716976"/>
                  </a:ext>
                </a:extLst>
              </a:tr>
              <a:tr h="234760">
                <a:tc>
                  <a:txBody>
                    <a:bodyPr/>
                    <a:lstStyle/>
                    <a:p>
                      <a:pPr>
                        <a:buNone/>
                      </a:pPr>
                      <a:r>
                        <a:rPr lang="en-IN" sz="2000" b="1" dirty="0">
                          <a:latin typeface="Calisto MT" panose="02040603050505030304" pitchFamily="18" charset="0"/>
                        </a:rPr>
                        <a:t>Performance Monitoring Tools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Weights &amp; Biases / TensorBoard (planned for Phase 3 training)</a:t>
                      </a:r>
                      <a:endParaRPr lang="en-US" sz="2000" dirty="0">
                        <a:latin typeface="Calisto MT" panose="02040603050505030304" pitchFamily="18" charset="0"/>
                      </a:endParaRP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6803737"/>
                  </a:ext>
                </a:extLst>
              </a:tr>
              <a:tr h="234760">
                <a:tc>
                  <a:txBody>
                    <a:bodyPr/>
                    <a:lstStyle/>
                    <a:p>
                      <a:pPr>
                        <a:buNone/>
                      </a:pPr>
                      <a:r>
                        <a:rPr lang="en-IN" sz="2000" b="1" dirty="0">
                          <a:latin typeface="Calisto MT" panose="02040603050505030304" pitchFamily="18" charset="0"/>
                        </a:rPr>
                        <a:t>Visualization Tools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Clause-by-clause web dashboard (Next.js, Tailwind CSS)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4949226"/>
                  </a:ext>
                </a:extLst>
              </a:tr>
              <a:tr h="234760">
                <a:tc>
                  <a:txBody>
                    <a:bodyPr/>
                    <a:lstStyle/>
                    <a:p>
                      <a:pPr>
                        <a:buNone/>
                      </a:pPr>
                      <a:r>
                        <a:rPr lang="en-IN" sz="2000" b="1" dirty="0">
                          <a:latin typeface="Calisto MT" panose="02040603050505030304" pitchFamily="18" charset="0"/>
                        </a:rPr>
                        <a:t>Containerization Tools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Docker (ML service image for Hugging Face Spaces)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838750"/>
                  </a:ext>
                </a:extLst>
              </a:tr>
              <a:tr h="234760">
                <a:tc>
                  <a:txBody>
                    <a:bodyPr/>
                    <a:lstStyle/>
                    <a:p>
                      <a:pPr>
                        <a:buNone/>
                      </a:pPr>
                      <a:r>
                        <a:rPr lang="en-IN" sz="2000" b="1" dirty="0">
                          <a:latin typeface="Calisto MT" panose="02040603050505030304" pitchFamily="18" charset="0"/>
                        </a:rPr>
                        <a:t>Testing Tools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pytest (34 tests), Ruff, ESLint, TypeScript type-checking</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1152484"/>
                  </a:ext>
                </a:extLst>
              </a:tr>
              <a:tr h="234760">
                <a:tc>
                  <a:txBody>
                    <a:bodyPr/>
                    <a:lstStyle/>
                    <a:p>
                      <a:pPr>
                        <a:buNone/>
                      </a:pPr>
                      <a:r>
                        <a:rPr lang="en-IN" sz="2000" b="1" dirty="0">
                          <a:latin typeface="Calisto MT" panose="02040603050505030304" pitchFamily="18" charset="0"/>
                        </a:rPr>
                        <a:t>Security Features</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sz="2000">
                          <a:latin typeface="Calisto MT"/>
                        </a:rPr>
                        <a:t>bcrypt password hashing, JWT sessions, Zod/Pydantic validation</a:t>
                      </a:r>
                    </a:p>
                  </a:txBody>
                  <a:tcPr marL="57225" marR="57225" marT="28612" marB="286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0117521"/>
                  </a:ext>
                </a:extLst>
              </a:tr>
            </a:tbl>
          </a:graphicData>
        </a:graphic>
      </p:graphicFrame>
    </p:spTree>
    <p:extLst>
      <p:ext uri="{BB962C8B-B14F-4D97-AF65-F5344CB8AC3E}">
        <p14:creationId xmlns:p14="http://schemas.microsoft.com/office/powerpoint/2010/main" val="234512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9F193-5B66-EBA0-F901-8044E52CAF6D}"/>
              </a:ext>
            </a:extLst>
          </p:cNvPr>
          <p:cNvSpPr>
            <a:spLocks noGrp="1"/>
          </p:cNvSpPr>
          <p:nvPr>
            <p:ph type="title"/>
          </p:nvPr>
        </p:nvSpPr>
        <p:spPr/>
        <p:txBody>
          <a:bodyPr/>
          <a:lstStyle/>
          <a:p>
            <a:r>
              <a:t>Evaluation Metrics &amp; Formulae</a:t>
            </a:r>
          </a:p>
        </p:txBody>
      </p:sp>
      <p:sp>
        <p:nvSpPr>
          <p:cNvPr id="4" name="Date Placeholder 3">
            <a:extLst>
              <a:ext uri="{FF2B5EF4-FFF2-40B4-BE49-F238E27FC236}">
                <a16:creationId xmlns:a16="http://schemas.microsoft.com/office/drawing/2014/main" id="{890287BF-9547-5C29-E013-B0B8B7848F19}"/>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30FBDD99-C561-ADED-E7C8-2E8CE575A9E9}"/>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A625D315-B629-4773-6EEE-804B5803616E}"/>
              </a:ext>
            </a:extLst>
          </p:cNvPr>
          <p:cNvSpPr>
            <a:spLocks noGrp="1"/>
          </p:cNvSpPr>
          <p:nvPr>
            <p:ph type="sldNum" sz="quarter" idx="12"/>
          </p:nvPr>
        </p:nvSpPr>
        <p:spPr/>
        <p:txBody>
          <a:bodyPr/>
          <a:lstStyle/>
          <a:p>
            <a:r>
              <a:t>21</a:t>
            </a:r>
          </a:p>
        </p:txBody>
      </p:sp>
      <p:pic>
        <p:nvPicPr>
          <p:cNvPr id="8" name="Picture 7" descr="metrics_formulae.png"/>
          <p:cNvPicPr>
            <a:picLocks noChangeAspect="1"/>
          </p:cNvPicPr>
          <p:nvPr/>
        </p:nvPicPr>
        <p:blipFill>
          <a:blip r:embed="rId2"/>
          <a:stretch>
            <a:fillRect/>
          </a:stretch>
        </p:blipFill>
        <p:spPr>
          <a:xfrm>
            <a:off x="974182" y="1128285"/>
            <a:ext cx="10243636" cy="526074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17C9F193-5B66-EBA0-F901-8044E52CAF6D}"/>
              </a:ext>
            </a:extLst>
          </p:cNvPr>
          <p:cNvSpPr>
            <a:spLocks noGrp="1"/>
          </p:cNvSpPr>
          <p:nvPr>
            <p:ph type="title"/>
          </p:nvPr>
        </p:nvSpPr>
        <p:spPr/>
        <p:txBody>
          <a:bodyPr/>
          <a:lstStyle/>
          <a:p>
            <a:r>
              <a:t>Evaluation Metrics &amp; Formulae</a:t>
            </a:r>
          </a:p>
        </p:txBody>
      </p:sp>
      <p:sp>
        <p:nvSpPr>
          <p:cNvPr id="7" name="Content Placeholder 6">
            <a:extLst>
              <a:ext uri="{FF2B5EF4-FFF2-40B4-BE49-F238E27FC236}">
                <a16:creationId xmlns:a16="http://schemas.microsoft.com/office/drawing/2014/main" id="{A95DE999-CFE4-E7F0-47D1-466A2420216E}"/>
              </a:ext>
            </a:extLst>
          </p:cNvPr>
          <p:cNvSpPr>
            <a:spLocks noGrp="1"/>
          </p:cNvSpPr>
          <p:nvPr>
            <p:ph idx="1"/>
          </p:nvPr>
        </p:nvSpPr>
        <p:spPr/>
        <p:txBody>
          <a:bodyPr wrap="square">
            <a:normAutofit/>
          </a:bodyPr>
          <a:lstStyle/>
          <a:p>
            <a:pPr>
              <a:spcAft>
                <a:spcPts val="800"/>
              </a:spcAft>
            </a:pPr>
            <a:endParaRPr lang="en-IN" sz="3200" dirty="0"/>
          </a:p>
        </p:txBody>
      </p:sp>
      <p:sp>
        <p:nvSpPr>
          <p:cNvPr id="4" name="Date Placeholder 3">
            <a:extLst>
              <a:ext uri="{FF2B5EF4-FFF2-40B4-BE49-F238E27FC236}">
                <a16:creationId xmlns:a16="http://schemas.microsoft.com/office/drawing/2014/main" id="{890287BF-9547-5C29-E013-B0B8B7848F19}"/>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30FBDD99-C561-ADED-E7C8-2E8CE575A9E9}"/>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A625D315-B629-4773-6EEE-804B5803616E}"/>
              </a:ext>
            </a:extLst>
          </p:cNvPr>
          <p:cNvSpPr>
            <a:spLocks noGrp="1"/>
          </p:cNvSpPr>
          <p:nvPr>
            <p:ph type="sldNum" sz="quarter" idx="12"/>
          </p:nvPr>
        </p:nvSpPr>
        <p:spPr/>
        <p:txBody>
          <a:bodyPr/>
          <a:lstStyle/>
          <a:p>
            <a:r>
              <a:t>22</a:t>
            </a:r>
          </a:p>
        </p:txBody>
      </p:sp>
      <p:pic>
        <p:nvPicPr>
          <p:cNvPr id="8" name="Picture 7" descr="metrics_formulae.png"/>
          <p:cNvPicPr>
            <a:picLocks noChangeAspect="1"/>
          </p:cNvPicPr>
          <p:nvPr/>
        </p:nvPicPr>
        <p:blipFill>
          <a:blip r:embed="rId2"/>
          <a:stretch>
            <a:fillRect/>
          </a:stretch>
        </p:blipFill>
        <p:spPr>
          <a:xfrm>
            <a:off x="1298448" y="1216152"/>
            <a:ext cx="9601200" cy="50551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E1A6E-5B4A-008A-5B47-21539A6BBA3C}"/>
              </a:ext>
            </a:extLst>
          </p:cNvPr>
          <p:cNvSpPr>
            <a:spLocks noGrp="1"/>
          </p:cNvSpPr>
          <p:nvPr>
            <p:ph type="title"/>
          </p:nvPr>
        </p:nvSpPr>
        <p:spPr/>
        <p:txBody>
          <a:bodyPr/>
          <a:lstStyle/>
          <a:p>
            <a:r>
              <a:rPr lang="en-IN" dirty="0"/>
              <a:t>results</a:t>
            </a:r>
          </a:p>
        </p:txBody>
      </p:sp>
      <p:sp>
        <p:nvSpPr>
          <p:cNvPr id="7" name="Content Placeholder 6">
            <a:extLst>
              <a:ext uri="{FF2B5EF4-FFF2-40B4-BE49-F238E27FC236}">
                <a16:creationId xmlns:a16="http://schemas.microsoft.com/office/drawing/2014/main" id="{9270B0B9-09E0-0D3F-D254-026327F5FA62}"/>
              </a:ext>
            </a:extLst>
          </p:cNvPr>
          <p:cNvSpPr>
            <a:spLocks noGrp="1"/>
          </p:cNvSpPr>
          <p:nvPr>
            <p:ph idx="1"/>
          </p:nvPr>
        </p:nvSpPr>
        <p:spPr/>
        <p:txBody>
          <a:bodyPr wrap="square">
            <a:normAutofit/>
          </a:bodyPr>
          <a:lstStyle/>
          <a:p>
            <a:pPr algn="l"/>
            <a:r>
              <a:rPr sz="1600" b="1" dirty="0"/>
              <a:t>Per-class classifier performance under stratified cross-validation</a:t>
            </a:r>
            <a:r>
              <a:rPr lang="en-US" sz="1600" b="1" dirty="0"/>
              <a:t>.</a:t>
            </a:r>
            <a:endParaRPr lang="en-IN" sz="3600" dirty="0"/>
          </a:p>
        </p:txBody>
      </p:sp>
      <p:sp>
        <p:nvSpPr>
          <p:cNvPr id="4" name="Date Placeholder 3">
            <a:extLst>
              <a:ext uri="{FF2B5EF4-FFF2-40B4-BE49-F238E27FC236}">
                <a16:creationId xmlns:a16="http://schemas.microsoft.com/office/drawing/2014/main" id="{562B42F3-5FCB-EEE6-C894-247C28A8CFA7}"/>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2345BBBC-65B1-22C1-1AFF-557BA79AF014}"/>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BCB99474-0190-12FF-9BB3-53198BC134A9}"/>
              </a:ext>
            </a:extLst>
          </p:cNvPr>
          <p:cNvSpPr>
            <a:spLocks noGrp="1"/>
          </p:cNvSpPr>
          <p:nvPr>
            <p:ph type="sldNum" sz="quarter" idx="12"/>
          </p:nvPr>
        </p:nvSpPr>
        <p:spPr/>
        <p:txBody>
          <a:bodyPr/>
          <a:lstStyle/>
          <a:p>
            <a:r>
              <a:t>23</a:t>
            </a:r>
          </a:p>
        </p:txBody>
      </p:sp>
      <p:pic>
        <p:nvPicPr>
          <p:cNvPr id="8" name="Picture 7" descr="results_chart.png"/>
          <p:cNvPicPr>
            <a:picLocks noChangeAspect="1"/>
          </p:cNvPicPr>
          <p:nvPr/>
        </p:nvPicPr>
        <p:blipFill>
          <a:blip r:embed="rId4"/>
          <a:stretch>
            <a:fillRect/>
          </a:stretch>
        </p:blipFill>
        <p:spPr>
          <a:xfrm>
            <a:off x="746607" y="1591056"/>
            <a:ext cx="10698480" cy="4849909"/>
          </a:xfrm>
          <a:prstGeom prst="rect">
            <a:avLst/>
          </a:prstGeom>
        </p:spPr>
      </p:pic>
    </p:spTree>
    <p:extLst>
      <p:ext uri="{BB962C8B-B14F-4D97-AF65-F5344CB8AC3E}">
        <p14:creationId xmlns:p14="http://schemas.microsoft.com/office/powerpoint/2010/main" val="1376809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82D0-D960-A528-97C5-1950887CF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9F193-5B66-EBA0-F901-8044E52CAF6D}"/>
              </a:ext>
            </a:extLst>
          </p:cNvPr>
          <p:cNvSpPr>
            <a:spLocks noGrp="1"/>
          </p:cNvSpPr>
          <p:nvPr>
            <p:ph type="title"/>
          </p:nvPr>
        </p:nvSpPr>
        <p:spPr/>
        <p:txBody>
          <a:bodyPr/>
          <a:lstStyle/>
          <a:p>
            <a:r>
              <a:rPr lang="en-IN" dirty="0"/>
              <a:t>Discussion</a:t>
            </a:r>
          </a:p>
        </p:txBody>
      </p:sp>
      <p:sp>
        <p:nvSpPr>
          <p:cNvPr id="7" name="Content Placeholder 6">
            <a:extLst>
              <a:ext uri="{FF2B5EF4-FFF2-40B4-BE49-F238E27FC236}">
                <a16:creationId xmlns:a16="http://schemas.microsoft.com/office/drawing/2014/main" id="{A95DE999-CFE4-E7F0-47D1-466A2420216E}"/>
              </a:ext>
            </a:extLst>
          </p:cNvPr>
          <p:cNvSpPr>
            <a:spLocks noGrp="1"/>
          </p:cNvSpPr>
          <p:nvPr>
            <p:ph idx="1"/>
          </p:nvPr>
        </p:nvSpPr>
        <p:spPr/>
        <p:txBody>
          <a:bodyPr wrap="square">
            <a:normAutofit/>
          </a:bodyPr>
          <a:lstStyle/>
          <a:p>
            <a:pPr>
              <a:spcAft>
                <a:spcPts val="800"/>
              </a:spcAft>
            </a:pPr>
            <a:r>
              <a:rPr sz="1800" b="0"/>
              <a:t>Fine-tuned Legal-BERT attains macro-F1 0.902 across all twelve clause categories on a held-out 419-clause test set — exceeding the project macro-F1 target of 0.80.</a:t>
            </a:r>
            <a:endParaRPr lang="en-IN" sz="3200" dirty="0"/>
          </a:p>
          <a:p>
            <a:pPr>
              <a:spcAft>
                <a:spcPts val="800"/>
              </a:spcAft>
            </a:pPr>
            <a:r>
              <a:rPr sz="1800" b="0"/>
              <a:t>Lift over baseline is dramatic: TF-IDF + LogReg macro-F1 of 0.61 versus Legal-BERT macro-F1 of 0.902 (a 48% relative improvement on the same split).</a:t>
            </a:r>
          </a:p>
          <a:p>
            <a:pPr>
              <a:spcAft>
                <a:spcPts val="800"/>
              </a:spcAft>
            </a:pPr>
            <a:r>
              <a:rPr sz="1800" b="0"/>
              <a:t>Weakest classes are WARRANTY (F1 0.735) and DISPUTE_RESOLUTION (F1 0.750) — both show recall = 1.000 with lower precision, i.e. the classifier over-predicts them; further seed examples are the obvious mitigation.</a:t>
            </a:r>
          </a:p>
          <a:p>
            <a:pPr>
              <a:spcAft>
                <a:spcPts val="800"/>
              </a:spcAft>
            </a:pPr>
            <a:r>
              <a:rPr sz="1800" b="0"/>
              <a:t>Rewriter ROUGE climbs monotonically across ten epochs to ROUGE-1 = 0.394, ROUGE-2 = 0.231 and ROUGE-L = 0.352 — a healthy learning curve on a small domain corpus.</a:t>
            </a:r>
          </a:p>
          <a:p>
            <a:pPr>
              <a:spcAft>
                <a:spcPts val="800"/>
              </a:spcAft>
            </a:pPr>
            <a:r>
              <a:rPr sz="1800" b="0"/>
              <a:t>Engineering wrinkles, openly noted: pdf.js 5.x broke the Next.js build (pinned to 4.x); Kaggle's current PyTorch lacks kernels for the P100 (trained on T4 x2 instead).</a:t>
            </a:r>
          </a:p>
          <a:p>
            <a:pPr>
              <a:spcAft>
                <a:spcPts val="800"/>
              </a:spcAft>
            </a:pPr>
            <a:r>
              <a:rPr sz="1800" b="0"/>
              <a:t>Risk flagging is kept fully rule-based (no machine learning) so every flagged clause stays transparent and explainable.</a:t>
            </a:r>
          </a:p>
        </p:txBody>
      </p:sp>
      <p:sp>
        <p:nvSpPr>
          <p:cNvPr id="4" name="Date Placeholder 3">
            <a:extLst>
              <a:ext uri="{FF2B5EF4-FFF2-40B4-BE49-F238E27FC236}">
                <a16:creationId xmlns:a16="http://schemas.microsoft.com/office/drawing/2014/main" id="{890287BF-9547-5C29-E013-B0B8B7848F19}"/>
              </a:ext>
            </a:extLst>
          </p:cNvPr>
          <p:cNvSpPr>
            <a:spLocks noGrp="1"/>
          </p:cNvSpPr>
          <p:nvPr>
            <p:ph type="dt" sz="half" idx="10"/>
          </p:nvPr>
        </p:nvSpPr>
        <p:spPr/>
        <p:txBody>
          <a:bodyPr/>
          <a:lstStyle/>
          <a:p>
            <a:fld id="{8B7A60F6-7DB0-467E-96ED-BD436AB6B60E}" type="datetime1">
              <a:rPr lang="en-US" smtClean="0"/>
              <a:t>5/23/2026</a:t>
            </a:fld>
            <a:endParaRPr lang="en-US" dirty="0"/>
          </a:p>
        </p:txBody>
      </p:sp>
      <p:sp>
        <p:nvSpPr>
          <p:cNvPr id="5" name="Footer Placeholder 4">
            <a:extLst>
              <a:ext uri="{FF2B5EF4-FFF2-40B4-BE49-F238E27FC236}">
                <a16:creationId xmlns:a16="http://schemas.microsoft.com/office/drawing/2014/main" id="{30FBDD99-C561-ADED-E7C8-2E8CE575A9E9}"/>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A625D315-B629-4773-6EEE-804B5803616E}"/>
              </a:ext>
            </a:extLst>
          </p:cNvPr>
          <p:cNvSpPr>
            <a:spLocks noGrp="1"/>
          </p:cNvSpPr>
          <p:nvPr>
            <p:ph type="sldNum" sz="quarter" idx="12"/>
          </p:nvPr>
        </p:nvSpPr>
        <p:spPr/>
        <p:txBody>
          <a:bodyPr/>
          <a:lstStyle/>
          <a:p>
            <a:r>
              <a:t>24</a:t>
            </a:r>
          </a:p>
        </p:txBody>
      </p:sp>
    </p:spTree>
    <p:extLst>
      <p:ext uri="{BB962C8B-B14F-4D97-AF65-F5344CB8AC3E}">
        <p14:creationId xmlns:p14="http://schemas.microsoft.com/office/powerpoint/2010/main" val="246828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CFD7-9AD0-9321-A6E2-12259B3BF88F}"/>
              </a:ext>
            </a:extLst>
          </p:cNvPr>
          <p:cNvSpPr>
            <a:spLocks noGrp="1"/>
          </p:cNvSpPr>
          <p:nvPr>
            <p:ph type="title"/>
          </p:nvPr>
        </p:nvSpPr>
        <p:spPr/>
        <p:txBody>
          <a:bodyPr/>
          <a:lstStyle/>
          <a:p>
            <a:r>
              <a:t>References</a:t>
            </a:r>
          </a:p>
        </p:txBody>
      </p:sp>
      <p:sp>
        <p:nvSpPr>
          <p:cNvPr id="3" name="Content Placeholder 2">
            <a:extLst>
              <a:ext uri="{FF2B5EF4-FFF2-40B4-BE49-F238E27FC236}">
                <a16:creationId xmlns:a16="http://schemas.microsoft.com/office/drawing/2014/main" id="{CFFC27DE-0366-D814-DA65-6A000B7AC82E}"/>
              </a:ext>
            </a:extLst>
          </p:cNvPr>
          <p:cNvSpPr>
            <a:spLocks noGrp="1"/>
          </p:cNvSpPr>
          <p:nvPr>
            <p:ph idx="1"/>
          </p:nvPr>
        </p:nvSpPr>
        <p:spPr>
          <a:xfrm>
            <a:off x="266330" y="1240584"/>
            <a:ext cx="11745157" cy="5101689"/>
          </a:xfrm>
        </p:spPr>
        <p:txBody>
          <a:bodyPr wrap="square">
            <a:normAutofit lnSpcReduction="10000"/>
          </a:bodyPr>
          <a:lstStyle/>
          <a:p>
            <a:pPr marL="274320" indent="-274320" algn="just" fontAlgn="t">
              <a:spcAft>
                <a:spcPts val="400"/>
              </a:spcAft>
              <a:buFont typeface="+mj-lt"/>
              <a:buNone/>
            </a:pPr>
            <a:r>
              <a:rPr sz="1050" b="1">
                <a:solidFill>
                  <a:srgbClr val="1A3260"/>
                </a:solidFill>
              </a:rPr>
              <a:t>[1]  </a:t>
            </a:r>
            <a:r>
              <a:rPr sz="1050" b="0"/>
              <a:t>F. Ariai and G. Demartini, “Natural Language Processing for the Legal Domain: A Survey of Tasks, Datasets, Models and Challenges,” ACM Computing Surveys, 2024 (arXiv:2410.21306).</a:t>
            </a:r>
          </a:p>
          <a:p>
            <a:pPr marL="274320" indent="-274320">
              <a:spcAft>
                <a:spcPts val="400"/>
              </a:spcAft>
              <a:buNone/>
            </a:pPr>
            <a:r>
              <a:rPr sz="1050" b="1">
                <a:solidFill>
                  <a:srgbClr val="1A3260"/>
                </a:solidFill>
              </a:rPr>
              <a:t>[2]  </a:t>
            </a:r>
            <a:r>
              <a:rPr sz="1050" b="0"/>
              <a:t>“A Survey of Classification Tasks and Approaches for Legal Contracts,” Artificial Intelligence Review, Springer, 2025.</a:t>
            </a:r>
          </a:p>
          <a:p>
            <a:pPr marL="274320" indent="-274320">
              <a:spcAft>
                <a:spcPts val="400"/>
              </a:spcAft>
              <a:buNone/>
            </a:pPr>
            <a:r>
              <a:rPr sz="1050" b="1">
                <a:solidFill>
                  <a:srgbClr val="1A3260"/>
                </a:solidFill>
              </a:rPr>
              <a:t>[3]  </a:t>
            </a:r>
            <a:r>
              <a:rPr sz="1050" b="0"/>
              <a:t>“A Comprehensive Survey on Legal Summarization: Challenges and Future Directions,” arXiv:2501.17830, 2025.</a:t>
            </a:r>
          </a:p>
          <a:p>
            <a:pPr marL="274320" indent="-274320">
              <a:spcAft>
                <a:spcPts val="400"/>
              </a:spcAft>
              <a:buNone/>
            </a:pPr>
            <a:r>
              <a:rPr sz="1050" b="1">
                <a:solidFill>
                  <a:srgbClr val="1A3260"/>
                </a:solidFill>
              </a:rPr>
              <a:t>[4]  </a:t>
            </a:r>
            <a:r>
              <a:rPr sz="1050" b="0"/>
              <a:t>D. Ganguly et al., “Legal Text Processing Challenges: NER and Sentence Boundary Detection,” 2023.</a:t>
            </a:r>
          </a:p>
          <a:p>
            <a:pPr marL="274320" indent="-274320">
              <a:spcAft>
                <a:spcPts val="400"/>
              </a:spcAft>
              <a:buNone/>
            </a:pPr>
            <a:r>
              <a:rPr sz="1050" b="1">
                <a:solidFill>
                  <a:srgbClr val="1A3260"/>
                </a:solidFill>
              </a:rPr>
              <a:t>[5]  </a:t>
            </a:r>
            <a:r>
              <a:rPr sz="1050" b="0"/>
              <a:t>J. Devlin, M.-W. Chang, K. Lee and K. Toutanova, “BERT: Pre-training of Deep Bidirectional Transformers for Language Understanding,” NAACL-HLT, 2019.</a:t>
            </a:r>
          </a:p>
          <a:p>
            <a:pPr marL="274320" indent="-274320">
              <a:spcAft>
                <a:spcPts val="400"/>
              </a:spcAft>
              <a:buNone/>
            </a:pPr>
            <a:r>
              <a:rPr sz="1050" b="1">
                <a:solidFill>
                  <a:srgbClr val="1A3260"/>
                </a:solidFill>
              </a:rPr>
              <a:t>[6]  </a:t>
            </a:r>
            <a:r>
              <a:rPr sz="1050" b="0"/>
              <a:t>I. Chalkidis, M. Fergadiotis, P. Malakasiotis, N. Aletras and I. Androutsopoulos, “LEGAL-BERT: The Muppets Straight Out of Law School,” Findings of EMNLP, 2020.</a:t>
            </a:r>
          </a:p>
          <a:p>
            <a:pPr marL="274320" indent="-274320">
              <a:spcAft>
                <a:spcPts val="400"/>
              </a:spcAft>
              <a:buNone/>
            </a:pPr>
            <a:r>
              <a:rPr sz="1050" b="1">
                <a:solidFill>
                  <a:srgbClr val="1A3260"/>
                </a:solidFill>
              </a:rPr>
              <a:t>[7]  </a:t>
            </a:r>
            <a:r>
              <a:rPr sz="1050" b="0"/>
              <a:t>V. Sanh, L. Debut, J. Chaumond and T. Wolf, “DistilBERT, a Distilled Version of BERT: Smaller, Faster, Cheaper and Lighter,” arXiv:1910.01108, 2019.</a:t>
            </a:r>
          </a:p>
          <a:p>
            <a:pPr marL="274320" indent="-274320">
              <a:spcAft>
                <a:spcPts val="400"/>
              </a:spcAft>
              <a:buNone/>
            </a:pPr>
            <a:r>
              <a:rPr sz="1050" b="1">
                <a:solidFill>
                  <a:srgbClr val="1A3260"/>
                </a:solidFill>
              </a:rPr>
              <a:t>[8]  </a:t>
            </a:r>
            <a:r>
              <a:rPr sz="1050" b="0"/>
              <a:t>C. Raffel, N. Shazeer, A. Roberts et al., “Exploring the Limits of Transfer Learning with a Unified Text-to-Text Transformer,” JMLR, vol. 21, 2020.</a:t>
            </a:r>
          </a:p>
          <a:p>
            <a:pPr marL="274320" indent="-274320">
              <a:spcAft>
                <a:spcPts val="400"/>
              </a:spcAft>
              <a:buNone/>
            </a:pPr>
            <a:r>
              <a:rPr sz="1050" b="1">
                <a:solidFill>
                  <a:srgbClr val="1A3260"/>
                </a:solidFill>
              </a:rPr>
              <a:t>[9]  </a:t>
            </a:r>
            <a:r>
              <a:rPr sz="1050" b="0"/>
              <a:t>H. W. Chung, L. Hou, S. Longpre et al., “Scaling Instruction-Finetuned Language Models,” arXiv:2210.11416, 2022.</a:t>
            </a:r>
          </a:p>
          <a:p>
            <a:pPr marL="274320" indent="-274320">
              <a:spcAft>
                <a:spcPts val="400"/>
              </a:spcAft>
              <a:buNone/>
            </a:pPr>
            <a:r>
              <a:rPr sz="1050" b="1">
                <a:solidFill>
                  <a:srgbClr val="1A3260"/>
                </a:solidFill>
              </a:rPr>
              <a:t>[10]  </a:t>
            </a:r>
            <a:r>
              <a:rPr sz="1050" b="0"/>
              <a:t>M. Lewis, Y. Liu, N. Goyal et al., “BART: Denoising Sequence-to-Sequence Pre-training for Natural Language Generation, Translation and Comprehension,” ACL, 2020.</a:t>
            </a:r>
          </a:p>
          <a:p>
            <a:pPr marL="274320" indent="-274320">
              <a:spcAft>
                <a:spcPts val="400"/>
              </a:spcAft>
              <a:buNone/>
            </a:pPr>
            <a:r>
              <a:rPr sz="1050" b="1">
                <a:solidFill>
                  <a:srgbClr val="1A3260"/>
                </a:solidFill>
              </a:rPr>
              <a:t>[11]  </a:t>
            </a:r>
            <a:r>
              <a:rPr sz="1050" b="0"/>
              <a:t>D. Hendrycks, C. Burns, A. Chen and S. Ball, “CUAD: An Expert-Annotated NLP Dataset for Legal Contract Review,” NeurIPS, 2021.</a:t>
            </a:r>
          </a:p>
          <a:p>
            <a:pPr marL="274320" indent="-274320">
              <a:spcAft>
                <a:spcPts val="400"/>
              </a:spcAft>
              <a:buNone/>
            </a:pPr>
            <a:r>
              <a:rPr sz="1050" b="1">
                <a:solidFill>
                  <a:srgbClr val="1A3260"/>
                </a:solidFill>
              </a:rPr>
              <a:t>[12]  </a:t>
            </a:r>
            <a:r>
              <a:rPr sz="1050" b="0"/>
              <a:t>“Cost-Benefit Analysis of Deploying Shallow, Deep Learning and Generative Models for Legal Text Classification,” ResearchGate / Springer, 2024.</a:t>
            </a:r>
          </a:p>
        </p:txBody>
      </p:sp>
      <p:sp>
        <p:nvSpPr>
          <p:cNvPr id="5" name="Footer Placeholder 4">
            <a:extLst>
              <a:ext uri="{FF2B5EF4-FFF2-40B4-BE49-F238E27FC236}">
                <a16:creationId xmlns:a16="http://schemas.microsoft.com/office/drawing/2014/main" id="{70112933-667F-2E35-0EE6-9FA5B29BD8C0}"/>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D465D270-2E29-6613-95DD-7E65CA1C5CED}"/>
              </a:ext>
            </a:extLst>
          </p:cNvPr>
          <p:cNvSpPr>
            <a:spLocks noGrp="1"/>
          </p:cNvSpPr>
          <p:nvPr>
            <p:ph type="sldNum" sz="quarter" idx="12"/>
          </p:nvPr>
        </p:nvSpPr>
        <p:spPr/>
        <p:txBody>
          <a:bodyPr/>
          <a:lstStyle/>
          <a:p>
            <a:r>
              <a:t>25</a:t>
            </a:r>
          </a:p>
        </p:txBody>
      </p:sp>
    </p:spTree>
    <p:extLst>
      <p:ext uri="{BB962C8B-B14F-4D97-AF65-F5344CB8AC3E}">
        <p14:creationId xmlns:p14="http://schemas.microsoft.com/office/powerpoint/2010/main" val="3223051302"/>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713BCFD7-9AD0-9321-A6E2-12259B3BF88F}"/>
              </a:ext>
            </a:extLst>
          </p:cNvPr>
          <p:cNvSpPr>
            <a:spLocks noGrp="1"/>
          </p:cNvSpPr>
          <p:nvPr>
            <p:ph type="title"/>
          </p:nvPr>
        </p:nvSpPr>
        <p:spPr/>
        <p:txBody>
          <a:bodyPr/>
          <a:lstStyle/>
          <a:p>
            <a:r>
              <a:t>References (cont.)</a:t>
            </a:r>
          </a:p>
        </p:txBody>
      </p:sp>
      <p:sp>
        <p:nvSpPr>
          <p:cNvPr id="3" name="Content Placeholder 2">
            <a:extLst>
              <a:ext uri="{FF2B5EF4-FFF2-40B4-BE49-F238E27FC236}">
                <a16:creationId xmlns:a16="http://schemas.microsoft.com/office/drawing/2014/main" id="{CFFC27DE-0366-D814-DA65-6A000B7AC82E}"/>
              </a:ext>
            </a:extLst>
          </p:cNvPr>
          <p:cNvSpPr>
            <a:spLocks noGrp="1"/>
          </p:cNvSpPr>
          <p:nvPr>
            <p:ph idx="1"/>
          </p:nvPr>
        </p:nvSpPr>
        <p:spPr>
          <a:xfrm>
            <a:off x="266330" y="1240584"/>
            <a:ext cx="11745157" cy="5101689"/>
          </a:xfrm>
        </p:spPr>
        <p:txBody>
          <a:bodyPr wrap="square">
            <a:normAutofit lnSpcReduction="10000"/>
          </a:bodyPr>
          <a:lstStyle/>
          <a:p>
            <a:pPr marL="274320" indent="-274320" algn="just" fontAlgn="t">
              <a:spcAft>
                <a:spcPts val="400"/>
              </a:spcAft>
              <a:buFont typeface="+mj-lt"/>
              <a:buNone/>
            </a:pPr>
            <a:r>
              <a:rPr sz="1050" b="1">
                <a:solidFill>
                  <a:srgbClr val="1A3260"/>
                </a:solidFill>
              </a:rPr>
              <a:t>[13]  </a:t>
            </a:r>
            <a:r>
              <a:rPr sz="1050" b="0"/>
              <a:t>Y. Koreeda and C. D. Manning, “ContractNLI: A Dataset for Document-Level Natural Language Inference for Contracts,” Findings of EMNLP, 2021.</a:t>
            </a:r>
          </a:p>
          <a:p>
            <a:pPr marL="274320" indent="-274320">
              <a:spcAft>
                <a:spcPts val="400"/>
              </a:spcAft>
              <a:buNone/>
            </a:pPr>
            <a:r>
              <a:rPr sz="1050" b="1">
                <a:solidFill>
                  <a:srgbClr val="1A3260"/>
                </a:solidFill>
              </a:rPr>
              <a:t>[14]  </a:t>
            </a:r>
            <a:r>
              <a:rPr sz="1050" b="0"/>
              <a:t>S. H. Wang et al., “MAUD: An Expert-Annotated Legal NLP Dataset for Merger Agreement Understanding,” arXiv:2301.00876, 2023.</a:t>
            </a:r>
          </a:p>
          <a:p>
            <a:pPr marL="274320" indent="-274320">
              <a:spcAft>
                <a:spcPts val="400"/>
              </a:spcAft>
              <a:buNone/>
            </a:pPr>
            <a:r>
              <a:rPr sz="1050" b="1">
                <a:solidFill>
                  <a:srgbClr val="1A3260"/>
                </a:solidFill>
              </a:rPr>
              <a:t>[15]  </a:t>
            </a:r>
            <a:r>
              <a:rPr sz="1050" b="0"/>
              <a:t>“ACORD: An Expert-Annotated Retrieval Dataset for Legal Contract Clause Drafting,” arXiv:2501.06582, 2025.</a:t>
            </a:r>
          </a:p>
          <a:p>
            <a:pPr marL="274320" indent="-274320">
              <a:spcAft>
                <a:spcPts val="400"/>
              </a:spcAft>
              <a:buNone/>
            </a:pPr>
            <a:r>
              <a:rPr sz="1050" b="1">
                <a:solidFill>
                  <a:srgbClr val="1A3260"/>
                </a:solidFill>
              </a:rPr>
              <a:t>[16]  </a:t>
            </a:r>
            <a:r>
              <a:rPr sz="1050" b="0"/>
              <a:t>“Natural Language Processing for Legal Document Review: Categorising Deontic Modalities in Contracts,” Artificial Intelligence and Law, Springer, 2023.</a:t>
            </a:r>
          </a:p>
          <a:p>
            <a:pPr marL="274320" indent="-274320">
              <a:spcAft>
                <a:spcPts val="400"/>
              </a:spcAft>
              <a:buNone/>
            </a:pPr>
            <a:r>
              <a:rPr sz="1050" b="1">
                <a:solidFill>
                  <a:srgbClr val="1A3260"/>
                </a:solidFill>
              </a:rPr>
              <a:t>[17]  </a:t>
            </a:r>
            <a:r>
              <a:rPr sz="1050" b="0"/>
              <a:t>M. Cemri et al., “Unsupervised Simplification of Legal Texts,” arXiv:2209.00557, 2022.</a:t>
            </a:r>
          </a:p>
          <a:p>
            <a:pPr marL="274320" indent="-274320">
              <a:spcAft>
                <a:spcPts val="400"/>
              </a:spcAft>
              <a:buNone/>
            </a:pPr>
            <a:r>
              <a:rPr sz="1050" b="1">
                <a:solidFill>
                  <a:srgbClr val="1A3260"/>
                </a:solidFill>
              </a:rPr>
              <a:t>[18]  </a:t>
            </a:r>
            <a:r>
              <a:rPr sz="1050" b="0"/>
              <a:t>“Text Simplification System for Legal Contract Review,” 2024.</a:t>
            </a:r>
          </a:p>
          <a:p>
            <a:pPr marL="274320" indent="-274320">
              <a:spcAft>
                <a:spcPts val="400"/>
              </a:spcAft>
              <a:buNone/>
            </a:pPr>
            <a:r>
              <a:rPr sz="1050" b="1">
                <a:solidFill>
                  <a:srgbClr val="1A3260"/>
                </a:solidFill>
              </a:rPr>
              <a:t>[19]  </a:t>
            </a:r>
            <a:r>
              <a:rPr sz="1050" b="0"/>
              <a:t>“Legal Lay Summarization: Exploring Methods and Data Generation with Large Language Models,” Artificial Intelligence Review, Springer, 2025.</a:t>
            </a:r>
          </a:p>
          <a:p>
            <a:pPr marL="274320" indent="-274320">
              <a:spcAft>
                <a:spcPts val="400"/>
              </a:spcAft>
              <a:buNone/>
            </a:pPr>
            <a:r>
              <a:rPr sz="1050" b="1">
                <a:solidFill>
                  <a:srgbClr val="1A3260"/>
                </a:solidFill>
              </a:rPr>
              <a:t>[20]  </a:t>
            </a:r>
            <a:r>
              <a:rPr sz="1050" b="0"/>
              <a:t>L. Manor and J. J. Li, “Plain English Summarization of Contracts,” Natural Legal Language Processing Workshop, 2019.</a:t>
            </a:r>
          </a:p>
          <a:p>
            <a:pPr marL="274320" indent="-274320">
              <a:spcAft>
                <a:spcPts val="400"/>
              </a:spcAft>
              <a:buNone/>
            </a:pPr>
            <a:r>
              <a:rPr sz="1050" b="1">
                <a:solidFill>
                  <a:srgbClr val="1A3260"/>
                </a:solidFill>
              </a:rPr>
              <a:t>[21]  </a:t>
            </a:r>
            <a:r>
              <a:rPr sz="1050" b="0"/>
              <a:t>M. Lippi, P. Pałka, G. Contissa et al., “CLAUDETTE: An Automated Detector of Potentially Unfair Clauses in Online Terms of Service,” Artificial Intelligence and Law, vol. 27, 2019.</a:t>
            </a:r>
          </a:p>
          <a:p>
            <a:pPr marL="274320" indent="-274320">
              <a:spcAft>
                <a:spcPts val="400"/>
              </a:spcAft>
              <a:buNone/>
            </a:pPr>
            <a:r>
              <a:rPr sz="1050" b="1">
                <a:solidFill>
                  <a:srgbClr val="1A3260"/>
                </a:solidFill>
              </a:rPr>
              <a:t>[22]  </a:t>
            </a:r>
            <a:r>
              <a:rPr sz="1050" b="0"/>
              <a:t>Ruas et al., “Detecting and Explaining Unfairness in Consumer Contracts through Memory Networks,” Artificial Intelligence and Law, Springer, 2021.</a:t>
            </a:r>
          </a:p>
          <a:p>
            <a:pPr marL="274320" indent="-274320">
              <a:spcAft>
                <a:spcPts val="400"/>
              </a:spcAft>
              <a:buNone/>
            </a:pPr>
            <a:r>
              <a:rPr sz="1050" b="1">
                <a:solidFill>
                  <a:srgbClr val="1A3260"/>
                </a:solidFill>
              </a:rPr>
              <a:t>[23]  </a:t>
            </a:r>
            <a:r>
              <a:rPr sz="1050" b="0"/>
              <a:t>“A Support System for the Detection of Abusive Clauses in B2C Contracts,” Artificial Intelligence and Law, Springer, 2024.</a:t>
            </a:r>
          </a:p>
          <a:p>
            <a:pPr marL="274320" indent="-274320">
              <a:spcAft>
                <a:spcPts val="400"/>
              </a:spcAft>
              <a:buNone/>
            </a:pPr>
            <a:r>
              <a:rPr sz="1050" b="1">
                <a:solidFill>
                  <a:srgbClr val="1A3260"/>
                </a:solidFill>
              </a:rPr>
              <a:t>[24]  </a:t>
            </a:r>
            <a:r>
              <a:rPr sz="1050" b="0"/>
              <a:t>“Towards Mitigating Perceived Unfairness in Contracts from a Non-Legal Perspective,” ACL NLLP Workshop, 2023.</a:t>
            </a:r>
          </a:p>
        </p:txBody>
      </p:sp>
      <p:sp>
        <p:nvSpPr>
          <p:cNvPr id="5" name="Footer Placeholder 4">
            <a:extLst>
              <a:ext uri="{FF2B5EF4-FFF2-40B4-BE49-F238E27FC236}">
                <a16:creationId xmlns:a16="http://schemas.microsoft.com/office/drawing/2014/main" id="{70112933-667F-2E35-0EE6-9FA5B29BD8C0}"/>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D465D270-2E29-6613-95DD-7E65CA1C5CED}"/>
              </a:ext>
            </a:extLst>
          </p:cNvPr>
          <p:cNvSpPr>
            <a:spLocks noGrp="1"/>
          </p:cNvSpPr>
          <p:nvPr>
            <p:ph type="sldNum" sz="quarter" idx="12"/>
          </p:nvPr>
        </p:nvSpPr>
        <p:spPr/>
        <p:txBody>
          <a:bodyPr/>
          <a:lstStyle/>
          <a:p>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713BCFD7-9AD0-9321-A6E2-12259B3BF88F}"/>
              </a:ext>
            </a:extLst>
          </p:cNvPr>
          <p:cNvSpPr>
            <a:spLocks noGrp="1"/>
          </p:cNvSpPr>
          <p:nvPr>
            <p:ph type="title"/>
          </p:nvPr>
        </p:nvSpPr>
        <p:spPr/>
        <p:txBody>
          <a:bodyPr/>
          <a:lstStyle/>
          <a:p>
            <a:r>
              <a:t>References (cont.)</a:t>
            </a:r>
          </a:p>
        </p:txBody>
      </p:sp>
      <p:sp>
        <p:nvSpPr>
          <p:cNvPr id="3" name="Content Placeholder 2">
            <a:extLst>
              <a:ext uri="{FF2B5EF4-FFF2-40B4-BE49-F238E27FC236}">
                <a16:creationId xmlns:a16="http://schemas.microsoft.com/office/drawing/2014/main" id="{CFFC27DE-0366-D814-DA65-6A000B7AC82E}"/>
              </a:ext>
            </a:extLst>
          </p:cNvPr>
          <p:cNvSpPr>
            <a:spLocks noGrp="1"/>
          </p:cNvSpPr>
          <p:nvPr>
            <p:ph idx="1"/>
          </p:nvPr>
        </p:nvSpPr>
        <p:spPr>
          <a:xfrm>
            <a:off x="266330" y="1240584"/>
            <a:ext cx="11745157" cy="5101689"/>
          </a:xfrm>
        </p:spPr>
        <p:txBody>
          <a:bodyPr wrap="square">
            <a:normAutofit lnSpcReduction="10000"/>
          </a:bodyPr>
          <a:lstStyle/>
          <a:p>
            <a:pPr marL="274320" indent="-274320" algn="just" fontAlgn="t">
              <a:spcAft>
                <a:spcPts val="400"/>
              </a:spcAft>
              <a:buFont typeface="+mj-lt"/>
              <a:buNone/>
            </a:pPr>
            <a:r>
              <a:rPr sz="1050" b="1">
                <a:solidFill>
                  <a:srgbClr val="1A3260"/>
                </a:solidFill>
              </a:rPr>
              <a:t>[25]  </a:t>
            </a:r>
            <a:r>
              <a:rPr sz="1050" b="0"/>
              <a:t>“Software Engineering Meets Legal Texts: LLMs for Auto Detection of Contract Smells,” ScienceDirect, 2025.</a:t>
            </a:r>
          </a:p>
          <a:p>
            <a:pPr marL="274320" indent="-274320">
              <a:spcAft>
                <a:spcPts val="400"/>
              </a:spcAft>
              <a:buNone/>
            </a:pPr>
            <a:r>
              <a:rPr sz="1050" b="1">
                <a:solidFill>
                  <a:srgbClr val="1A3260"/>
                </a:solidFill>
              </a:rPr>
              <a:t>[26]  </a:t>
            </a:r>
            <a:r>
              <a:rPr sz="1050" b="0"/>
              <a:t>T. Wolf, L. Debut, V. Sanh et al., “Transformers: State-of-the-Art Natural Language Processing,” EMNLP: System Demonstrations, 2020.</a:t>
            </a:r>
          </a:p>
          <a:p>
            <a:pPr marL="274320" indent="-274320">
              <a:spcAft>
                <a:spcPts val="400"/>
              </a:spcAft>
              <a:buNone/>
            </a:pPr>
            <a:r>
              <a:rPr sz="1050" b="1">
                <a:solidFill>
                  <a:srgbClr val="1A3260"/>
                </a:solidFill>
              </a:rPr>
              <a:t>[27]  </a:t>
            </a:r>
            <a:r>
              <a:rPr sz="1050" b="0"/>
              <a:t>M. Honnibal and I. Montani, “spaCy 2: Natural Language Understanding with Bloom Embeddings, CNNs and Incremental Parsing,” 2017.</a:t>
            </a:r>
          </a:p>
          <a:p>
            <a:pPr marL="274320" indent="-274320">
              <a:spcAft>
                <a:spcPts val="400"/>
              </a:spcAft>
              <a:buNone/>
            </a:pPr>
            <a:r>
              <a:rPr sz="1050" b="1">
                <a:solidFill>
                  <a:srgbClr val="1A3260"/>
                </a:solidFill>
              </a:rPr>
              <a:t>[28]  </a:t>
            </a:r>
            <a:r>
              <a:rPr sz="1050" b="0"/>
              <a:t>R. Smith, “An Overview of the Tesseract OCR Engine,” Int. Conf. on Document Analysis and Recognition (ICDAR), 2007.</a:t>
            </a:r>
          </a:p>
          <a:p>
            <a:pPr marL="274320" indent="-274320">
              <a:spcAft>
                <a:spcPts val="400"/>
              </a:spcAft>
              <a:buNone/>
            </a:pPr>
            <a:r>
              <a:rPr sz="1050" b="1">
                <a:solidFill>
                  <a:srgbClr val="1A3260"/>
                </a:solidFill>
              </a:rPr>
              <a:t>[29]  </a:t>
            </a:r>
            <a:r>
              <a:rPr sz="1050" b="0"/>
              <a:t>I. Loshchilov and F. Hutter, “Decoupled Weight Decay Regularization,” ICLR, 2019.</a:t>
            </a:r>
          </a:p>
          <a:p>
            <a:pPr marL="274320" indent="-274320">
              <a:spcAft>
                <a:spcPts val="400"/>
              </a:spcAft>
              <a:buNone/>
            </a:pPr>
            <a:r>
              <a:rPr sz="1050" b="1">
                <a:solidFill>
                  <a:srgbClr val="1A3260"/>
                </a:solidFill>
              </a:rPr>
              <a:t>[30]  </a:t>
            </a:r>
            <a:r>
              <a:rPr sz="1050" b="0"/>
              <a:t>K. Papineni, S. Roukos, T. Ward and W.-J. Zhu, “BLEU: A Method for Automatic Evaluation of Machine Translation,” ACL, 2002.</a:t>
            </a:r>
          </a:p>
          <a:p>
            <a:pPr marL="274320" indent="-274320">
              <a:spcAft>
                <a:spcPts val="400"/>
              </a:spcAft>
              <a:buNone/>
            </a:pPr>
            <a:r>
              <a:rPr sz="1050" b="1">
                <a:solidFill>
                  <a:srgbClr val="1A3260"/>
                </a:solidFill>
              </a:rPr>
              <a:t>[31]  </a:t>
            </a:r>
            <a:r>
              <a:rPr sz="1050" b="0"/>
              <a:t>C.-Y. Lin, “ROUGE: A Package for Automatic Evaluation of Summaries,” Text Summarization Branches Out, 2004.</a:t>
            </a:r>
          </a:p>
          <a:p>
            <a:pPr marL="274320" indent="-274320">
              <a:spcAft>
                <a:spcPts val="400"/>
              </a:spcAft>
              <a:buNone/>
            </a:pPr>
            <a:r>
              <a:rPr sz="1050" b="1">
                <a:solidFill>
                  <a:srgbClr val="1A3260"/>
                </a:solidFill>
              </a:rPr>
              <a:t>[32]  </a:t>
            </a:r>
            <a:r>
              <a:rPr sz="1050" b="0"/>
              <a:t>M. Abadi et al., “TensorFlow: Large-Scale Machine Learning on Heterogeneous Systems,” 2015.</a:t>
            </a:r>
          </a:p>
          <a:p>
            <a:pPr marL="274320" indent="-274320">
              <a:spcAft>
                <a:spcPts val="400"/>
              </a:spcAft>
              <a:buNone/>
            </a:pPr>
            <a:r>
              <a:rPr sz="1050" b="1">
                <a:solidFill>
                  <a:srgbClr val="1A3260"/>
                </a:solidFill>
              </a:rPr>
              <a:t>[33]  </a:t>
            </a:r>
            <a:r>
              <a:rPr sz="1050" b="0"/>
              <a:t>I. Chalkidis et al., “LexGLUE: A Benchmark Dataset for Legal Language Understanding in English,” arXiv:2110.00976, 2021.</a:t>
            </a:r>
          </a:p>
          <a:p>
            <a:pPr marL="274320" indent="-274320">
              <a:spcAft>
                <a:spcPts val="400"/>
              </a:spcAft>
              <a:buNone/>
            </a:pPr>
            <a:r>
              <a:rPr sz="1050" b="1">
                <a:solidFill>
                  <a:srgbClr val="1A3260"/>
                </a:solidFill>
              </a:rPr>
              <a:t>[34]  </a:t>
            </a:r>
            <a:r>
              <a:rPr sz="1050" b="0"/>
              <a:t>“LEDGAR: A Large-Scale Multi-Label Corpus for Text Classification of Legal Provisions in Contracts,” LREC, 2020.</a:t>
            </a:r>
          </a:p>
          <a:p>
            <a:pPr marL="274320" indent="-274320">
              <a:spcAft>
                <a:spcPts val="400"/>
              </a:spcAft>
              <a:buNone/>
            </a:pPr>
            <a:r>
              <a:rPr sz="1050" b="1">
                <a:solidFill>
                  <a:srgbClr val="1A3260"/>
                </a:solidFill>
              </a:rPr>
              <a:t>[35]  </a:t>
            </a:r>
            <a:r>
              <a:rPr sz="1050" b="0"/>
              <a:t>K. Vuthoo, S. Khetarpaul and S. Mishra, “Efficient Clause Identification in Contracts Using NLP and Web-Sourced Data,” ICDAM 2025, Springer LNNS vol. 1594, 2026.</a:t>
            </a:r>
          </a:p>
        </p:txBody>
      </p:sp>
      <p:sp>
        <p:nvSpPr>
          <p:cNvPr id="5" name="Footer Placeholder 4">
            <a:extLst>
              <a:ext uri="{FF2B5EF4-FFF2-40B4-BE49-F238E27FC236}">
                <a16:creationId xmlns:a16="http://schemas.microsoft.com/office/drawing/2014/main" id="{70112933-667F-2E35-0EE6-9FA5B29BD8C0}"/>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D465D270-2E29-6613-95DD-7E65CA1C5CED}"/>
              </a:ext>
            </a:extLst>
          </p:cNvPr>
          <p:cNvSpPr>
            <a:spLocks noGrp="1"/>
          </p:cNvSpPr>
          <p:nvPr>
            <p:ph type="sldNum" sz="quarter" idx="12"/>
          </p:nvPr>
        </p:nvSpPr>
        <p:spPr/>
        <p:txBody>
          <a:bodyPr/>
          <a:lstStyle/>
          <a:p>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CFD7-9AD0-9321-A6E2-12259B3BF88F}"/>
              </a:ext>
            </a:extLst>
          </p:cNvPr>
          <p:cNvSpPr>
            <a:spLocks noGrp="1"/>
          </p:cNvSpPr>
          <p:nvPr>
            <p:ph type="title"/>
          </p:nvPr>
        </p:nvSpPr>
        <p:spPr/>
        <p:txBody>
          <a:bodyPr/>
          <a:lstStyle/>
          <a:p>
            <a:r>
              <a:t>References (cont.)</a:t>
            </a:r>
          </a:p>
        </p:txBody>
      </p:sp>
      <p:sp>
        <p:nvSpPr>
          <p:cNvPr id="3" name="Content Placeholder 2">
            <a:extLst>
              <a:ext uri="{FF2B5EF4-FFF2-40B4-BE49-F238E27FC236}">
                <a16:creationId xmlns:a16="http://schemas.microsoft.com/office/drawing/2014/main" id="{CFFC27DE-0366-D814-DA65-6A000B7AC82E}"/>
              </a:ext>
            </a:extLst>
          </p:cNvPr>
          <p:cNvSpPr>
            <a:spLocks noGrp="1"/>
          </p:cNvSpPr>
          <p:nvPr>
            <p:ph idx="1"/>
          </p:nvPr>
        </p:nvSpPr>
        <p:spPr>
          <a:xfrm>
            <a:off x="266329" y="1266621"/>
            <a:ext cx="11745157" cy="4324757"/>
          </a:xfrm>
        </p:spPr>
        <p:txBody>
          <a:bodyPr wrap="square">
            <a:normAutofit lnSpcReduction="10000"/>
          </a:bodyPr>
          <a:lstStyle/>
          <a:p>
            <a:pPr marL="274320" indent="-274320">
              <a:spcAft>
                <a:spcPts val="400"/>
              </a:spcAft>
              <a:buNone/>
            </a:pPr>
            <a:r>
              <a:rPr lang="en-US" sz="1400" b="1" i="0" dirty="0">
                <a:solidFill>
                  <a:srgbClr val="202020"/>
                </a:solidFill>
              </a:rPr>
              <a:t>[19]  </a:t>
            </a:r>
            <a:r>
              <a:rPr lang="en-US" sz="1400" b="0" i="0" dirty="0">
                <a:solidFill>
                  <a:srgbClr val="202020"/>
                </a:solidFill>
              </a:rPr>
              <a:t>“Legal Lay Summarization: Exploring Methods and Data Generation with Large Language Models,” Artificial Intelligence Review, Springer, 2025.</a:t>
            </a:r>
          </a:p>
          <a:p>
            <a:pPr marL="274320" indent="-274320">
              <a:spcAft>
                <a:spcPts val="400"/>
              </a:spcAft>
              <a:buNone/>
            </a:pPr>
            <a:r>
              <a:rPr lang="en-US" sz="1400" b="1" i="0" dirty="0">
                <a:solidFill>
                  <a:srgbClr val="202020"/>
                </a:solidFill>
              </a:rPr>
              <a:t>[20]  </a:t>
            </a:r>
            <a:r>
              <a:rPr lang="en-US" sz="1400" b="0" i="0" dirty="0">
                <a:solidFill>
                  <a:srgbClr val="202020"/>
                </a:solidFill>
              </a:rPr>
              <a:t>L. Manor and J. J. Li, “Plain English Summarization of Contracts,” Natural Legal Language Processing Workshop, 2019.</a:t>
            </a:r>
          </a:p>
          <a:p>
            <a:pPr marL="274320" indent="-274320">
              <a:spcAft>
                <a:spcPts val="400"/>
              </a:spcAft>
              <a:buNone/>
            </a:pPr>
            <a:r>
              <a:rPr lang="en-US" sz="1400" b="1" i="0" dirty="0">
                <a:solidFill>
                  <a:srgbClr val="202020"/>
                </a:solidFill>
              </a:rPr>
              <a:t>[21]  </a:t>
            </a:r>
            <a:r>
              <a:rPr lang="en-US" sz="1400" b="0" i="0" dirty="0">
                <a:solidFill>
                  <a:srgbClr val="202020"/>
                </a:solidFill>
              </a:rPr>
              <a:t>M. Lippi, P. </a:t>
            </a:r>
            <a:r>
              <a:rPr lang="en-US" sz="1400" b="0" i="0" dirty="0" err="1">
                <a:solidFill>
                  <a:srgbClr val="202020"/>
                </a:solidFill>
              </a:rPr>
              <a:t>Pałka</a:t>
            </a:r>
            <a:r>
              <a:rPr lang="en-US" sz="1400" b="0" i="0" dirty="0">
                <a:solidFill>
                  <a:srgbClr val="202020"/>
                </a:solidFill>
              </a:rPr>
              <a:t>, G. Contissa et al., “CLAUDETTE: An Automated Detector of Potentially Unfair Clauses in Online Terms of Service,” Artificial Intelligence and Law, vol. 27, 2019.</a:t>
            </a:r>
          </a:p>
          <a:p>
            <a:pPr marL="274320" indent="-274320">
              <a:spcAft>
                <a:spcPts val="400"/>
              </a:spcAft>
              <a:buNone/>
            </a:pPr>
            <a:r>
              <a:rPr lang="en-US" sz="1400" b="1" i="0" dirty="0">
                <a:solidFill>
                  <a:srgbClr val="202020"/>
                </a:solidFill>
              </a:rPr>
              <a:t>[22]  </a:t>
            </a:r>
            <a:r>
              <a:rPr lang="en-US" sz="1400" b="0" i="0" dirty="0">
                <a:solidFill>
                  <a:srgbClr val="202020"/>
                </a:solidFill>
              </a:rPr>
              <a:t>Ruas et al., “Detecting and Explaining Unfairness in Consumer Contracts through Memory Networks,” Artificial Intelligence and Law, Springer, 2021.</a:t>
            </a:r>
          </a:p>
          <a:p>
            <a:pPr marL="274320" indent="-274320">
              <a:spcAft>
                <a:spcPts val="400"/>
              </a:spcAft>
              <a:buNone/>
            </a:pPr>
            <a:r>
              <a:rPr lang="en-US" sz="1400" b="1" i="0" dirty="0">
                <a:solidFill>
                  <a:srgbClr val="202020"/>
                </a:solidFill>
              </a:rPr>
              <a:t>[23]  </a:t>
            </a:r>
            <a:r>
              <a:rPr lang="en-US" sz="1400" b="0" i="0" dirty="0">
                <a:solidFill>
                  <a:srgbClr val="202020"/>
                </a:solidFill>
              </a:rPr>
              <a:t>“A Support System for the Detection of Abusive Clauses in B2C Contracts,” Artificial Intelligence and Law, Springer, 2024.</a:t>
            </a:r>
          </a:p>
          <a:p>
            <a:pPr marL="274320" indent="-274320">
              <a:spcAft>
                <a:spcPts val="400"/>
              </a:spcAft>
              <a:buNone/>
            </a:pPr>
            <a:r>
              <a:rPr lang="en-US" sz="1400" b="1" i="0" dirty="0">
                <a:solidFill>
                  <a:srgbClr val="202020"/>
                </a:solidFill>
              </a:rPr>
              <a:t>[24]  </a:t>
            </a:r>
            <a:r>
              <a:rPr lang="en-US" sz="1400" b="0" i="0" dirty="0">
                <a:solidFill>
                  <a:srgbClr val="202020"/>
                </a:solidFill>
              </a:rPr>
              <a:t>“Towards Mitigating Perceived Unfairness in Contracts from a Non-Legal Perspective,” ACL NLLP Workshop, 2023.</a:t>
            </a:r>
          </a:p>
          <a:p>
            <a:pPr marL="274320" indent="-274320" algn="just" fontAlgn="t">
              <a:spcAft>
                <a:spcPts val="400"/>
              </a:spcAft>
              <a:buFont typeface="+mj-lt"/>
              <a:buNone/>
            </a:pPr>
            <a:r>
              <a:rPr lang="en-IN" sz="1400" b="1" dirty="0">
                <a:solidFill>
                  <a:srgbClr val="202020"/>
                </a:solidFill>
              </a:rPr>
              <a:t>[25]  </a:t>
            </a:r>
            <a:r>
              <a:rPr lang="en-IN" sz="1400" dirty="0">
                <a:solidFill>
                  <a:srgbClr val="202020"/>
                </a:solidFill>
              </a:rPr>
              <a:t>“Software Engineering Meets Legal Texts: LLMs for Auto Detection of Contract Smells,” ScienceDirect, 2025.</a:t>
            </a:r>
          </a:p>
          <a:p>
            <a:pPr marL="274320" indent="-274320">
              <a:spcAft>
                <a:spcPts val="400"/>
              </a:spcAft>
              <a:buNone/>
            </a:pPr>
            <a:r>
              <a:rPr lang="en-IN" sz="1400" b="1" dirty="0">
                <a:solidFill>
                  <a:srgbClr val="202020"/>
                </a:solidFill>
              </a:rPr>
              <a:t>[26]  </a:t>
            </a:r>
            <a:r>
              <a:rPr lang="en-IN" sz="1400" dirty="0">
                <a:solidFill>
                  <a:srgbClr val="202020"/>
                </a:solidFill>
              </a:rPr>
              <a:t>T. Wolf, L. Debut, V. Sanh et al., “Transformers: State-of-the-Art Natural Language Processing,” EMNLP: System Demonstrations, 2020.</a:t>
            </a:r>
          </a:p>
          <a:p>
            <a:pPr marL="274320" indent="-274320">
              <a:spcAft>
                <a:spcPts val="400"/>
              </a:spcAft>
              <a:buNone/>
            </a:pPr>
            <a:r>
              <a:rPr lang="en-IN" sz="1400" b="1" dirty="0">
                <a:solidFill>
                  <a:srgbClr val="202020"/>
                </a:solidFill>
              </a:rPr>
              <a:t>[27]  </a:t>
            </a:r>
            <a:r>
              <a:rPr lang="en-IN" sz="1400" dirty="0">
                <a:solidFill>
                  <a:srgbClr val="202020"/>
                </a:solidFill>
              </a:rPr>
              <a:t>M. </a:t>
            </a:r>
            <a:r>
              <a:rPr lang="en-IN" sz="1400" dirty="0" err="1">
                <a:solidFill>
                  <a:srgbClr val="202020"/>
                </a:solidFill>
              </a:rPr>
              <a:t>Honnibal</a:t>
            </a:r>
            <a:r>
              <a:rPr lang="en-IN" sz="1400" dirty="0">
                <a:solidFill>
                  <a:srgbClr val="202020"/>
                </a:solidFill>
              </a:rPr>
              <a:t> and I. Montani, “</a:t>
            </a:r>
            <a:r>
              <a:rPr lang="en-IN" sz="1400" dirty="0" err="1">
                <a:solidFill>
                  <a:srgbClr val="202020"/>
                </a:solidFill>
              </a:rPr>
              <a:t>spaCy</a:t>
            </a:r>
            <a:r>
              <a:rPr lang="en-IN" sz="1400" dirty="0">
                <a:solidFill>
                  <a:srgbClr val="202020"/>
                </a:solidFill>
              </a:rPr>
              <a:t> 2: Natural Language Understanding with Bloom Embeddings, CNNs and Incremental Parsing,” 2017.</a:t>
            </a:r>
          </a:p>
          <a:p>
            <a:pPr marL="274320" indent="-274320">
              <a:spcAft>
                <a:spcPts val="400"/>
              </a:spcAft>
              <a:buNone/>
            </a:pPr>
            <a:r>
              <a:rPr lang="en-IN" sz="1400" b="1" dirty="0">
                <a:solidFill>
                  <a:srgbClr val="202020"/>
                </a:solidFill>
              </a:rPr>
              <a:t>[28]  </a:t>
            </a:r>
            <a:r>
              <a:rPr lang="en-IN" sz="1400" dirty="0">
                <a:solidFill>
                  <a:srgbClr val="202020"/>
                </a:solidFill>
              </a:rPr>
              <a:t>R. Smith, “An Overview of the Tesseract OCR Engine,” Int. Conf. on Document Analysis and Recognition (ICDAR), 2007.</a:t>
            </a:r>
          </a:p>
          <a:p>
            <a:pPr marL="274320" indent="-274320">
              <a:spcAft>
                <a:spcPts val="400"/>
              </a:spcAft>
              <a:buNone/>
            </a:pPr>
            <a:r>
              <a:rPr lang="en-IN" sz="1400" b="1" dirty="0">
                <a:solidFill>
                  <a:srgbClr val="202020"/>
                </a:solidFill>
              </a:rPr>
              <a:t>[29]  </a:t>
            </a:r>
            <a:r>
              <a:rPr lang="en-IN" sz="1400" dirty="0">
                <a:solidFill>
                  <a:srgbClr val="202020"/>
                </a:solidFill>
              </a:rPr>
              <a:t>I. Loshchilov and F. Hutter, “Decoupled Weight Decay Regularization,” ICLR, 2019.</a:t>
            </a:r>
          </a:p>
          <a:p>
            <a:pPr marL="274320" indent="-274320">
              <a:spcAft>
                <a:spcPts val="400"/>
              </a:spcAft>
              <a:buNone/>
            </a:pPr>
            <a:r>
              <a:rPr lang="en-IN" sz="1400" b="1" dirty="0">
                <a:solidFill>
                  <a:srgbClr val="202020"/>
                </a:solidFill>
              </a:rPr>
              <a:t>[30]  </a:t>
            </a:r>
            <a:r>
              <a:rPr lang="en-IN" sz="1400" dirty="0">
                <a:solidFill>
                  <a:srgbClr val="202020"/>
                </a:solidFill>
              </a:rPr>
              <a:t>K. </a:t>
            </a:r>
            <a:r>
              <a:rPr lang="en-IN" sz="1400" dirty="0" err="1">
                <a:solidFill>
                  <a:srgbClr val="202020"/>
                </a:solidFill>
              </a:rPr>
              <a:t>Papineni</a:t>
            </a:r>
            <a:r>
              <a:rPr lang="en-IN" sz="1400" dirty="0">
                <a:solidFill>
                  <a:srgbClr val="202020"/>
                </a:solidFill>
              </a:rPr>
              <a:t>, S. </a:t>
            </a:r>
            <a:r>
              <a:rPr lang="en-IN" sz="1400" dirty="0" err="1">
                <a:solidFill>
                  <a:srgbClr val="202020"/>
                </a:solidFill>
              </a:rPr>
              <a:t>Roukos</a:t>
            </a:r>
            <a:r>
              <a:rPr lang="en-IN" sz="1400" dirty="0">
                <a:solidFill>
                  <a:srgbClr val="202020"/>
                </a:solidFill>
              </a:rPr>
              <a:t>, T. Ward and W.-J. Zhu, “BLEU: A Method for Automatic Evaluation of Machine Translation,” ACL, 2002.</a:t>
            </a:r>
          </a:p>
          <a:p>
            <a:pPr marL="274320" indent="-274320">
              <a:spcAft>
                <a:spcPts val="400"/>
              </a:spcAft>
              <a:buNone/>
            </a:pPr>
            <a:r>
              <a:rPr lang="en-IN" sz="1400" b="1" dirty="0">
                <a:solidFill>
                  <a:srgbClr val="202020"/>
                </a:solidFill>
              </a:rPr>
              <a:t>[31]  </a:t>
            </a:r>
            <a:r>
              <a:rPr lang="en-IN" sz="1400" dirty="0">
                <a:solidFill>
                  <a:srgbClr val="202020"/>
                </a:solidFill>
              </a:rPr>
              <a:t>C.-Y. Lin, “ROUGE: A Package for Automatic Evaluation of Summaries,” Text Summarization Branches Out, 2004.</a:t>
            </a:r>
          </a:p>
          <a:p>
            <a:pPr marL="274320" indent="-274320">
              <a:spcAft>
                <a:spcPts val="400"/>
              </a:spcAft>
              <a:buNone/>
            </a:pPr>
            <a:r>
              <a:rPr lang="en-IN" sz="1400" b="1" dirty="0">
                <a:solidFill>
                  <a:srgbClr val="202020"/>
                </a:solidFill>
              </a:rPr>
              <a:t>[32]  </a:t>
            </a:r>
            <a:r>
              <a:rPr lang="en-IN" sz="1400" dirty="0">
                <a:solidFill>
                  <a:srgbClr val="202020"/>
                </a:solidFill>
              </a:rPr>
              <a:t>M. Abadi et al., “TensorFlow: Large-Scale Machine Learning on Heterogeneous Systems,” 2015.</a:t>
            </a:r>
          </a:p>
          <a:p>
            <a:pPr marL="274320" indent="-274320">
              <a:spcAft>
                <a:spcPts val="400"/>
              </a:spcAft>
              <a:buNone/>
            </a:pPr>
            <a:r>
              <a:rPr lang="en-IN" sz="1400" b="1" dirty="0">
                <a:solidFill>
                  <a:srgbClr val="202020"/>
                </a:solidFill>
              </a:rPr>
              <a:t>[33]  </a:t>
            </a:r>
            <a:r>
              <a:rPr lang="en-IN" sz="1400" dirty="0">
                <a:solidFill>
                  <a:srgbClr val="202020"/>
                </a:solidFill>
              </a:rPr>
              <a:t>I. Chalkidis et al., “</a:t>
            </a:r>
            <a:r>
              <a:rPr lang="en-IN" sz="1400" dirty="0" err="1">
                <a:solidFill>
                  <a:srgbClr val="202020"/>
                </a:solidFill>
              </a:rPr>
              <a:t>LexGLUE</a:t>
            </a:r>
            <a:r>
              <a:rPr lang="en-IN" sz="1400" dirty="0">
                <a:solidFill>
                  <a:srgbClr val="202020"/>
                </a:solidFill>
              </a:rPr>
              <a:t>: A Benchmark Dataset for Legal Language Understanding in English,” arXiv:2110.00976, 2021.</a:t>
            </a:r>
          </a:p>
          <a:p>
            <a:pPr marL="274320" indent="-274320">
              <a:spcAft>
                <a:spcPts val="400"/>
              </a:spcAft>
              <a:buNone/>
            </a:pPr>
            <a:r>
              <a:rPr lang="en-IN" sz="1400" b="1" dirty="0">
                <a:solidFill>
                  <a:srgbClr val="202020"/>
                </a:solidFill>
              </a:rPr>
              <a:t>[34]  </a:t>
            </a:r>
            <a:r>
              <a:rPr lang="en-IN" sz="1400" dirty="0">
                <a:solidFill>
                  <a:srgbClr val="202020"/>
                </a:solidFill>
              </a:rPr>
              <a:t>“LEDGAR: A Large-Scale Multi-Label Corpus for Text Classification of Legal Provisions in Contracts,” LREC, 2020.</a:t>
            </a:r>
          </a:p>
          <a:p>
            <a:pPr marL="274320" indent="-274320">
              <a:spcAft>
                <a:spcPts val="400"/>
              </a:spcAft>
              <a:buNone/>
            </a:pPr>
            <a:r>
              <a:rPr lang="en-IN" sz="1400" b="1" dirty="0">
                <a:solidFill>
                  <a:srgbClr val="202020"/>
                </a:solidFill>
              </a:rPr>
              <a:t>[35]  </a:t>
            </a:r>
            <a:r>
              <a:rPr lang="en-IN" sz="1400" dirty="0">
                <a:solidFill>
                  <a:srgbClr val="202020"/>
                </a:solidFill>
              </a:rPr>
              <a:t>K. </a:t>
            </a:r>
            <a:r>
              <a:rPr lang="en-IN" sz="1400" dirty="0" err="1">
                <a:solidFill>
                  <a:srgbClr val="202020"/>
                </a:solidFill>
              </a:rPr>
              <a:t>Vuthoo</a:t>
            </a:r>
            <a:r>
              <a:rPr lang="en-IN" sz="1400" dirty="0">
                <a:solidFill>
                  <a:srgbClr val="202020"/>
                </a:solidFill>
              </a:rPr>
              <a:t>, S. </a:t>
            </a:r>
            <a:r>
              <a:rPr lang="en-IN" sz="1400" dirty="0" err="1">
                <a:solidFill>
                  <a:srgbClr val="202020"/>
                </a:solidFill>
              </a:rPr>
              <a:t>Khetarpaul</a:t>
            </a:r>
            <a:r>
              <a:rPr lang="en-IN" sz="1400" dirty="0">
                <a:solidFill>
                  <a:srgbClr val="202020"/>
                </a:solidFill>
              </a:rPr>
              <a:t> and S. Mishra, “Efficient Clause Identification in Contracts Using NLP and Web-Sourced Data,” ICDAM 2025, Springer LNNS vol. 1594, 2026.</a:t>
            </a:r>
          </a:p>
        </p:txBody>
      </p:sp>
      <p:sp>
        <p:nvSpPr>
          <p:cNvPr id="5" name="Footer Placeholder 4">
            <a:extLst>
              <a:ext uri="{FF2B5EF4-FFF2-40B4-BE49-F238E27FC236}">
                <a16:creationId xmlns:a16="http://schemas.microsoft.com/office/drawing/2014/main" id="{70112933-667F-2E35-0EE6-9FA5B29BD8C0}"/>
              </a:ext>
            </a:extLst>
          </p:cNvPr>
          <p:cNvSpPr>
            <a:spLocks noGrp="1"/>
          </p:cNvSpPr>
          <p:nvPr>
            <p:ph type="ftr" sz="quarter" idx="11"/>
          </p:nvPr>
        </p:nvSpPr>
        <p:spPr/>
        <p:txBody>
          <a:bodyPr/>
          <a:lstStyle/>
          <a:p>
            <a:r>
              <a:rPr lang="en-US" sz="1600"/>
              <a:t>URP 4301 - Capstone Year Research Project</a:t>
            </a:r>
            <a:endParaRPr lang="en-US" sz="1600" dirty="0"/>
          </a:p>
        </p:txBody>
      </p:sp>
      <p:sp>
        <p:nvSpPr>
          <p:cNvPr id="6" name="Slide Number Placeholder 5">
            <a:extLst>
              <a:ext uri="{FF2B5EF4-FFF2-40B4-BE49-F238E27FC236}">
                <a16:creationId xmlns:a16="http://schemas.microsoft.com/office/drawing/2014/main" id="{D465D270-2E29-6613-95DD-7E65CA1C5CED}"/>
              </a:ext>
            </a:extLst>
          </p:cNvPr>
          <p:cNvSpPr>
            <a:spLocks noGrp="1"/>
          </p:cNvSpPr>
          <p:nvPr>
            <p:ph type="sldNum" sz="quarter" idx="12"/>
          </p:nvPr>
        </p:nvSpPr>
        <p:spPr/>
        <p:txBody>
          <a:bodyPr/>
          <a:lstStyle/>
          <a:p>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7F43B6-FEA3-5523-645D-FEC21B7D3DC9}"/>
              </a:ext>
            </a:extLst>
          </p:cNvPr>
          <p:cNvSpPr>
            <a:spLocks noGrp="1"/>
          </p:cNvSpPr>
          <p:nvPr>
            <p:ph type="title"/>
          </p:nvPr>
        </p:nvSpPr>
        <p:spPr/>
        <p:txBody>
          <a:bodyPr/>
          <a:lstStyle/>
          <a:p>
            <a:r>
              <a:t>Conclusion &amp; Future Work</a:t>
            </a:r>
            <a:endParaRPr lang="en-IN"/>
          </a:p>
        </p:txBody>
      </p:sp>
      <p:sp>
        <p:nvSpPr>
          <p:cNvPr id="6" name="Slide Number Placeholder 5">
            <a:extLst>
              <a:ext uri="{FF2B5EF4-FFF2-40B4-BE49-F238E27FC236}">
                <a16:creationId xmlns:a16="http://schemas.microsoft.com/office/drawing/2014/main" id="{64F29264-98AF-4446-AC64-007FC86D531A}"/>
              </a:ext>
            </a:extLst>
          </p:cNvPr>
          <p:cNvSpPr>
            <a:spLocks noGrp="1"/>
          </p:cNvSpPr>
          <p:nvPr>
            <p:ph type="sldNum" sz="quarter" idx="12"/>
          </p:nvPr>
        </p:nvSpPr>
        <p:spPr/>
        <p:txBody>
          <a:bodyPr/>
          <a:lstStyle/>
          <a:p>
            <a:r>
              <a:t>29</a:t>
            </a:r>
          </a:p>
        </p:txBody>
      </p:sp>
      <p:sp>
        <p:nvSpPr>
          <p:cNvPr id="21" name="TextBox 20"/>
          <p:cNvSpPr txBox="1"/>
          <p:nvPr/>
        </p:nvSpPr>
        <p:spPr>
          <a:xfrm>
            <a:off x="266330" y="1371981"/>
            <a:ext cx="8239759" cy="2764859"/>
          </a:xfrm>
          <a:prstGeom prst="rect">
            <a:avLst/>
          </a:prstGeom>
          <a:noFill/>
        </p:spPr>
        <p:txBody>
          <a:bodyPr wrap="square">
            <a:spAutoFit/>
          </a:bodyPr>
          <a:lstStyle/>
          <a:p>
            <a:pPr>
              <a:spcAft>
                <a:spcPts val="1000"/>
              </a:spcAft>
            </a:pPr>
            <a:r>
              <a:rPr sz="2200" dirty="0">
                <a:latin typeface="Calisto MT" panose="02040603050505030304" pitchFamily="18" charset="0"/>
              </a:rPr>
              <a:t>•  Built a working, tested, integrated NLP pipeline</a:t>
            </a:r>
          </a:p>
          <a:p>
            <a:pPr>
              <a:spcAft>
                <a:spcPts val="1000"/>
              </a:spcAft>
            </a:pPr>
            <a:r>
              <a:rPr sz="2200" dirty="0">
                <a:latin typeface="Calisto MT" panose="02040603050505030304" pitchFamily="18" charset="0"/>
              </a:rPr>
              <a:t>•  Classifier meets the accuracy goal on supported classes</a:t>
            </a:r>
          </a:p>
          <a:p>
            <a:pPr>
              <a:spcAft>
                <a:spcPts val="1000"/>
              </a:spcAft>
            </a:pPr>
            <a:r>
              <a:rPr sz="2200" dirty="0">
                <a:latin typeface="Calisto MT" panose="02040603050505030304" pitchFamily="18" charset="0"/>
              </a:rPr>
              <a:t>•  Two-service architecture is clean and deployable</a:t>
            </a:r>
          </a:p>
          <a:p>
            <a:pPr>
              <a:spcAft>
                <a:spcPts val="1000"/>
              </a:spcAft>
            </a:pPr>
            <a:r>
              <a:rPr sz="2200" dirty="0">
                <a:latin typeface="Calisto MT" panose="02040603050505030304" pitchFamily="18" charset="0"/>
              </a:rPr>
              <a:t>•  Future: expand training data for the five sparse classes</a:t>
            </a:r>
          </a:p>
          <a:p>
            <a:pPr>
              <a:spcAft>
                <a:spcPts val="1000"/>
              </a:spcAft>
            </a:pPr>
            <a:r>
              <a:rPr sz="2200" dirty="0">
                <a:latin typeface="Calisto MT" panose="02040603050505030304" pitchFamily="18" charset="0"/>
              </a:rPr>
              <a:t>•  Future: fine-tune Legal-BERT and FLAN-T5-small</a:t>
            </a:r>
          </a:p>
          <a:p>
            <a:pPr>
              <a:spcAft>
                <a:spcPts val="1000"/>
              </a:spcAft>
            </a:pPr>
            <a:r>
              <a:rPr sz="2200" dirty="0">
                <a:latin typeface="Calisto MT" panose="02040603050505030304" pitchFamily="18" charset="0"/>
              </a:rPr>
              <a:t>•  Future: add OCR, deploy services, run a user study</a:t>
            </a:r>
          </a:p>
        </p:txBody>
      </p:sp>
    </p:spTree>
    <p:extLst>
      <p:ext uri="{BB962C8B-B14F-4D97-AF65-F5344CB8AC3E}">
        <p14:creationId xmlns:p14="http://schemas.microsoft.com/office/powerpoint/2010/main" val="941814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5"/>
            <a:ext cx="3081576" cy="2914649"/>
          </a:xfrm>
        </p:spPr>
        <p:txBody>
          <a:bodyPr>
            <a:normAutofit/>
          </a:bodyPr>
          <a:lstStyle/>
          <a:p>
            <a:pPr algn="ctr"/>
            <a:r>
              <a:rPr lang="en-US" sz="5400" b="1"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480" cy="640080"/>
          </a:xfrm>
          <a:prstGeom prst="rect">
            <a:avLst/>
          </a:prstGeom>
          <a:noFill/>
        </p:spPr>
        <p:txBody>
          <a:bodyPr wrap="square">
            <a:spAutoFit/>
          </a:bodyPr>
          <a:lstStyle/>
          <a:p>
            <a:pPr algn="l"/>
            <a:r>
              <a:rPr b="1" sz="2600">
                <a:solidFill>
                  <a:srgbClr val="1A3260"/>
                </a:solidFill>
              </a:rPr>
              <a:t>Baseline vs Fine-tuned: macro F1 lift</a:t>
            </a:r>
          </a:p>
        </p:txBody>
      </p:sp>
      <p:pic>
        <p:nvPicPr>
          <p:cNvPr id="3" name="Picture 2" descr="comparison_baseline_bert.png"/>
          <p:cNvPicPr>
            <a:picLocks noChangeAspect="1"/>
          </p:cNvPicPr>
          <p:nvPr/>
        </p:nvPicPr>
        <p:blipFill>
          <a:blip r:embed="rId2"/>
          <a:stretch>
            <a:fillRect/>
          </a:stretch>
        </p:blipFill>
        <p:spPr>
          <a:xfrm>
            <a:off x="2577631" y="1051560"/>
            <a:ext cx="7036737" cy="4937760"/>
          </a:xfrm>
          <a:prstGeom prst="rect">
            <a:avLst/>
          </a:prstGeom>
        </p:spPr>
      </p:pic>
      <p:sp>
        <p:nvSpPr>
          <p:cNvPr id="4" name="TextBox 3"/>
          <p:cNvSpPr txBox="1"/>
          <p:nvPr/>
        </p:nvSpPr>
        <p:spPr>
          <a:xfrm>
            <a:off x="365760" y="6080760"/>
            <a:ext cx="11460480" cy="640080"/>
          </a:xfrm>
          <a:prstGeom prst="rect">
            <a:avLst/>
          </a:prstGeom>
          <a:noFill/>
        </p:spPr>
        <p:txBody>
          <a:bodyPr wrap="square">
            <a:spAutoFit/>
          </a:bodyPr>
          <a:lstStyle/>
          <a:p>
            <a:pPr algn="ctr"/>
            <a:r>
              <a:rPr sz="1200" i="1">
                <a:solidFill>
                  <a:srgbClr val="3D3D3D"/>
                </a:solidFill>
              </a:rPr>
              <a:t>TF-IDF + Logistic Regression macro F1 = 0.61 vs fine-tuned Legal-BERT macro F1 = 0.902 on the same held-out 419-clause test set (a 48% relative lift).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480" cy="640080"/>
          </a:xfrm>
          <a:prstGeom prst="rect">
            <a:avLst/>
          </a:prstGeom>
          <a:noFill/>
        </p:spPr>
        <p:txBody>
          <a:bodyPr wrap="square">
            <a:spAutoFit/>
          </a:bodyPr>
          <a:lstStyle/>
          <a:p>
            <a:pPr algn="l"/>
            <a:r>
              <a:rPr b="1" sz="2600">
                <a:solidFill>
                  <a:srgbClr val="1A3260"/>
                </a:solidFill>
              </a:rPr>
              <a:t>Confusion matrix — Legal-BERT held-out test set</a:t>
            </a:r>
          </a:p>
        </p:txBody>
      </p:sp>
      <p:pic>
        <p:nvPicPr>
          <p:cNvPr id="3" name="Picture 2" descr="confusion_matrix.png"/>
          <p:cNvPicPr>
            <a:picLocks noChangeAspect="1"/>
          </p:cNvPicPr>
          <p:nvPr/>
        </p:nvPicPr>
        <p:blipFill>
          <a:blip r:embed="rId2"/>
          <a:stretch>
            <a:fillRect/>
          </a:stretch>
        </p:blipFill>
        <p:spPr>
          <a:xfrm>
            <a:off x="3298509" y="1051560"/>
            <a:ext cx="5594981" cy="4937760"/>
          </a:xfrm>
          <a:prstGeom prst="rect">
            <a:avLst/>
          </a:prstGeom>
        </p:spPr>
      </p:pic>
      <p:sp>
        <p:nvSpPr>
          <p:cNvPr id="4" name="TextBox 3"/>
          <p:cNvSpPr txBox="1"/>
          <p:nvPr/>
        </p:nvSpPr>
        <p:spPr>
          <a:xfrm>
            <a:off x="365760" y="6080760"/>
            <a:ext cx="11460480" cy="640080"/>
          </a:xfrm>
          <a:prstGeom prst="rect">
            <a:avLst/>
          </a:prstGeom>
          <a:noFill/>
        </p:spPr>
        <p:txBody>
          <a:bodyPr wrap="square">
            <a:spAutoFit/>
          </a:bodyPr>
          <a:lstStyle/>
          <a:p>
            <a:pPr algn="ctr"/>
            <a:r>
              <a:rPr sz="1200" i="1">
                <a:solidFill>
                  <a:srgbClr val="3D3D3D"/>
                </a:solidFill>
              </a:rPr>
              <a:t>Off-diagonal mass is concentrated on OTHER vs INTELLECTUAL_PROPERTY and on WARRANTY boundary cases — both are over-prediction patterns, not missed classes.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480" cy="640080"/>
          </a:xfrm>
          <a:prstGeom prst="rect">
            <a:avLst/>
          </a:prstGeom>
          <a:noFill/>
        </p:spPr>
        <p:txBody>
          <a:bodyPr wrap="square">
            <a:spAutoFit/>
          </a:bodyPr>
          <a:lstStyle/>
          <a:p>
            <a:pPr algn="l"/>
            <a:r>
              <a:rPr b="1" sz="2600">
                <a:solidFill>
                  <a:srgbClr val="1A3260"/>
                </a:solidFill>
              </a:rPr>
              <a:t>FLAN-T5 rewriter — ROUGE across training epochs</a:t>
            </a:r>
          </a:p>
        </p:txBody>
      </p:sp>
      <p:pic>
        <p:nvPicPr>
          <p:cNvPr id="3" name="Picture 2" descr="flan_t5_rouge_curves.png"/>
          <p:cNvPicPr>
            <a:picLocks noChangeAspect="1"/>
          </p:cNvPicPr>
          <p:nvPr/>
        </p:nvPicPr>
        <p:blipFill>
          <a:blip r:embed="rId2"/>
          <a:stretch>
            <a:fillRect/>
          </a:stretch>
        </p:blipFill>
        <p:spPr>
          <a:xfrm>
            <a:off x="2225702" y="1051560"/>
            <a:ext cx="7740595" cy="4937760"/>
          </a:xfrm>
          <a:prstGeom prst="rect">
            <a:avLst/>
          </a:prstGeom>
        </p:spPr>
      </p:pic>
      <p:sp>
        <p:nvSpPr>
          <p:cNvPr id="4" name="TextBox 3"/>
          <p:cNvSpPr txBox="1"/>
          <p:nvPr/>
        </p:nvSpPr>
        <p:spPr>
          <a:xfrm>
            <a:off x="365760" y="6080760"/>
            <a:ext cx="11460480" cy="640080"/>
          </a:xfrm>
          <a:prstGeom prst="rect">
            <a:avLst/>
          </a:prstGeom>
          <a:noFill/>
        </p:spPr>
        <p:txBody>
          <a:bodyPr wrap="square">
            <a:spAutoFit/>
          </a:bodyPr>
          <a:lstStyle/>
          <a:p>
            <a:pPr algn="ctr"/>
            <a:r>
              <a:rPr sz="1200" i="1">
                <a:solidFill>
                  <a:srgbClr val="3D3D3D"/>
                </a:solidFill>
              </a:rPr>
              <a:t>Validation ROUGE-1 / ROUGE-2 / ROUGE-L for the fine-tuned FLAN-T5-small clause simplifier (freak3123/flan-t5-simplify-v1). Final: 0.394 / 0.231 / 0.352.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480" cy="640080"/>
          </a:xfrm>
          <a:prstGeom prst="rect">
            <a:avLst/>
          </a:prstGeom>
          <a:noFill/>
        </p:spPr>
        <p:txBody>
          <a:bodyPr wrap="square">
            <a:spAutoFit/>
          </a:bodyPr>
          <a:lstStyle/>
          <a:p>
            <a:pPr algn="l"/>
            <a:r>
              <a:rPr b="1" sz="2600">
                <a:solidFill>
                  <a:srgbClr val="1A3260"/>
                </a:solidFill>
              </a:rPr>
              <a:t>Legal-BERT fine-tuning — losses + macro F1 over 4 epochs</a:t>
            </a:r>
          </a:p>
        </p:txBody>
      </p:sp>
      <p:pic>
        <p:nvPicPr>
          <p:cNvPr id="3" name="Picture 2" descr="legal_bert_training_curves.png"/>
          <p:cNvPicPr>
            <a:picLocks noChangeAspect="1"/>
          </p:cNvPicPr>
          <p:nvPr/>
        </p:nvPicPr>
        <p:blipFill>
          <a:blip r:embed="rId2"/>
          <a:stretch>
            <a:fillRect/>
          </a:stretch>
        </p:blipFill>
        <p:spPr>
          <a:xfrm>
            <a:off x="2209800" y="1051560"/>
            <a:ext cx="7772400" cy="4792423"/>
          </a:xfrm>
          <a:prstGeom prst="rect">
            <a:avLst/>
          </a:prstGeom>
        </p:spPr>
      </p:pic>
      <p:sp>
        <p:nvSpPr>
          <p:cNvPr id="4" name="TextBox 3"/>
          <p:cNvSpPr txBox="1"/>
          <p:nvPr/>
        </p:nvSpPr>
        <p:spPr>
          <a:xfrm>
            <a:off x="365760" y="5935423"/>
            <a:ext cx="11460480" cy="640080"/>
          </a:xfrm>
          <a:prstGeom prst="rect">
            <a:avLst/>
          </a:prstGeom>
          <a:noFill/>
        </p:spPr>
        <p:txBody>
          <a:bodyPr wrap="square">
            <a:spAutoFit/>
          </a:bodyPr>
          <a:lstStyle/>
          <a:p>
            <a:pPr algn="ctr"/>
            <a:r>
              <a:rPr sz="1200" i="1">
                <a:solidFill>
                  <a:srgbClr val="3D3D3D"/>
                </a:solidFill>
              </a:rPr>
              <a:t>Training and validation losses fall monotonically; validation macro F1 climbs from 0.512 at epoch 1 to a best of 0.885 at epoch 3 (the checkpoint that was saved).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60480" cy="640080"/>
          </a:xfrm>
          <a:prstGeom prst="rect">
            <a:avLst/>
          </a:prstGeom>
          <a:noFill/>
        </p:spPr>
        <p:txBody>
          <a:bodyPr wrap="square">
            <a:spAutoFit/>
          </a:bodyPr>
          <a:lstStyle/>
          <a:p>
            <a:pPr algn="l"/>
            <a:r>
              <a:rPr b="1" sz="2600">
                <a:solidFill>
                  <a:srgbClr val="1A3260"/>
                </a:solidFill>
              </a:rPr>
              <a:t>Sample plain-English rewrites — FLAN-T5</a:t>
            </a:r>
          </a:p>
        </p:txBody>
      </p:sp>
      <p:pic>
        <p:nvPicPr>
          <p:cNvPr id="3" name="Picture 2" descr="rewrite_examples.png"/>
          <p:cNvPicPr>
            <a:picLocks noChangeAspect="1"/>
          </p:cNvPicPr>
          <p:nvPr/>
        </p:nvPicPr>
        <p:blipFill>
          <a:blip r:embed="rId2"/>
          <a:stretch>
            <a:fillRect/>
          </a:stretch>
        </p:blipFill>
        <p:spPr>
          <a:xfrm>
            <a:off x="2209800" y="1051560"/>
            <a:ext cx="7772400" cy="4927225"/>
          </a:xfrm>
          <a:prstGeom prst="rect">
            <a:avLst/>
          </a:prstGeom>
        </p:spPr>
      </p:pic>
      <p:sp>
        <p:nvSpPr>
          <p:cNvPr id="4" name="TextBox 3"/>
          <p:cNvSpPr txBox="1"/>
          <p:nvPr/>
        </p:nvSpPr>
        <p:spPr>
          <a:xfrm>
            <a:off x="365760" y="6070225"/>
            <a:ext cx="11460480" cy="640080"/>
          </a:xfrm>
          <a:prstGeom prst="rect">
            <a:avLst/>
          </a:prstGeom>
          <a:noFill/>
        </p:spPr>
        <p:txBody>
          <a:bodyPr wrap="square">
            <a:spAutoFit/>
          </a:bodyPr>
          <a:lstStyle/>
          <a:p>
            <a:pPr algn="ctr"/>
            <a:r>
              <a:rPr sz="1200" i="1">
                <a:solidFill>
                  <a:srgbClr val="3D3D3D"/>
                </a:solidFill>
              </a:rPr>
              <a:t>Three verbatim model outputs on representative clauses. The rewriter preserves core terms (30-day notice, royalty-free licence, third-party sharing) while stripping out legalese.</a:t>
            </a:r>
          </a:p>
        </p:txBody>
      </p:sp>
    </p:spTree>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Tech design</Template>
  <TotalTime>1127</TotalTime>
  <Words>6335</Words>
  <Application>Microsoft Office PowerPoint</Application>
  <PresentationFormat>Widescreen</PresentationFormat>
  <Paragraphs>550</Paragraphs>
  <Slides>27</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Calibri</vt:lpstr>
      <vt:lpstr>Calisto MT</vt:lpstr>
      <vt:lpstr>Cambria</vt:lpstr>
      <vt:lpstr>Ebrima</vt:lpstr>
      <vt:lpstr>Gill Sans MT</vt:lpstr>
      <vt:lpstr>Wingdings</vt:lpstr>
      <vt:lpstr>Wingdings 2</vt:lpstr>
      <vt:lpstr>Custom</vt:lpstr>
      <vt:lpstr>URP 4301 – Capstone Year Research Project</vt:lpstr>
      <vt:lpstr>Contents</vt:lpstr>
      <vt:lpstr>introduction</vt:lpstr>
      <vt:lpstr>Problem Statement</vt:lpstr>
      <vt:lpstr>Motivations</vt:lpstr>
      <vt:lpstr>Project Objectives</vt:lpstr>
      <vt:lpstr>Literature Review</vt:lpstr>
      <vt:lpstr>Literature Review</vt:lpstr>
      <vt:lpstr>Literature Review</vt:lpstr>
      <vt:lpstr>Literature Review</vt:lpstr>
      <vt:lpstr>Literature Review</vt:lpstr>
      <vt:lpstr>Research Gap &amp; Improvements</vt:lpstr>
      <vt:lpstr>Proposed Solution &amp; Architecture</vt:lpstr>
      <vt:lpstr>Dataset Description</vt:lpstr>
      <vt:lpstr>Data Preprocessing</vt:lpstr>
      <vt:lpstr>Exploratory Data Analysis (EDA)</vt:lpstr>
      <vt:lpstr>Model Selection</vt:lpstr>
      <vt:lpstr>Model Architecture </vt:lpstr>
      <vt:lpstr>Software Tools &amp; Platform information</vt:lpstr>
      <vt:lpstr>Platform information</vt:lpstr>
      <vt:lpstr>Evaluation Metrics &amp; Formulae</vt:lpstr>
      <vt:lpstr>results</vt:lpstr>
      <vt:lpstr>Discussion</vt:lpstr>
      <vt:lpstr>References</vt:lpstr>
      <vt:lpstr>References (cont.)</vt:lpstr>
      <vt:lpstr>Conclusion &amp;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Gyana Patra</dc:creator>
  <cp:lastModifiedBy>P M</cp:lastModifiedBy>
  <cp:revision>12</cp:revision>
  <dcterms:created xsi:type="dcterms:W3CDTF">2026-02-04T09:45:50Z</dcterms:created>
  <dcterms:modified xsi:type="dcterms:W3CDTF">2026-05-23T09:11:42Z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